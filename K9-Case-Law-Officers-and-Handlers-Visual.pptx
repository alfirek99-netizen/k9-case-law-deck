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99"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00" r:id="rId19"/>
    <p:sldId id="304" r:id="rId20"/>
    <p:sldId id="272" r:id="rId21"/>
    <p:sldId id="273" r:id="rId22"/>
    <p:sldId id="274" r:id="rId23"/>
    <p:sldId id="275" r:id="rId24"/>
    <p:sldId id="303" r:id="rId25"/>
    <p:sldId id="276" r:id="rId26"/>
    <p:sldId id="277" r:id="rId27"/>
    <p:sldId id="278" r:id="rId28"/>
    <p:sldId id="279" r:id="rId29"/>
    <p:sldId id="280" r:id="rId30"/>
    <p:sldId id="302"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8265"/>
    <p:restoredTop sz="94610"/>
  </p:normalViewPr>
  <p:slideViewPr>
    <p:cSldViewPr snapToGrid="0" snapToObjects="1">
      <p:cViewPr varScale="1">
        <p:scale>
          <a:sx n="103" d="100"/>
          <a:sy n="103" d="100"/>
        </p:scale>
        <p:origin x="184"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627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01E1-5E5A-1A76-8849-642D28524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C7D21-84E9-3CB7-66D4-71CF737DD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3E04E-AA35-DB40-2F0D-B02FD8B36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8063FE-0D5A-86B3-478A-46DC446AD94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68755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2.jp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jp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jp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jp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3" name="Rectangle 12"/>
          <p:cNvSpPr/>
          <p:nvPr/>
        </p:nvSpPr>
        <p:spPr>
          <a:xfrm>
            <a:off x="0" y="0"/>
            <a:ext cx="9144000" cy="5143500"/>
          </a:xfrm>
          <a:prstGeom prst="rect">
            <a:avLst/>
          </a:prstGeom>
          <a:solidFill>
            <a:srgbClr val="0A1628">
              <a:alpha val="5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itle_bg.jpg"/>
          <p:cNvPicPr>
            <a:picLocks noChangeAspect="1"/>
          </p:cNvPicPr>
          <p:nvPr/>
        </p:nvPicPr>
        <p:blipFill>
          <a:blip r:embed="rId6"/>
          <a:stretch>
            <a:fillRect/>
          </a:stretch>
        </p:blipFill>
        <p:spPr>
          <a:xfrm>
            <a:off x="0" y="0"/>
            <a:ext cx="9144000" cy="5143500"/>
          </a:xfrm>
          <a:prstGeom prst="rect">
            <a:avLst/>
          </a:prstGeom>
        </p:spPr>
      </p:pic>
      <p:pic>
        <p:nvPicPr>
          <p:cNvPr id="3" name="Image 0" descr="/home/workdir/artifacts/scales_justice.jpg"/>
          <p:cNvPicPr>
            <a:picLocks noChangeAspect="1"/>
          </p:cNvPicPr>
          <p:nvPr/>
        </p:nvPicPr>
        <p:blipFill>
          <a:blip r:embed="rId3"/>
          <a:srcRect/>
          <a:stretch>
            <a:fillRect/>
          </a:stretch>
        </p:blipFill>
        <p:spPr>
          <a:xfrm>
            <a:off x="3455469" y="-371208"/>
            <a:ext cx="1845809" cy="2749880"/>
          </a:xfrm>
          <a:prstGeom prst="rect">
            <a:avLst/>
          </a:prstGeom>
        </p:spPr>
      </p:pic>
      <p:sp>
        <p:nvSpPr>
          <p:cNvPr id="4" name="Text 1"/>
          <p:cNvSpPr/>
          <p:nvPr/>
        </p:nvSpPr>
        <p:spPr>
          <a:xfrm>
            <a:off x="457200" y="2057400"/>
            <a:ext cx="8229600" cy="91440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K9 OPERATIONS AND CASE LAW FOR</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OFFICERS &amp; HANDLERS</a:t>
            </a:r>
            <a:endParaRPr lang="en-US" sz="3000" dirty="0"/>
          </a:p>
        </p:txBody>
      </p:sp>
      <p:sp>
        <p:nvSpPr>
          <p:cNvPr id="5" name="Text 2"/>
          <p:cNvSpPr/>
          <p:nvPr/>
        </p:nvSpPr>
        <p:spPr>
          <a:xfrm>
            <a:off x="457200" y="3063240"/>
            <a:ext cx="8229600" cy="274320"/>
          </a:xfrm>
          <a:prstGeom prst="rect">
            <a:avLst/>
          </a:prstGeom>
          <a:noFill/>
          <a:ln/>
        </p:spPr>
        <p:txBody>
          <a:bodyPr wrap="square" rtlCol="0" anchor="ctr"/>
          <a:lstStyle/>
          <a:p>
            <a:pPr marL="0" indent="0" algn="ctr">
              <a:buNone/>
            </a:pPr>
            <a:r>
              <a:rPr lang="en-US" sz="1500" dirty="0">
                <a:solidFill>
                  <a:srgbClr val="D4A84B"/>
                </a:solidFill>
                <a:latin typeface="Calibri" pitchFamily="34" charset="0"/>
                <a:ea typeface="Calibri" pitchFamily="34" charset="-122"/>
                <a:cs typeface="Calibri" pitchFamily="34" charset="-120"/>
              </a:rPr>
              <a:t>Fourth Amendment Foundations for Detector Dog Operations</a:t>
            </a:r>
            <a:endParaRPr lang="en-US" sz="1500" dirty="0"/>
          </a:p>
        </p:txBody>
      </p:sp>
      <p:sp>
        <p:nvSpPr>
          <p:cNvPr id="7" name="Text 4"/>
          <p:cNvSpPr/>
          <p:nvPr/>
        </p:nvSpPr>
        <p:spPr>
          <a:xfrm>
            <a:off x="457200" y="3794760"/>
            <a:ext cx="8229600" cy="228600"/>
          </a:xfrm>
          <a:prstGeom prst="rect">
            <a:avLst/>
          </a:prstGeom>
          <a:noFill/>
          <a:ln/>
        </p:spPr>
        <p:txBody>
          <a:bodyPr wrap="square" rtlCol="0" anchor="ctr"/>
          <a:lstStyle/>
          <a:p>
            <a:pPr marL="0" indent="0" algn="ctr">
              <a:buNone/>
            </a:pPr>
            <a:r>
              <a:rPr lang="en-US" sz="1300" dirty="0">
                <a:solidFill>
                  <a:srgbClr val="A8B8C8"/>
                </a:solidFill>
                <a:latin typeface="Calibri" pitchFamily="34" charset="0"/>
                <a:ea typeface="Calibri" pitchFamily="34" charset="-122"/>
                <a:cs typeface="Calibri" pitchFamily="34" charset="-120"/>
              </a:rPr>
              <a:t>For Patrol Officers Who Call for K9  •  For K9 Handlers Who Deploy</a:t>
            </a:r>
            <a:endParaRPr lang="en-US" sz="1300" dirty="0"/>
          </a:p>
        </p:txBody>
      </p:sp>
      <p:sp>
        <p:nvSpPr>
          <p:cNvPr id="8" name="Text 5"/>
          <p:cNvSpPr/>
          <p:nvPr/>
        </p:nvSpPr>
        <p:spPr>
          <a:xfrm>
            <a:off x="457200" y="4160520"/>
            <a:ext cx="8229600" cy="228600"/>
          </a:xfrm>
          <a:prstGeom prst="rect">
            <a:avLst/>
          </a:prstGeom>
          <a:noFill/>
          <a:ln/>
        </p:spPr>
        <p:txBody>
          <a:bodyPr wrap="square" rtlCol="0" anchor="ctr"/>
          <a:lstStyle/>
          <a:p>
            <a:pPr marL="0" indent="0" algn="ctr">
              <a:buNone/>
            </a:pPr>
            <a:r>
              <a:rPr lang="en-US" sz="1200" dirty="0">
                <a:solidFill>
                  <a:srgbClr val="A8B8C8"/>
                </a:solidFill>
                <a:latin typeface="Calibri" pitchFamily="34" charset="0"/>
                <a:ea typeface="Calibri" pitchFamily="34" charset="-122"/>
                <a:cs typeface="Calibri" pitchFamily="34" charset="-120"/>
              </a:rPr>
              <a:t>Latimer School of Operational K9s  •  k9school.net</a:t>
            </a:r>
            <a:endParaRPr lang="en-US" sz="1200" dirty="0"/>
          </a:p>
        </p:txBody>
      </p:sp>
      <p:pic>
        <p:nvPicPr>
          <p:cNvPr id="9" name="Image 1" descr="/home/workdir/artifacts/moody_detective_badge.jpg"/>
          <p:cNvPicPr>
            <a:picLocks noChangeAspect="1"/>
          </p:cNvPicPr>
          <p:nvPr/>
        </p:nvPicPr>
        <p:blipFill>
          <a:blip r:embed="rId4"/>
          <a:stretch>
            <a:fillRect/>
          </a:stretch>
        </p:blipFill>
        <p:spPr>
          <a:xfrm>
            <a:off x="4894153" y="4480560"/>
            <a:ext cx="652112" cy="640080"/>
          </a:xfrm>
          <a:prstGeom prst="rect">
            <a:avLst/>
          </a:prstGeom>
        </p:spPr>
      </p:pic>
      <p:pic>
        <p:nvPicPr>
          <p:cNvPr id="10" name="Picture 9">
            <a:extLst>
              <a:ext uri="{FF2B5EF4-FFF2-40B4-BE49-F238E27FC236}">
                <a16:creationId xmlns:a16="http://schemas.microsoft.com/office/drawing/2014/main" id="{54DBB30B-81FC-F1F5-1888-A10780FD3665}"/>
              </a:ext>
            </a:extLst>
          </p:cNvPr>
          <p:cNvPicPr>
            <a:picLocks noChangeAspect="1"/>
          </p:cNvPicPr>
          <p:nvPr/>
        </p:nvPicPr>
        <p:blipFill>
          <a:blip r:embed="rId5"/>
          <a:stretch>
            <a:fillRect/>
          </a:stretch>
        </p:blipFill>
        <p:spPr>
          <a:xfrm>
            <a:off x="3210945" y="4464766"/>
            <a:ext cx="1038904" cy="535193"/>
          </a:xfrm>
          <a:prstGeom prst="rect">
            <a:avLst/>
          </a:prstGeom>
        </p:spPr>
      </p:pic>
      <p:sp>
        <p:nvSpPr>
          <p:cNvPr id="11" name="TextBox 10"/>
          <p:cNvSpPr txBox="1"/>
          <p:nvPr/>
        </p:nvSpPr>
        <p:spPr>
          <a:xfrm>
            <a:off x="457200" y="3520440"/>
            <a:ext cx="8229600" cy="200000"/>
          </a:xfrm>
          <a:prstGeom prst="rect">
            <a:avLst/>
          </a:prstGeom>
          <a:noFill/>
        </p:spPr>
        <p:txBody>
          <a:bodyPr wrap="square" anchor="ctr"/>
          <a:lstStyle/>
          <a:p>
            <a:pPr marL="0" indent="0" algn="ctr">
              <a:buNone/>
            </a:pPr>
            <a:r>
              <a:rPr sz="800">
                <a:solidFill>
                  <a:srgbClr val="D2D2D2"/>
                </a:solidFill>
              </a:rPr>
              <a:t>Law reviewed through September 9, 2026 • Training reference only — follow agency policy and legal guidance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COURSE OVERVIEW</a:t>
            </a:r>
            <a:endParaRPr lang="en-US" sz="1000" dirty="0"/>
          </a:p>
        </p:txBody>
      </p:sp>
      <p:sp>
        <p:nvSpPr>
          <p:cNvPr id="4" name="Text 2"/>
          <p:cNvSpPr/>
          <p:nvPr/>
        </p:nvSpPr>
        <p:spPr>
          <a:xfrm>
            <a:off x="457200" y="365760"/>
            <a:ext cx="8229600" cy="3200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Class Agenda</a:t>
            </a:r>
            <a:endParaRPr lang="en-US" sz="2200" dirty="0"/>
          </a:p>
        </p:txBody>
      </p:sp>
      <p:sp>
        <p:nvSpPr>
          <p:cNvPr id="5" name="Text 3"/>
          <p:cNvSpPr/>
          <p:nvPr/>
        </p:nvSpPr>
        <p:spPr>
          <a:xfrm>
            <a:off x="457200" y="8229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01  Roles &amp; Foundations</a:t>
            </a:r>
            <a:endParaRPr lang="en-US" sz="1300" dirty="0"/>
          </a:p>
        </p:txBody>
      </p:sp>
      <p:sp>
        <p:nvSpPr>
          <p:cNvPr id="6" name="Text 4"/>
          <p:cNvSpPr/>
          <p:nvPr/>
        </p:nvSpPr>
        <p:spPr>
          <a:xfrm>
            <a:off x="4206240" y="822960"/>
            <a:ext cx="4480560" cy="256032"/>
          </a:xfrm>
          <a:prstGeom prst="rect">
            <a:avLst/>
          </a:prstGeom>
          <a:noFill/>
          <a:ln/>
        </p:spPr>
        <p:txBody>
          <a:bodyPr wrap="square" rtlCol="0" anchor="ctr"/>
          <a:lstStyle/>
          <a:p>
            <a:r>
              <a:rPr sz="1200">
                <a:solidFill>
                  <a:srgbClr val="A8B8C8"/>
                </a:solidFill>
                <a:latin typeface="Calibri"/>
              </a:rPr>
              <a:t>Patrol vs Handler responsibilities • Place • Caballes • Edmond</a:t>
            </a:r>
          </a:p>
        </p:txBody>
      </p:sp>
      <p:sp>
        <p:nvSpPr>
          <p:cNvPr id="7" name="Text 5"/>
          <p:cNvSpPr/>
          <p:nvPr/>
        </p:nvSpPr>
        <p:spPr>
          <a:xfrm>
            <a:off x="457200" y="12801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02  Probable Cause &amp; Reliability</a:t>
            </a:r>
            <a:endParaRPr lang="en-US" sz="1300" dirty="0"/>
          </a:p>
        </p:txBody>
      </p:sp>
      <p:sp>
        <p:nvSpPr>
          <p:cNvPr id="8" name="Text 6"/>
          <p:cNvSpPr/>
          <p:nvPr/>
        </p:nvSpPr>
        <p:spPr>
          <a:xfrm>
            <a:off x="4206240" y="1280160"/>
            <a:ext cx="4480560" cy="256032"/>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Harris deep dive • residual odor • documentation • testimony</a:t>
            </a:r>
            <a:endParaRPr lang="en-US" sz="1200" dirty="0"/>
          </a:p>
        </p:txBody>
      </p:sp>
      <p:sp>
        <p:nvSpPr>
          <p:cNvPr id="9" name="Text 7"/>
          <p:cNvSpPr/>
          <p:nvPr/>
        </p:nvSpPr>
        <p:spPr>
          <a:xfrm>
            <a:off x="457200" y="17373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03  Homes, Curtilage &amp; Technology</a:t>
            </a:r>
            <a:endParaRPr lang="en-US" sz="1300" dirty="0"/>
          </a:p>
        </p:txBody>
      </p:sp>
      <p:sp>
        <p:nvSpPr>
          <p:cNvPr id="10" name="Text 8"/>
          <p:cNvSpPr/>
          <p:nvPr/>
        </p:nvSpPr>
        <p:spPr>
          <a:xfrm>
            <a:off x="4206240" y="1737360"/>
            <a:ext cx="4480560" cy="256032"/>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Jardines • Dunn • Kyllo • Collins • Earl v. State</a:t>
            </a:r>
            <a:endParaRPr lang="en-US" sz="1200" dirty="0"/>
          </a:p>
        </p:txBody>
      </p:sp>
      <p:sp>
        <p:nvSpPr>
          <p:cNvPr id="11" name="Text 9"/>
          <p:cNvSpPr/>
          <p:nvPr/>
        </p:nvSpPr>
        <p:spPr>
          <a:xfrm>
            <a:off x="457200" y="21945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04  Alabama &amp; 11th Circuit</a:t>
            </a:r>
            <a:endParaRPr lang="en-US" sz="1300" dirty="0"/>
          </a:p>
        </p:txBody>
      </p:sp>
      <p:sp>
        <p:nvSpPr>
          <p:cNvPr id="12" name="Text 10"/>
          <p:cNvSpPr/>
          <p:nvPr/>
        </p:nvSpPr>
        <p:spPr>
          <a:xfrm>
            <a:off x="4206240" y="2194560"/>
            <a:ext cx="4480560" cy="256032"/>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Braddy • Ostertag • Bain marijuana odor • vehicle exceptions</a:t>
            </a:r>
          </a:p>
        </p:txBody>
      </p:sp>
      <p:sp>
        <p:nvSpPr>
          <p:cNvPr id="13" name="Text 11"/>
          <p:cNvSpPr/>
          <p:nvPr/>
        </p:nvSpPr>
        <p:spPr>
          <a:xfrm>
            <a:off x="457200" y="26517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05  Traffic Stop Duration</a:t>
            </a:r>
            <a:endParaRPr lang="en-US" sz="1300" dirty="0"/>
          </a:p>
        </p:txBody>
      </p:sp>
      <p:sp>
        <p:nvSpPr>
          <p:cNvPr id="14" name="Text 12"/>
          <p:cNvSpPr/>
          <p:nvPr/>
        </p:nvSpPr>
        <p:spPr>
          <a:xfrm>
            <a:off x="4206240" y="2651760"/>
            <a:ext cx="4480560" cy="256032"/>
          </a:xfrm>
          <a:prstGeom prst="rect">
            <a:avLst/>
          </a:prstGeom>
          <a:noFill/>
          <a:ln/>
        </p:spPr>
        <p:txBody>
          <a:bodyPr wrap="square" rtlCol="0" anchor="ctr"/>
          <a:lstStyle/>
          <a:p>
            <a:r>
              <a:rPr sz="1200">
                <a:solidFill>
                  <a:srgbClr val="A8B8C8"/>
                </a:solidFill>
                <a:latin typeface="Calibri"/>
              </a:rPr>
              <a:t>Rodriguez + Campbell • no added time without RS</a:t>
            </a:r>
          </a:p>
        </p:txBody>
      </p:sp>
      <p:sp>
        <p:nvSpPr>
          <p:cNvPr id="15" name="Text 13"/>
          <p:cNvSpPr/>
          <p:nvPr/>
        </p:nvSpPr>
        <p:spPr>
          <a:xfrm>
            <a:off x="457200" y="31089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06  Handler Cueing &amp; Best Practices</a:t>
            </a:r>
            <a:endParaRPr lang="en-US" sz="1300" dirty="0"/>
          </a:p>
        </p:txBody>
      </p:sp>
      <p:sp>
        <p:nvSpPr>
          <p:cNvPr id="16" name="Text 14"/>
          <p:cNvSpPr/>
          <p:nvPr/>
        </p:nvSpPr>
        <p:spPr>
          <a:xfrm>
            <a:off x="4206240" y="3108960"/>
            <a:ext cx="4480560" cy="256032"/>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Four Classes of Behavior • cueing • video defense</a:t>
            </a:r>
            <a:endParaRPr lang="en-US" sz="1200" dirty="0"/>
          </a:p>
        </p:txBody>
      </p:sp>
      <p:sp>
        <p:nvSpPr>
          <p:cNvPr id="17" name="Text 15"/>
          <p:cNvSpPr/>
          <p:nvPr/>
        </p:nvSpPr>
        <p:spPr>
          <a:xfrm>
            <a:off x="457200" y="35661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07  Occupant Removal</a:t>
            </a:r>
            <a:endParaRPr lang="en-US" sz="1300" dirty="0"/>
          </a:p>
        </p:txBody>
      </p:sp>
      <p:sp>
        <p:nvSpPr>
          <p:cNvPr id="18" name="Text 16"/>
          <p:cNvSpPr/>
          <p:nvPr/>
        </p:nvSpPr>
        <p:spPr>
          <a:xfrm>
            <a:off x="4206240" y="3566160"/>
            <a:ext cx="4480560" cy="256032"/>
          </a:xfrm>
          <a:prstGeom prst="rect">
            <a:avLst/>
          </a:prstGeom>
          <a:noFill/>
          <a:ln/>
        </p:spPr>
        <p:txBody>
          <a:bodyPr wrap="square" rtlCol="0" anchor="ctr"/>
          <a:lstStyle/>
          <a:p>
            <a:r>
              <a:rPr sz="1200">
                <a:solidFill>
                  <a:srgbClr val="A8B8C8"/>
                </a:solidFill>
                <a:latin typeface="Calibri"/>
              </a:rPr>
              <a:t>Mimms • Wilson • Creller as persuasive authority</a:t>
            </a:r>
          </a:p>
        </p:txBody>
      </p:sp>
      <p:sp>
        <p:nvSpPr>
          <p:cNvPr id="19" name="Text 17"/>
          <p:cNvSpPr/>
          <p:nvPr/>
        </p:nvSpPr>
        <p:spPr>
          <a:xfrm>
            <a:off x="457200" y="4023360"/>
            <a:ext cx="3657600" cy="256032"/>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08  Practical Exercises + Closing</a:t>
            </a:r>
            <a:endParaRPr lang="en-US" sz="1300" dirty="0"/>
          </a:p>
        </p:txBody>
      </p:sp>
      <p:sp>
        <p:nvSpPr>
          <p:cNvPr id="20" name="Text 18"/>
          <p:cNvSpPr/>
          <p:nvPr/>
        </p:nvSpPr>
        <p:spPr>
          <a:xfrm>
            <a:off x="4206240" y="4023360"/>
            <a:ext cx="4480560" cy="256032"/>
          </a:xfrm>
          <a:prstGeom prst="rect">
            <a:avLst/>
          </a:prstGeom>
          <a:noFill/>
          <a:ln/>
        </p:spPr>
        <p:txBody>
          <a:bodyPr wrap="square" rtlCol="0" anchor="ctr"/>
          <a:lstStyle/>
          <a:p>
            <a:r>
              <a:rPr sz="1200">
                <a:solidFill>
                  <a:srgbClr val="A8B8C8"/>
                </a:solidFill>
                <a:latin typeface="Calibri"/>
              </a:rPr>
              <a:t>Mock traffic stops • app-style decision questions</a:t>
            </a:r>
          </a:p>
        </p:txBody>
      </p:sp>
      <p:pic>
        <p:nvPicPr>
          <p:cNvPr id="26" name="Image 1" descr="/home/workdir/artifacts/moody_detective_badge.jpg">
            <a:extLst>
              <a:ext uri="{FF2B5EF4-FFF2-40B4-BE49-F238E27FC236}">
                <a16:creationId xmlns:a16="http://schemas.microsoft.com/office/drawing/2014/main" id="{199DDB8F-E013-3351-4CF8-33634473D2F9}"/>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8" name="Picture 27">
            <a:extLst>
              <a:ext uri="{FF2B5EF4-FFF2-40B4-BE49-F238E27FC236}">
                <a16:creationId xmlns:a16="http://schemas.microsoft.com/office/drawing/2014/main" id="{45D442E8-070B-599D-5662-8E37099741B1}"/>
              </a:ext>
            </a:extLst>
          </p:cNvPr>
          <p:cNvPicPr>
            <a:picLocks noChangeAspect="1"/>
          </p:cNvPicPr>
          <p:nvPr/>
        </p:nvPicPr>
        <p:blipFill>
          <a:blip r:embed="rId4"/>
          <a:stretch>
            <a:fillRect/>
          </a:stretch>
        </p:blipFill>
        <p:spPr>
          <a:xfrm>
            <a:off x="561875" y="4555167"/>
            <a:ext cx="891540" cy="459278"/>
          </a:xfrm>
          <a:prstGeom prst="rect">
            <a:avLst/>
          </a:prstGeom>
        </p:spPr>
      </p:pic>
      <p:sp>
        <p:nvSpPr>
          <p:cNvPr id="24" name="Text 2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9053"/>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FOUNDATION</a:t>
            </a:r>
            <a:endParaRPr lang="en-US" sz="1000" dirty="0"/>
          </a:p>
        </p:txBody>
      </p:sp>
      <p:sp>
        <p:nvSpPr>
          <p:cNvPr id="4" name="Text 2"/>
          <p:cNvSpPr/>
          <p:nvPr/>
        </p:nvSpPr>
        <p:spPr>
          <a:xfrm>
            <a:off x="457200" y="365760"/>
            <a:ext cx="8229600" cy="3200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Two Separate Areas of Responsibility</a:t>
            </a:r>
            <a:endParaRPr lang="en-US" sz="2000" dirty="0"/>
          </a:p>
        </p:txBody>
      </p:sp>
      <p:sp>
        <p:nvSpPr>
          <p:cNvPr id="5" name="Shape 3"/>
          <p:cNvSpPr/>
          <p:nvPr/>
        </p:nvSpPr>
        <p:spPr>
          <a:xfrm>
            <a:off x="365760" y="868680"/>
            <a:ext cx="411480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548640" y="1005840"/>
            <a:ext cx="3749040" cy="274320"/>
          </a:xfrm>
          <a:prstGeom prst="rect">
            <a:avLst/>
          </a:prstGeom>
          <a:noFill/>
          <a:ln/>
        </p:spPr>
        <p:txBody>
          <a:bodyPr wrap="square" rtlCol="0" anchor="ctr"/>
          <a:lstStyle/>
          <a:p>
            <a:pPr marL="0" indent="0">
              <a:buNone/>
            </a:pPr>
            <a:r>
              <a:rPr lang="en-US" sz="1500" b="1" dirty="0">
                <a:solidFill>
                  <a:srgbClr val="D4A84B"/>
                </a:solidFill>
                <a:latin typeface="Calibri" pitchFamily="34" charset="0"/>
                <a:ea typeface="Calibri" pitchFamily="34" charset="-122"/>
                <a:cs typeface="Calibri" pitchFamily="34" charset="-120"/>
              </a:rPr>
              <a:t>PATROL OFFICER</a:t>
            </a:r>
            <a:endParaRPr lang="en-US" sz="1500" dirty="0"/>
          </a:p>
        </p:txBody>
      </p:sp>
      <p:sp>
        <p:nvSpPr>
          <p:cNvPr id="7" name="Text 5"/>
          <p:cNvSpPr/>
          <p:nvPr/>
        </p:nvSpPr>
        <p:spPr>
          <a:xfrm>
            <a:off x="537210" y="1417320"/>
            <a:ext cx="3749040" cy="2834640"/>
          </a:xfrm>
          <a:prstGeom prst="rect">
            <a:avLst/>
          </a:prstGeom>
          <a:noFill/>
          <a:ln/>
        </p:spPr>
        <p:txBody>
          <a:bodyPr wrap="square" rtlCol="0" anchor="ctr"/>
          <a:lstStyle/>
          <a:p>
            <a:r>
              <a:rPr sz="1150">
                <a:solidFill>
                  <a:srgbClr val="A8B8C8"/>
                </a:solidFill>
                <a:latin typeface="Calibri"/>
              </a:rPr>
              <a:t>• Conduct a lawful stop</a:t>
            </a:r>
          </a:p>
          <a:p>
            <a:r>
              <a:rPr sz="1150">
                <a:solidFill>
                  <a:srgbClr val="A8B8C8"/>
                </a:solidFill>
                <a:latin typeface="Calibri"/>
              </a:rPr>
              <a:t>• Ensure scene safety (traffic, bystanders, loose dogs)</a:t>
            </a:r>
          </a:p>
          <a:p>
            <a:r>
              <a:rPr sz="1150">
                <a:solidFill>
                  <a:srgbClr val="A8B8C8"/>
                </a:solidFill>
                <a:latin typeface="Calibri"/>
              </a:rPr>
              <a:t>• Develop and articulate RS if an extension is needed</a:t>
            </a:r>
          </a:p>
          <a:p>
            <a:r>
              <a:rPr sz="1150">
                <a:solidFill>
                  <a:srgbClr val="A8B8C8"/>
                </a:solidFill>
                <a:latin typeface="Calibri"/>
              </a:rPr>
              <a:t>• Request K9 without slowing the traffic mission</a:t>
            </a:r>
          </a:p>
          <a:p>
            <a:r>
              <a:rPr sz="1150">
                <a:solidFill>
                  <a:srgbClr val="A8B8C8"/>
                </a:solidFill>
                <a:latin typeface="Calibri"/>
              </a:rPr>
              <a:t>• Search the vehicle only if PC or another exception exists</a:t>
            </a:r>
          </a:p>
          <a:p>
            <a:r>
              <a:rPr sz="1150">
                <a:solidFill>
                  <a:srgbClr val="A8B8C8"/>
                </a:solidFill>
                <a:latin typeface="Calibri"/>
              </a:rPr>
              <a:t>• Document times, observations, statements, and search results</a:t>
            </a:r>
          </a:p>
          <a:p>
            <a:r>
              <a:rPr sz="1150">
                <a:solidFill>
                  <a:srgbClr val="A8B8C8"/>
                </a:solidFill>
                <a:latin typeface="Calibri"/>
              </a:rPr>
              <a:t>• Do not interpret K9 behavior unless qualified; report only what you actually observed</a:t>
            </a:r>
          </a:p>
        </p:txBody>
      </p:sp>
      <p:sp>
        <p:nvSpPr>
          <p:cNvPr id="8" name="Shape 6"/>
          <p:cNvSpPr/>
          <p:nvPr/>
        </p:nvSpPr>
        <p:spPr>
          <a:xfrm>
            <a:off x="4663440" y="868680"/>
            <a:ext cx="4114800" cy="3360420"/>
          </a:xfrm>
          <a:prstGeom prst="roundRect">
            <a:avLst>
              <a:gd name="adj" fmla="val 1538"/>
            </a:avLst>
          </a:prstGeom>
          <a:solidFill>
            <a:srgbClr val="0F1F2E"/>
          </a:solidFill>
          <a:ln/>
        </p:spPr>
        <p:txBody>
          <a:bodyPr/>
          <a:lstStyle/>
          <a:p>
            <a:endParaRPr lang="en-US"/>
          </a:p>
        </p:txBody>
      </p:sp>
      <p:sp>
        <p:nvSpPr>
          <p:cNvPr id="9" name="Text 7"/>
          <p:cNvSpPr/>
          <p:nvPr/>
        </p:nvSpPr>
        <p:spPr>
          <a:xfrm>
            <a:off x="4846320" y="1005840"/>
            <a:ext cx="3749040" cy="274320"/>
          </a:xfrm>
          <a:prstGeom prst="rect">
            <a:avLst/>
          </a:prstGeom>
          <a:noFill/>
          <a:ln/>
        </p:spPr>
        <p:txBody>
          <a:bodyPr wrap="square" rtlCol="0" anchor="ctr"/>
          <a:lstStyle/>
          <a:p>
            <a:pPr marL="0" indent="0">
              <a:buNone/>
            </a:pPr>
            <a:r>
              <a:rPr lang="en-US" sz="1500" b="1" dirty="0">
                <a:solidFill>
                  <a:srgbClr val="D4A84B"/>
                </a:solidFill>
                <a:latin typeface="Calibri" pitchFamily="34" charset="0"/>
                <a:ea typeface="Calibri" pitchFamily="34" charset="-122"/>
                <a:cs typeface="Calibri" pitchFamily="34" charset="-120"/>
              </a:rPr>
              <a:t>K9 HANDLER</a:t>
            </a:r>
            <a:endParaRPr lang="en-US" sz="1500" dirty="0"/>
          </a:p>
        </p:txBody>
      </p:sp>
      <p:sp>
        <p:nvSpPr>
          <p:cNvPr id="10" name="Text 8"/>
          <p:cNvSpPr/>
          <p:nvPr/>
        </p:nvSpPr>
        <p:spPr>
          <a:xfrm>
            <a:off x="4812030" y="1371600"/>
            <a:ext cx="3749040" cy="2537460"/>
          </a:xfrm>
          <a:prstGeom prst="rect">
            <a:avLst/>
          </a:prstGeom>
          <a:noFill/>
          <a:ln/>
        </p:spPr>
        <p:txBody>
          <a:bodyPr wrap="square" rtlCol="0" anchor="ctr"/>
          <a:lstStyle/>
          <a:p>
            <a:r>
              <a:rPr sz="1150">
                <a:solidFill>
                  <a:srgbClr val="A8B8C8"/>
                </a:solidFill>
                <a:latin typeface="Calibri"/>
              </a:rPr>
              <a:t>• Respond expeditiously</a:t>
            </a:r>
          </a:p>
          <a:p>
            <a:r>
              <a:rPr sz="1150">
                <a:solidFill>
                  <a:srgbClr val="A8B8C8"/>
                </a:solidFill>
                <a:latin typeface="Calibri"/>
              </a:rPr>
              <a:t>• Confirm the scene is safe for deployment</a:t>
            </a:r>
          </a:p>
          <a:p>
            <a:r>
              <a:rPr sz="1150">
                <a:solidFill>
                  <a:srgbClr val="A8B8C8"/>
                </a:solidFill>
                <a:latin typeface="Calibri"/>
              </a:rPr>
              <a:t>• Understand whether the traffic mission is still active or what lawful basis supports continued detention</a:t>
            </a:r>
          </a:p>
          <a:p>
            <a:r>
              <a:rPr sz="1150">
                <a:solidFill>
                  <a:srgbClr val="A8B8C8"/>
                </a:solidFill>
                <a:latin typeface="Calibri"/>
              </a:rPr>
              <a:t>• Deploy the dog safely and neutrally</a:t>
            </a:r>
          </a:p>
          <a:p>
            <a:r>
              <a:rPr sz="1150">
                <a:solidFill>
                  <a:srgbClr val="A8B8C8"/>
                </a:solidFill>
                <a:latin typeface="Calibri"/>
              </a:rPr>
              <a:t>• Interpret and report the dog’s behavior</a:t>
            </a:r>
          </a:p>
          <a:p>
            <a:r>
              <a:rPr sz="1150">
                <a:solidFill>
                  <a:srgbClr val="A8B8C8"/>
                </a:solidFill>
                <a:latin typeface="Calibri"/>
              </a:rPr>
              <a:t>• Communicate clearly: Alert / No Alert / No deploy</a:t>
            </a:r>
          </a:p>
          <a:p>
            <a:r>
              <a:rPr sz="1150">
                <a:solidFill>
                  <a:srgbClr val="A8B8C8"/>
                </a:solidFill>
                <a:latin typeface="Calibri"/>
              </a:rPr>
              <a:t>• Do not create or adopt patrol RS facts; accurately report K9 activity, behavior, times, and results</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3EC7779F-1E93-4839-818F-D0E011780CCC}"/>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01CB0000-40E5-C85C-C17B-E197980717B7}"/>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30E98-E7F0-B92D-B304-A467E24CEE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17F6037-4C4D-4BE4-0546-D6BE470BB2DF}"/>
              </a:ext>
            </a:extLst>
          </p:cNvPr>
          <p:cNvSpPr/>
          <p:nvPr/>
        </p:nvSpPr>
        <p:spPr>
          <a:xfrm>
            <a:off x="0" y="-18288"/>
            <a:ext cx="9144000" cy="5143500"/>
          </a:xfrm>
          <a:prstGeom prst="rect">
            <a:avLst/>
          </a:prstGeom>
          <a:solidFill>
            <a:srgbClr val="0A1628"/>
          </a:solidFill>
          <a:ln/>
        </p:spPr>
        <p:txBody>
          <a:bodyPr/>
          <a:lstStyle/>
          <a:p>
            <a:endParaRPr lang="en-US" dirty="0"/>
          </a:p>
        </p:txBody>
      </p:sp>
      <p:sp>
        <p:nvSpPr>
          <p:cNvPr id="21" name="Rectangle 20"/>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hren.jpg"/>
          <p:cNvPicPr>
            <a:picLocks noChangeAspect="1"/>
          </p:cNvPicPr>
          <p:nvPr/>
        </p:nvPicPr>
        <p:blipFill>
          <a:blip r:embed="rId5"/>
          <a:stretch>
            <a:fillRect/>
          </a:stretch>
        </p:blipFill>
        <p:spPr>
          <a:xfrm>
            <a:off x="0" y="0"/>
            <a:ext cx="2999232" cy="4800600"/>
          </a:xfrm>
          <a:prstGeom prst="rect">
            <a:avLst/>
          </a:prstGeom>
        </p:spPr>
      </p:pic>
      <p:sp>
        <p:nvSpPr>
          <p:cNvPr id="14" name="Shape 12">
            <a:extLst>
              <a:ext uri="{FF2B5EF4-FFF2-40B4-BE49-F238E27FC236}">
                <a16:creationId xmlns:a16="http://schemas.microsoft.com/office/drawing/2014/main" id="{2241AAD6-8C00-971B-55D6-92BBA2F22FBF}"/>
              </a:ext>
            </a:extLst>
          </p:cNvPr>
          <p:cNvSpPr/>
          <p:nvPr/>
        </p:nvSpPr>
        <p:spPr>
          <a:xfrm>
            <a:off x="0" y="4800600"/>
            <a:ext cx="9144000" cy="342900"/>
          </a:xfrm>
          <a:prstGeom prst="rect">
            <a:avLst/>
          </a:prstGeom>
          <a:solidFill>
            <a:srgbClr val="061018"/>
          </a:solidFill>
          <a:ln/>
        </p:spPr>
        <p:txBody>
          <a:bodyPr/>
          <a:lstStyle/>
          <a:p>
            <a:endParaRPr lang="en-US"/>
          </a:p>
        </p:txBody>
      </p:sp>
      <p:pic>
        <p:nvPicPr>
          <p:cNvPr id="18" name="Image 1" descr="/home/workdir/artifacts/moody_detective_badge.jpg">
            <a:extLst>
              <a:ext uri="{FF2B5EF4-FFF2-40B4-BE49-F238E27FC236}">
                <a16:creationId xmlns:a16="http://schemas.microsoft.com/office/drawing/2014/main" id="{057B9532-6C42-0151-DD2A-C0829777C615}"/>
              </a:ext>
            </a:extLst>
          </p:cNvPr>
          <p:cNvPicPr>
            <a:picLocks noChangeAspect="1"/>
          </p:cNvPicPr>
          <p:nvPr/>
        </p:nvPicPr>
        <p:blipFill>
          <a:blip r:embed="rId3"/>
          <a:stretch>
            <a:fillRect/>
          </a:stretch>
        </p:blipFill>
        <p:spPr>
          <a:xfrm>
            <a:off x="8206740" y="4547233"/>
            <a:ext cx="548640" cy="538517"/>
          </a:xfrm>
          <a:prstGeom prst="rect">
            <a:avLst/>
          </a:prstGeom>
        </p:spPr>
      </p:pic>
      <p:pic>
        <p:nvPicPr>
          <p:cNvPr id="19" name="Picture 18">
            <a:extLst>
              <a:ext uri="{FF2B5EF4-FFF2-40B4-BE49-F238E27FC236}">
                <a16:creationId xmlns:a16="http://schemas.microsoft.com/office/drawing/2014/main" id="{1FF8938B-F46F-31BD-C4DF-D4AC8FC28475}"/>
              </a:ext>
            </a:extLst>
          </p:cNvPr>
          <p:cNvPicPr>
            <a:picLocks noChangeAspect="1"/>
          </p:cNvPicPr>
          <p:nvPr/>
        </p:nvPicPr>
        <p:blipFill>
          <a:blip r:embed="rId4"/>
          <a:stretch>
            <a:fillRect/>
          </a:stretch>
        </p:blipFill>
        <p:spPr>
          <a:xfrm>
            <a:off x="561875" y="4564792"/>
            <a:ext cx="891540" cy="459278"/>
          </a:xfrm>
          <a:prstGeom prst="rect">
            <a:avLst/>
          </a:prstGeom>
        </p:spPr>
      </p:pic>
      <p:sp>
        <p:nvSpPr>
          <p:cNvPr id="15" name="TextBox 14">
            <a:extLst>
              <a:ext uri="{FF2B5EF4-FFF2-40B4-BE49-F238E27FC236}">
                <a16:creationId xmlns:a16="http://schemas.microsoft.com/office/drawing/2014/main" id="{8BB0255E-EB1B-DE94-8F85-B6AA166C80FB}"/>
              </a:ext>
            </a:extLst>
          </p:cNvPr>
          <p:cNvSpPr txBox="1"/>
          <p:nvPr/>
        </p:nvSpPr>
        <p:spPr>
          <a:xfrm>
            <a:off x="3163824" y="1676299"/>
            <a:ext cx="5870448" cy="1708160"/>
          </a:xfrm>
          <a:prstGeom prst="rect">
            <a:avLst/>
          </a:prstGeom>
          <a:noFill/>
        </p:spPr>
        <p:txBody>
          <a:bodyPr wrap="square" rtlCol="0">
            <a:spAutoFit/>
          </a:bodyPr>
          <a:lstStyle/>
          <a:p>
            <a:r>
              <a:rPr sz="1500" b="1" dirty="0">
                <a:solidFill>
                  <a:schemeClr val="bg1"/>
                </a:solidFill>
              </a:rPr>
              <a:t>Whren v. United States, 517 U.S. 806 (1996)</a:t>
            </a:r>
          </a:p>
          <a:p>
            <a:endParaRPr sz="1500" b="1" dirty="0">
              <a:solidFill>
                <a:schemeClr val="bg1"/>
              </a:solidFill>
            </a:endParaRPr>
          </a:p>
          <a:p>
            <a:r>
              <a:rPr sz="1500" b="1" dirty="0">
                <a:solidFill>
                  <a:schemeClr val="bg1"/>
                </a:solidFill>
              </a:rPr>
              <a:t>An objectively lawful traffic stop is not invalid merely because the officer also has an investigative motive. The constitutional focus is the objective basis for the seizure.</a:t>
            </a:r>
          </a:p>
          <a:p>
            <a:endParaRPr sz="1500" b="1" dirty="0">
              <a:solidFill>
                <a:schemeClr val="bg1"/>
              </a:solidFill>
            </a:endParaRPr>
          </a:p>
          <a:p>
            <a:r>
              <a:rPr sz="1500" b="1" dirty="0">
                <a:solidFill>
                  <a:schemeClr val="bg1"/>
                </a:solidFill>
              </a:rPr>
              <a:t>Field rule: be able to identify the traffic violation or reasonable suspicion that justified the stop. Whren does not authorize discriminatory enforcement or biased statements.</a:t>
            </a:r>
          </a:p>
        </p:txBody>
      </p:sp>
      <p:sp>
        <p:nvSpPr>
          <p:cNvPr id="16" name="TextBox 15">
            <a:extLst>
              <a:ext uri="{FF2B5EF4-FFF2-40B4-BE49-F238E27FC236}">
                <a16:creationId xmlns:a16="http://schemas.microsoft.com/office/drawing/2014/main" id="{0CD9FD30-90AA-1446-2A37-425470A68BCE}"/>
              </a:ext>
            </a:extLst>
          </p:cNvPr>
          <p:cNvSpPr txBox="1"/>
          <p:nvPr/>
        </p:nvSpPr>
        <p:spPr>
          <a:xfrm>
            <a:off x="3163824" y="772109"/>
            <a:ext cx="5870448" cy="369332"/>
          </a:xfrm>
          <a:prstGeom prst="rect">
            <a:avLst/>
          </a:prstGeom>
          <a:noFill/>
        </p:spPr>
        <p:txBody>
          <a:bodyPr wrap="square" rtlCol="0">
            <a:spAutoFit/>
          </a:bodyPr>
          <a:lstStyle/>
          <a:p>
            <a:r>
              <a:rPr sz="2500" b="1">
                <a:solidFill>
                  <a:schemeClr val="bg1"/>
                </a:solidFill>
              </a:rPr>
              <a:t>Pretextual Traffic Stops — legal if objectively justified</a:t>
            </a:r>
          </a:p>
        </p:txBody>
      </p:sp>
      <p:sp>
        <p:nvSpPr>
          <p:cNvPr id="17" name="Text 14">
            <a:extLst>
              <a:ext uri="{FF2B5EF4-FFF2-40B4-BE49-F238E27FC236}">
                <a16:creationId xmlns:a16="http://schemas.microsoft.com/office/drawing/2014/main" id="{200EA667-CDE0-5EA8-2C81-6E2C77180783}"/>
              </a:ext>
            </a:extLst>
          </p:cNvPr>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a:t>
            </a:r>
            <a:endParaRPr lang="en-US" sz="900" dirty="0"/>
          </a:p>
        </p:txBody>
      </p:sp>
    </p:spTree>
    <p:extLst>
      <p:ext uri="{BB962C8B-B14F-4D97-AF65-F5344CB8AC3E}">
        <p14:creationId xmlns:p14="http://schemas.microsoft.com/office/powerpoint/2010/main" val="3818695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FOUNDATION</a:t>
            </a:r>
            <a:endParaRPr lang="en-US" sz="1000" dirty="0"/>
          </a:p>
        </p:txBody>
      </p:sp>
      <p:sp>
        <p:nvSpPr>
          <p:cNvPr id="4" name="Text 2"/>
          <p:cNvSpPr/>
          <p:nvPr/>
        </p:nvSpPr>
        <p:spPr>
          <a:xfrm>
            <a:off x="457200" y="365760"/>
            <a:ext cx="8229600" cy="3200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Fourth Amendment Lens</a:t>
            </a:r>
            <a:endParaRPr lang="en-US" sz="2000" dirty="0"/>
          </a:p>
        </p:txBody>
      </p:sp>
      <p:sp>
        <p:nvSpPr>
          <p:cNvPr id="5" name="Shape 3"/>
          <p:cNvSpPr/>
          <p:nvPr/>
        </p:nvSpPr>
        <p:spPr>
          <a:xfrm>
            <a:off x="457200" y="822960"/>
            <a:ext cx="8229600" cy="1051560"/>
          </a:xfrm>
          <a:prstGeom prst="roundRect">
            <a:avLst>
              <a:gd name="adj" fmla="val 5217"/>
            </a:avLst>
          </a:prstGeom>
          <a:solidFill>
            <a:srgbClr val="0F1F2E"/>
          </a:solidFill>
          <a:ln/>
        </p:spPr>
        <p:txBody>
          <a:bodyPr/>
          <a:lstStyle/>
          <a:p>
            <a:endParaRPr lang="en-US"/>
          </a:p>
        </p:txBody>
      </p:sp>
      <p:sp>
        <p:nvSpPr>
          <p:cNvPr id="6" name="Text 4"/>
          <p:cNvSpPr/>
          <p:nvPr/>
        </p:nvSpPr>
        <p:spPr>
          <a:xfrm>
            <a:off x="640080" y="960120"/>
            <a:ext cx="7863840" cy="777240"/>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“The right of the people to be secure in their persons, houses, papers, and effects, against unreasonable searches and seizures…”</a:t>
            </a:r>
            <a:endParaRPr lang="en-US" sz="1400" dirty="0"/>
          </a:p>
        </p:txBody>
      </p:sp>
      <p:sp>
        <p:nvSpPr>
          <p:cNvPr id="7" name="Shape 5"/>
          <p:cNvSpPr/>
          <p:nvPr/>
        </p:nvSpPr>
        <p:spPr>
          <a:xfrm>
            <a:off x="457200" y="2103120"/>
            <a:ext cx="4023360" cy="1005840"/>
          </a:xfrm>
          <a:prstGeom prst="roundRect">
            <a:avLst>
              <a:gd name="adj" fmla="val 5455"/>
            </a:avLst>
          </a:prstGeom>
          <a:solidFill>
            <a:srgbClr val="0F1F2E"/>
          </a:solidFill>
          <a:ln/>
        </p:spPr>
        <p:txBody>
          <a:bodyPr/>
          <a:lstStyle/>
          <a:p>
            <a:endParaRPr lang="en-US"/>
          </a:p>
        </p:txBody>
      </p:sp>
      <p:sp>
        <p:nvSpPr>
          <p:cNvPr id="8" name="Text 6"/>
          <p:cNvSpPr/>
          <p:nvPr/>
        </p:nvSpPr>
        <p:spPr>
          <a:xfrm>
            <a:off x="640080" y="2240280"/>
            <a:ext cx="3657600" cy="256032"/>
          </a:xfrm>
          <a:prstGeom prst="rect">
            <a:avLst/>
          </a:prstGeom>
          <a:noFill/>
          <a:ln/>
        </p:spPr>
        <p:txBody>
          <a:bodyPr wrap="square" rtlCol="0" anchor="ctr"/>
          <a:lstStyle/>
          <a:p>
            <a:r>
              <a:rPr sz="1400" b="1">
                <a:solidFill>
                  <a:srgbClr val="D4A84B"/>
                </a:solidFill>
                <a:latin typeface="Calibri"/>
              </a:rPr>
              <a:t>Search</a:t>
            </a:r>
          </a:p>
        </p:txBody>
      </p:sp>
      <p:sp>
        <p:nvSpPr>
          <p:cNvPr id="9" name="Text 7"/>
          <p:cNvSpPr/>
          <p:nvPr/>
        </p:nvSpPr>
        <p:spPr>
          <a:xfrm>
            <a:off x="640080" y="2560320"/>
            <a:ext cx="3657600" cy="411480"/>
          </a:xfrm>
          <a:prstGeom prst="rect">
            <a:avLst/>
          </a:prstGeom>
          <a:noFill/>
          <a:ln/>
        </p:spPr>
        <p:txBody>
          <a:bodyPr wrap="square" rtlCol="0" anchor="ctr"/>
          <a:lstStyle/>
          <a:p>
            <a:r>
              <a:rPr sz="1120">
                <a:solidFill>
                  <a:srgbClr val="A8B8C8"/>
                </a:solidFill>
                <a:latin typeface="Calibri"/>
              </a:rPr>
              <a:t>Physical intrusion on a protected person, house, paper, or effect to obtain information — or invasion of a reasonable expectation of privacy</a:t>
            </a:r>
          </a:p>
        </p:txBody>
      </p:sp>
      <p:sp>
        <p:nvSpPr>
          <p:cNvPr id="10" name="Shape 8"/>
          <p:cNvSpPr/>
          <p:nvPr/>
        </p:nvSpPr>
        <p:spPr>
          <a:xfrm>
            <a:off x="4663440" y="2103120"/>
            <a:ext cx="4023360" cy="1005840"/>
          </a:xfrm>
          <a:prstGeom prst="roundRect">
            <a:avLst>
              <a:gd name="adj" fmla="val 5455"/>
            </a:avLst>
          </a:prstGeom>
          <a:solidFill>
            <a:srgbClr val="0F1F2E"/>
          </a:solidFill>
          <a:ln/>
        </p:spPr>
        <p:txBody>
          <a:bodyPr/>
          <a:lstStyle/>
          <a:p>
            <a:endParaRPr lang="en-US"/>
          </a:p>
        </p:txBody>
      </p:sp>
      <p:sp>
        <p:nvSpPr>
          <p:cNvPr id="11" name="Text 9"/>
          <p:cNvSpPr/>
          <p:nvPr/>
        </p:nvSpPr>
        <p:spPr>
          <a:xfrm>
            <a:off x="4846320" y="2240280"/>
            <a:ext cx="3657600" cy="256032"/>
          </a:xfrm>
          <a:prstGeom prst="rect">
            <a:avLst/>
          </a:prstGeom>
          <a:noFill/>
          <a:ln/>
        </p:spPr>
        <p:txBody>
          <a:bodyPr wrap="square" rtlCol="0" anchor="ctr"/>
          <a:lstStyle/>
          <a:p>
            <a:r>
              <a:rPr sz="1400" b="1">
                <a:solidFill>
                  <a:srgbClr val="D4A84B"/>
                </a:solidFill>
                <a:latin typeface="Calibri"/>
              </a:rPr>
              <a:t>Seizure</a:t>
            </a:r>
          </a:p>
        </p:txBody>
      </p:sp>
      <p:sp>
        <p:nvSpPr>
          <p:cNvPr id="12" name="Text 10"/>
          <p:cNvSpPr/>
          <p:nvPr/>
        </p:nvSpPr>
        <p:spPr>
          <a:xfrm>
            <a:off x="4846320" y="2560320"/>
            <a:ext cx="3657600" cy="411480"/>
          </a:xfrm>
          <a:prstGeom prst="rect">
            <a:avLst/>
          </a:prstGeom>
          <a:noFill/>
          <a:ln/>
        </p:spPr>
        <p:txBody>
          <a:bodyPr wrap="square" rtlCol="0" anchor="ctr"/>
          <a:lstStyle/>
          <a:p>
            <a:r>
              <a:rPr sz="1200">
                <a:solidFill>
                  <a:srgbClr val="A8B8C8"/>
                </a:solidFill>
                <a:latin typeface="Calibri"/>
              </a:rPr>
              <a:t>Meaningful interference with a person’s liberty or possessory interests</a:t>
            </a:r>
          </a:p>
        </p:txBody>
      </p:sp>
      <p:sp>
        <p:nvSpPr>
          <p:cNvPr id="13" name="Shape 11"/>
          <p:cNvSpPr/>
          <p:nvPr/>
        </p:nvSpPr>
        <p:spPr>
          <a:xfrm>
            <a:off x="457200" y="3246120"/>
            <a:ext cx="4023360" cy="1005840"/>
          </a:xfrm>
          <a:prstGeom prst="roundRect">
            <a:avLst>
              <a:gd name="adj" fmla="val 5455"/>
            </a:avLst>
          </a:prstGeom>
          <a:solidFill>
            <a:srgbClr val="0F1F2E"/>
          </a:solidFill>
          <a:ln/>
        </p:spPr>
        <p:txBody>
          <a:bodyPr/>
          <a:lstStyle/>
          <a:p>
            <a:endParaRPr lang="en-US"/>
          </a:p>
        </p:txBody>
      </p:sp>
      <p:sp>
        <p:nvSpPr>
          <p:cNvPr id="14" name="Text 12"/>
          <p:cNvSpPr/>
          <p:nvPr/>
        </p:nvSpPr>
        <p:spPr>
          <a:xfrm>
            <a:off x="640080" y="3383280"/>
            <a:ext cx="3657600"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Reasonableness</a:t>
            </a:r>
            <a:endParaRPr lang="en-US" sz="1400" dirty="0"/>
          </a:p>
        </p:txBody>
      </p:sp>
      <p:sp>
        <p:nvSpPr>
          <p:cNvPr id="15" name="Text 13"/>
          <p:cNvSpPr/>
          <p:nvPr/>
        </p:nvSpPr>
        <p:spPr>
          <a:xfrm>
            <a:off x="640080" y="3703320"/>
            <a:ext cx="3657600" cy="41148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The ultimate constitutional touchstone</a:t>
            </a:r>
            <a:endParaRPr lang="en-US" sz="1300" dirty="0"/>
          </a:p>
        </p:txBody>
      </p:sp>
      <p:sp>
        <p:nvSpPr>
          <p:cNvPr id="16" name="Shape 14"/>
          <p:cNvSpPr/>
          <p:nvPr/>
        </p:nvSpPr>
        <p:spPr>
          <a:xfrm>
            <a:off x="4663440" y="3246120"/>
            <a:ext cx="4023360" cy="1005840"/>
          </a:xfrm>
          <a:prstGeom prst="roundRect">
            <a:avLst>
              <a:gd name="adj" fmla="val 5455"/>
            </a:avLst>
          </a:prstGeom>
          <a:solidFill>
            <a:srgbClr val="0F1F2E"/>
          </a:solidFill>
          <a:ln/>
        </p:spPr>
        <p:txBody>
          <a:bodyPr/>
          <a:lstStyle/>
          <a:p>
            <a:endParaRPr lang="en-US"/>
          </a:p>
        </p:txBody>
      </p:sp>
      <p:sp>
        <p:nvSpPr>
          <p:cNvPr id="17" name="Text 15"/>
          <p:cNvSpPr/>
          <p:nvPr/>
        </p:nvSpPr>
        <p:spPr>
          <a:xfrm>
            <a:off x="4846320" y="3383280"/>
            <a:ext cx="3657600"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Probable Cause</a:t>
            </a:r>
            <a:endParaRPr lang="en-US" sz="1400" dirty="0"/>
          </a:p>
        </p:txBody>
      </p:sp>
      <p:sp>
        <p:nvSpPr>
          <p:cNvPr id="18" name="Text 16"/>
          <p:cNvSpPr/>
          <p:nvPr/>
        </p:nvSpPr>
        <p:spPr>
          <a:xfrm>
            <a:off x="4846320" y="3703320"/>
            <a:ext cx="3657600" cy="41148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Fair probability that contraband or evidence will be found</a:t>
            </a:r>
            <a:endParaRPr lang="en-US" sz="1300" dirty="0"/>
          </a:p>
        </p:txBody>
      </p:sp>
      <p:sp>
        <p:nvSpPr>
          <p:cNvPr id="19" name="Shape 17"/>
          <p:cNvSpPr/>
          <p:nvPr/>
        </p:nvSpPr>
        <p:spPr>
          <a:xfrm>
            <a:off x="0" y="4800600"/>
            <a:ext cx="9144000" cy="342900"/>
          </a:xfrm>
          <a:prstGeom prst="rect">
            <a:avLst/>
          </a:prstGeom>
          <a:solidFill>
            <a:srgbClr val="061018"/>
          </a:solidFill>
          <a:ln/>
        </p:spPr>
        <p:txBody>
          <a:bodyPr/>
          <a:lstStyle/>
          <a:p>
            <a:endParaRPr lang="en-US"/>
          </a:p>
        </p:txBody>
      </p:sp>
      <p:pic>
        <p:nvPicPr>
          <p:cNvPr id="23" name="Image 1" descr="/home/workdir/artifacts/moody_detective_badge.jpg">
            <a:extLst>
              <a:ext uri="{FF2B5EF4-FFF2-40B4-BE49-F238E27FC236}">
                <a16:creationId xmlns:a16="http://schemas.microsoft.com/office/drawing/2014/main" id="{965DB695-6CF9-E648-65AC-275315FFC29C}"/>
              </a:ext>
            </a:extLst>
          </p:cNvPr>
          <p:cNvPicPr>
            <a:picLocks noChangeAspect="1"/>
          </p:cNvPicPr>
          <p:nvPr/>
        </p:nvPicPr>
        <p:blipFill>
          <a:blip r:embed="rId3"/>
          <a:stretch>
            <a:fillRect/>
          </a:stretch>
        </p:blipFill>
        <p:spPr>
          <a:xfrm>
            <a:off x="8206740" y="4547233"/>
            <a:ext cx="548640" cy="538517"/>
          </a:xfrm>
          <a:prstGeom prst="rect">
            <a:avLst/>
          </a:prstGeom>
        </p:spPr>
      </p:pic>
      <p:pic>
        <p:nvPicPr>
          <p:cNvPr id="24" name="Picture 23">
            <a:extLst>
              <a:ext uri="{FF2B5EF4-FFF2-40B4-BE49-F238E27FC236}">
                <a16:creationId xmlns:a16="http://schemas.microsoft.com/office/drawing/2014/main" id="{55087EE7-3E86-2B45-7D73-4962B950FD52}"/>
              </a:ext>
            </a:extLst>
          </p:cNvPr>
          <p:cNvPicPr>
            <a:picLocks noChangeAspect="1"/>
          </p:cNvPicPr>
          <p:nvPr/>
        </p:nvPicPr>
        <p:blipFill>
          <a:blip r:embed="rId4"/>
          <a:stretch>
            <a:fillRect/>
          </a:stretch>
        </p:blipFill>
        <p:spPr>
          <a:xfrm>
            <a:off x="561875" y="4564792"/>
            <a:ext cx="891540" cy="459278"/>
          </a:xfrm>
          <a:prstGeom prst="rect">
            <a:avLst/>
          </a:prstGeom>
        </p:spPr>
      </p:pic>
      <p:sp>
        <p:nvSpPr>
          <p:cNvPr id="22" name="Text 19"/>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21" name="Rectangle 20"/>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lace.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United States v. Place (1983)</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462 U.S. 696  •  9–0  •  Justice O’Connor</a:t>
            </a:r>
            <a:endParaRPr lang="en-US" sz="1200" dirty="0"/>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pPr marL="0" indent="0">
              <a:buNone/>
            </a:pPr>
            <a:r>
              <a:rPr lang="en-US" sz="1500" b="1" dirty="0">
                <a:solidFill>
                  <a:srgbClr val="D4A84B"/>
                </a:solidFill>
                <a:latin typeface="Calibri" pitchFamily="34" charset="0"/>
                <a:ea typeface="Calibri" pitchFamily="34" charset="-122"/>
                <a:cs typeface="Calibri" pitchFamily="34" charset="-120"/>
              </a:rPr>
              <a:t>A canine sniff of luggage in a public place is not a “search” under the Fourth Amendment.</a:t>
            </a:r>
            <a:endParaRPr lang="en-US" sz="1500" dirty="0"/>
          </a:p>
        </p:txBody>
      </p:sp>
      <p:sp>
        <p:nvSpPr>
          <p:cNvPr id="8" name="Text 6"/>
          <p:cNvSpPr/>
          <p:nvPr/>
        </p:nvSpPr>
        <p:spPr>
          <a:xfrm>
            <a:off x="3163824" y="19659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Not a Search</a:t>
            </a:r>
            <a:endParaRPr lang="en-US" sz="1400" dirty="0"/>
          </a:p>
        </p:txBody>
      </p:sp>
      <p:sp>
        <p:nvSpPr>
          <p:cNvPr id="9" name="Text 7"/>
          <p:cNvSpPr/>
          <p:nvPr/>
        </p:nvSpPr>
        <p:spPr>
          <a:xfrm>
            <a:off x="3163824" y="2221992"/>
            <a:ext cx="5870448" cy="45720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The sniff discloses only the presence or absence of narcotics — limited information that does not expose noncontraband items.</a:t>
            </a:r>
            <a:endParaRPr lang="en-US" sz="1300" dirty="0"/>
          </a:p>
        </p:txBody>
      </p:sp>
      <p:sp>
        <p:nvSpPr>
          <p:cNvPr id="10" name="Text 8"/>
          <p:cNvSpPr/>
          <p:nvPr/>
        </p:nvSpPr>
        <p:spPr>
          <a:xfrm>
            <a:off x="3163824" y="278892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Public Place Context</a:t>
            </a:r>
            <a:endParaRPr lang="en-US" sz="1400" dirty="0"/>
          </a:p>
        </p:txBody>
      </p:sp>
      <p:sp>
        <p:nvSpPr>
          <p:cNvPr id="11" name="Text 9"/>
          <p:cNvSpPr/>
          <p:nvPr/>
        </p:nvSpPr>
        <p:spPr>
          <a:xfrm>
            <a:off x="3163824" y="3044952"/>
            <a:ext cx="5870448" cy="45720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Addressed luggage temporarily detained at an airport. Minimal intrusion relative to a full search of the contents.</a:t>
            </a:r>
            <a:endParaRPr lang="en-US" sz="1300" dirty="0"/>
          </a:p>
        </p:txBody>
      </p:sp>
      <p:sp>
        <p:nvSpPr>
          <p:cNvPr id="12" name="Text 10"/>
          <p:cNvSpPr/>
          <p:nvPr/>
        </p:nvSpPr>
        <p:spPr>
          <a:xfrm>
            <a:off x="3163824" y="361188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Seizure Still Matters</a:t>
            </a:r>
            <a:endParaRPr lang="en-US" sz="1400" dirty="0"/>
          </a:p>
        </p:txBody>
      </p:sp>
      <p:sp>
        <p:nvSpPr>
          <p:cNvPr id="13" name="Text 11"/>
          <p:cNvSpPr/>
          <p:nvPr/>
        </p:nvSpPr>
        <p:spPr>
          <a:xfrm>
            <a:off x="3163824" y="3867912"/>
            <a:ext cx="5870448" cy="45720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While the sniff itself was not a search, the 90-minute detention of the luggage was an unreasonable seizure. Duration remains critical.</a:t>
            </a:r>
            <a:endParaRPr lang="en-US" sz="1300" dirty="0"/>
          </a:p>
        </p:txBody>
      </p:sp>
      <p:sp>
        <p:nvSpPr>
          <p:cNvPr id="14" name="Shape 12"/>
          <p:cNvSpPr/>
          <p:nvPr/>
        </p:nvSpPr>
        <p:spPr>
          <a:xfrm>
            <a:off x="0" y="4800600"/>
            <a:ext cx="9144000" cy="342900"/>
          </a:xfrm>
          <a:prstGeom prst="rect">
            <a:avLst/>
          </a:prstGeom>
          <a:solidFill>
            <a:srgbClr val="061018"/>
          </a:solidFill>
          <a:ln/>
        </p:spPr>
        <p:txBody>
          <a:bodyPr/>
          <a:lstStyle/>
          <a:p>
            <a:endParaRPr lang="en-US"/>
          </a:p>
        </p:txBody>
      </p:sp>
      <p:pic>
        <p:nvPicPr>
          <p:cNvPr id="18" name="Image 1" descr="/home/workdir/artifacts/moody_detective_badge.jpg">
            <a:extLst>
              <a:ext uri="{FF2B5EF4-FFF2-40B4-BE49-F238E27FC236}">
                <a16:creationId xmlns:a16="http://schemas.microsoft.com/office/drawing/2014/main" id="{C02A46D3-B484-F687-482D-9E285136DAC2}"/>
              </a:ext>
            </a:extLst>
          </p:cNvPr>
          <p:cNvPicPr>
            <a:picLocks noChangeAspect="1"/>
          </p:cNvPicPr>
          <p:nvPr/>
        </p:nvPicPr>
        <p:blipFill>
          <a:blip r:embed="rId3"/>
          <a:stretch>
            <a:fillRect/>
          </a:stretch>
        </p:blipFill>
        <p:spPr>
          <a:xfrm>
            <a:off x="8206740" y="4547233"/>
            <a:ext cx="548640" cy="538517"/>
          </a:xfrm>
          <a:prstGeom prst="rect">
            <a:avLst/>
          </a:prstGeom>
        </p:spPr>
      </p:pic>
      <p:pic>
        <p:nvPicPr>
          <p:cNvPr id="19" name="Picture 18">
            <a:extLst>
              <a:ext uri="{FF2B5EF4-FFF2-40B4-BE49-F238E27FC236}">
                <a16:creationId xmlns:a16="http://schemas.microsoft.com/office/drawing/2014/main" id="{11B8D1FC-CAB7-3EA9-186E-D323019A960E}"/>
              </a:ext>
            </a:extLst>
          </p:cNvPr>
          <p:cNvPicPr>
            <a:picLocks noChangeAspect="1"/>
          </p:cNvPicPr>
          <p:nvPr/>
        </p:nvPicPr>
        <p:blipFill>
          <a:blip r:embed="rId4"/>
          <a:stretch>
            <a:fillRect/>
          </a:stretch>
        </p:blipFill>
        <p:spPr>
          <a:xfrm>
            <a:off x="561875" y="4564792"/>
            <a:ext cx="891540" cy="459278"/>
          </a:xfrm>
          <a:prstGeom prst="rect">
            <a:avLst/>
          </a:prstGeom>
        </p:spPr>
      </p:pic>
      <p:sp>
        <p:nvSpPr>
          <p:cNvPr id="17" name="Text 14"/>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Illinois v. Caballes (2005)</a:t>
            </a:r>
            <a:endParaRPr lang="en-US" sz="2000" dirty="0"/>
          </a:p>
        </p:txBody>
      </p:sp>
      <p:sp>
        <p:nvSpPr>
          <p:cNvPr id="5" name="Text 3"/>
          <p:cNvSpPr/>
          <p:nvPr/>
        </p:nvSpPr>
        <p:spPr>
          <a:xfrm>
            <a:off x="457200" y="685800"/>
            <a:ext cx="8229600"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543 U.S. 405  •  6–2  •  Justice Stevens</a:t>
            </a:r>
            <a:endParaRPr lang="en-US" sz="1200" dirty="0"/>
          </a:p>
        </p:txBody>
      </p:sp>
      <p:sp>
        <p:nvSpPr>
          <p:cNvPr id="6" name="Shape 4"/>
          <p:cNvSpPr/>
          <p:nvPr/>
        </p:nvSpPr>
        <p:spPr>
          <a:xfrm>
            <a:off x="457200" y="1005840"/>
            <a:ext cx="8229600" cy="731520"/>
          </a:xfrm>
          <a:prstGeom prst="roundRect">
            <a:avLst>
              <a:gd name="adj" fmla="val 7500"/>
            </a:avLst>
          </a:prstGeom>
          <a:solidFill>
            <a:srgbClr val="0F1F2E"/>
          </a:solidFill>
          <a:ln/>
        </p:spPr>
        <p:txBody>
          <a:bodyPr/>
          <a:lstStyle/>
          <a:p>
            <a:endParaRPr lang="en-US"/>
          </a:p>
        </p:txBody>
      </p:sp>
      <p:sp>
        <p:nvSpPr>
          <p:cNvPr id="7" name="Text 5"/>
          <p:cNvSpPr/>
          <p:nvPr/>
        </p:nvSpPr>
        <p:spPr>
          <a:xfrm>
            <a:off x="640080" y="1143000"/>
            <a:ext cx="7863840" cy="4572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A dog sniff conducted during a lawful traffic stop that does not prolong the stop is not a Fourth Amendment search.</a:t>
            </a:r>
            <a:endParaRPr lang="en-US" sz="1400" dirty="0"/>
          </a:p>
        </p:txBody>
      </p:sp>
      <p:sp>
        <p:nvSpPr>
          <p:cNvPr id="8" name="Text 6"/>
          <p:cNvSpPr/>
          <p:nvPr/>
        </p:nvSpPr>
        <p:spPr>
          <a:xfrm>
            <a:off x="457200" y="1965960"/>
            <a:ext cx="3931920"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Core Holding</a:t>
            </a:r>
            <a:endParaRPr lang="en-US" sz="1400" dirty="0"/>
          </a:p>
        </p:txBody>
      </p:sp>
      <p:sp>
        <p:nvSpPr>
          <p:cNvPr id="9" name="Text 7"/>
          <p:cNvSpPr/>
          <p:nvPr/>
        </p:nvSpPr>
        <p:spPr>
          <a:xfrm>
            <a:off x="457200" y="2286000"/>
            <a:ext cx="3931920" cy="182880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 Reveals only the location of a substance no one has a legal right to possess.</a:t>
            </a: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 Does not compromise any legitimate privacy interest.</a:t>
            </a: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 Relied on Place — canine sniff is sui generis.</a:t>
            </a: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 The stop itself must remain lawful in duration and scope.</a:t>
            </a:r>
            <a:endParaRPr lang="en-US" sz="1300" dirty="0"/>
          </a:p>
        </p:txBody>
      </p:sp>
      <p:sp>
        <p:nvSpPr>
          <p:cNvPr id="10" name="Text 8"/>
          <p:cNvSpPr/>
          <p:nvPr/>
        </p:nvSpPr>
        <p:spPr>
          <a:xfrm>
            <a:off x="4754880" y="1965960"/>
            <a:ext cx="3931920"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Operational Impact</a:t>
            </a:r>
            <a:endParaRPr lang="en-US" sz="1400" dirty="0"/>
          </a:p>
        </p:txBody>
      </p:sp>
      <p:sp>
        <p:nvSpPr>
          <p:cNvPr id="11" name="Text 9"/>
          <p:cNvSpPr/>
          <p:nvPr/>
        </p:nvSpPr>
        <p:spPr>
          <a:xfrm>
            <a:off x="4754880" y="2286000"/>
            <a:ext cx="3931920" cy="1828800"/>
          </a:xfrm>
          <a:prstGeom prst="rect">
            <a:avLst/>
          </a:prstGeom>
          <a:noFill/>
          <a:ln/>
        </p:spPr>
        <p:txBody>
          <a:bodyPr wrap="square" rtlCol="0" anchor="ctr"/>
          <a:lstStyle/>
          <a:p>
            <a:r>
              <a:rPr sz="1200">
                <a:solidFill>
                  <a:srgbClr val="A8B8C8"/>
                </a:solidFill>
                <a:latin typeface="Calibri"/>
              </a:rPr>
              <a:t>• Free-air exterior sniff of a lawfully stopped vehicle is permitted without separate drug RS only if the sniff adds no time.</a:t>
            </a:r>
          </a:p>
          <a:p>
            <a:r>
              <a:rPr sz="1200">
                <a:solidFill>
                  <a:srgbClr val="A8B8C8"/>
                </a:solidFill>
                <a:latin typeface="Calibri"/>
              </a:rPr>
              <a:t>• A dog sniff is not part of the traffic mission.</a:t>
            </a:r>
          </a:p>
          <a:p>
            <a:r>
              <a:rPr sz="1200">
                <a:solidFill>
                  <a:srgbClr val="A8B8C8"/>
                </a:solidFill>
                <a:latin typeface="Calibri"/>
              </a:rPr>
              <a:t>• Caballes does not authorize extending the stop solely for the sniff.</a:t>
            </a:r>
          </a:p>
          <a:p>
            <a:r>
              <a:rPr sz="1200">
                <a:solidFill>
                  <a:srgbClr val="A8B8C8"/>
                </a:solidFill>
                <a:latin typeface="Calibri"/>
              </a:rPr>
              <a:t>• Rodriguez — and in the 11th Circuit, Campbell — control the timing question.</a:t>
            </a:r>
          </a:p>
        </p:txBody>
      </p:sp>
      <p:pic>
        <p:nvPicPr>
          <p:cNvPr id="16" name="Image 1" descr="/home/workdir/artifacts/moody_detective_badge.jpg">
            <a:extLst>
              <a:ext uri="{FF2B5EF4-FFF2-40B4-BE49-F238E27FC236}">
                <a16:creationId xmlns:a16="http://schemas.microsoft.com/office/drawing/2014/main" id="{6F026026-C97C-F7F3-9912-FEE59D76B3D9}"/>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7" name="Picture 16">
            <a:extLst>
              <a:ext uri="{FF2B5EF4-FFF2-40B4-BE49-F238E27FC236}">
                <a16:creationId xmlns:a16="http://schemas.microsoft.com/office/drawing/2014/main" id="{AAFF3D6E-69FC-EC90-0B6F-2EE0F56B3581}"/>
              </a:ext>
            </a:extLst>
          </p:cNvPr>
          <p:cNvPicPr>
            <a:picLocks noChangeAspect="1"/>
          </p:cNvPicPr>
          <p:nvPr/>
        </p:nvPicPr>
        <p:blipFill>
          <a:blip r:embed="rId4"/>
          <a:stretch>
            <a:fillRect/>
          </a:stretch>
        </p:blipFill>
        <p:spPr>
          <a:xfrm>
            <a:off x="561875" y="4555167"/>
            <a:ext cx="891540" cy="459278"/>
          </a:xfrm>
          <a:prstGeom prst="rect">
            <a:avLst/>
          </a:prstGeom>
        </p:spPr>
      </p:pic>
      <p:sp>
        <p:nvSpPr>
          <p:cNvPr id="15" name="Text 12"/>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hren.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RELATED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City of Indianapolis v. Edmond (2000)</a:t>
            </a:r>
            <a:endParaRPr lang="en-US" sz="18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531 U.S. 32  •  6–3  •  Justice O’Connor</a:t>
            </a:r>
            <a:endParaRPr lang="en-US" sz="1200" dirty="0"/>
          </a:p>
        </p:txBody>
      </p:sp>
      <p:sp>
        <p:nvSpPr>
          <p:cNvPr id="6" name="Shape 4"/>
          <p:cNvSpPr/>
          <p:nvPr/>
        </p:nvSpPr>
        <p:spPr>
          <a:xfrm>
            <a:off x="3163824" y="1005840"/>
            <a:ext cx="5870448" cy="822960"/>
          </a:xfrm>
          <a:prstGeom prst="roundRect">
            <a:avLst>
              <a:gd name="adj" fmla="val 6667"/>
            </a:avLst>
          </a:prstGeom>
          <a:solidFill>
            <a:srgbClr val="0F1F2E"/>
          </a:solidFill>
          <a:ln/>
        </p:spPr>
        <p:txBody>
          <a:bodyPr/>
          <a:lstStyle/>
          <a:p>
            <a:endParaRPr lang="en-US"/>
          </a:p>
        </p:txBody>
      </p:sp>
      <p:sp>
        <p:nvSpPr>
          <p:cNvPr id="7" name="Text 5"/>
          <p:cNvSpPr/>
          <p:nvPr/>
        </p:nvSpPr>
        <p:spPr>
          <a:xfrm>
            <a:off x="3163824" y="1143000"/>
            <a:ext cx="5870448" cy="54864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A highway checkpoint whose primary purpose is to detect evidence of ordinary criminal wrongdoing (drug interdiction) violates the Fourth Amendment.</a:t>
            </a:r>
            <a:endParaRPr lang="en-US" sz="1400" dirty="0"/>
          </a:p>
        </p:txBody>
      </p:sp>
      <p:sp>
        <p:nvSpPr>
          <p:cNvPr id="8" name="Text 6"/>
          <p:cNvSpPr/>
          <p:nvPr/>
        </p:nvSpPr>
        <p:spPr>
          <a:xfrm>
            <a:off x="3163824" y="2057400"/>
            <a:ext cx="5870448" cy="25603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It Matters for Patrol &amp; K9</a:t>
            </a:r>
            <a:endParaRPr lang="en-US" sz="1400" dirty="0"/>
          </a:p>
        </p:txBody>
      </p:sp>
      <p:sp>
        <p:nvSpPr>
          <p:cNvPr id="9" name="Text 7"/>
          <p:cNvSpPr/>
          <p:nvPr/>
        </p:nvSpPr>
        <p:spPr>
          <a:xfrm>
            <a:off x="3163824" y="2423160"/>
            <a:ext cx="5870448" cy="1920240"/>
          </a:xfrm>
          <a:prstGeom prst="rect">
            <a:avLst/>
          </a:prstGeom>
          <a:noFill/>
          <a:ln/>
        </p:spPr>
        <p:txBody>
          <a:bodyPr wrap="square" rtlCol="0" anchor="ctr"/>
          <a:lstStyle/>
          <a:p>
            <a:r>
              <a:rPr sz="1120">
                <a:solidFill>
                  <a:srgbClr val="A8B8C8"/>
                </a:solidFill>
                <a:latin typeface="Calibri"/>
              </a:rPr>
              <a:t>Edmond reinforces that suspicionless seizures whose primary purpose is ordinary crime control are unconstitutional. Drug-dog checkpoints that stop every vehicle or random vehicles primarily to discover narcotics fall under this rule.</a:t>
            </a:r>
          </a:p>
          <a:p>
            <a:endParaRPr sz="1120">
              <a:solidFill>
                <a:srgbClr val="A8B8C8"/>
              </a:solidFill>
              <a:latin typeface="Calibri"/>
            </a:endParaRPr>
          </a:p>
          <a:p>
            <a:r>
              <a:rPr sz="1120">
                <a:solidFill>
                  <a:srgbClr val="A8B8C8"/>
                </a:solidFill>
                <a:latin typeface="Calibri"/>
              </a:rPr>
              <a:t>Contrast: properly structured checkpoints serving recognized non-crime-control purposes, such as sobriety or border-related purposes, are analyzed differently.</a:t>
            </a:r>
          </a:p>
          <a:p>
            <a:endParaRPr sz="1120">
              <a:solidFill>
                <a:srgbClr val="A8B8C8"/>
              </a:solidFill>
              <a:latin typeface="Calibri"/>
            </a:endParaRPr>
          </a:p>
          <a:p>
            <a:r>
              <a:rPr sz="1120">
                <a:solidFill>
                  <a:srgbClr val="A8B8C8"/>
                </a:solidFill>
                <a:latin typeface="Calibri"/>
              </a:rPr>
              <a:t>Practical takeaway: Do not use a K9 unit as the justification for a general crime-control roadblock. A stop still needs individualized suspicion or a recognized checkpoint/constitutional exception.</a:t>
            </a:r>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C0EA7C51-9404-0B47-2C0B-3FE5E65B1F21}"/>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DD489803-A153-D098-41A0-FC7CD576A626}"/>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21" name="Rectangle 20"/>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harri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Florida v. Harris (2013)</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568 U.S. 237  •  Unanimous  •  Justice Kagan</a:t>
            </a:r>
            <a:endParaRPr lang="en-US" sz="1200" dirty="0"/>
          </a:p>
        </p:txBody>
      </p:sp>
      <p:sp>
        <p:nvSpPr>
          <p:cNvPr id="6" name="Shape 4"/>
          <p:cNvSpPr/>
          <p:nvPr/>
        </p:nvSpPr>
        <p:spPr>
          <a:xfrm>
            <a:off x="3163824" y="1005840"/>
            <a:ext cx="5870448" cy="1143000"/>
          </a:xfrm>
          <a:prstGeom prst="roundRect">
            <a:avLst>
              <a:gd name="adj" fmla="val 4800"/>
            </a:avLst>
          </a:prstGeom>
          <a:solidFill>
            <a:srgbClr val="0F1F2E"/>
          </a:solidFill>
          <a:ln/>
        </p:spPr>
        <p:txBody>
          <a:bodyPr/>
          <a:lstStyle/>
          <a:p>
            <a:endParaRPr lang="en-US"/>
          </a:p>
        </p:txBody>
      </p:sp>
      <p:sp>
        <p:nvSpPr>
          <p:cNvPr id="7" name="Text 5"/>
          <p:cNvSpPr/>
          <p:nvPr/>
        </p:nvSpPr>
        <p:spPr>
          <a:xfrm>
            <a:off x="3163824" y="1233539"/>
            <a:ext cx="5870448" cy="86868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“The question — similar to every inquiry into probable cause — is whether all the facts surrounding a dog’s alert, viewed through the lens of common sense, would make a reasonably prudent person think that a search would reveal contraband or evidence of a crime. A sniff is up to snuff when it meets that test.”</a:t>
            </a:r>
            <a:endParaRPr lang="en-US" sz="1300" dirty="0"/>
          </a:p>
        </p:txBody>
      </p:sp>
      <p:sp>
        <p:nvSpPr>
          <p:cNvPr id="8" name="Text 6"/>
          <p:cNvSpPr/>
          <p:nvPr/>
        </p:nvSpPr>
        <p:spPr>
          <a:xfrm>
            <a:off x="3163824" y="233172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Training &amp; Certification</a:t>
            </a:r>
            <a:endParaRPr lang="en-US" sz="1400" dirty="0"/>
          </a:p>
        </p:txBody>
      </p:sp>
      <p:sp>
        <p:nvSpPr>
          <p:cNvPr id="9" name="Text 7"/>
          <p:cNvSpPr/>
          <p:nvPr/>
        </p:nvSpPr>
        <p:spPr>
          <a:xfrm>
            <a:off x="3163824" y="2587752"/>
            <a:ext cx="5870448" cy="36576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Evidence that a bona fide organization certified the dog can itself provide sufficient reason to trust the alert.</a:t>
            </a:r>
            <a:endParaRPr lang="en-US" sz="1300" dirty="0"/>
          </a:p>
        </p:txBody>
      </p:sp>
      <p:sp>
        <p:nvSpPr>
          <p:cNvPr id="10" name="Text 8"/>
          <p:cNvSpPr/>
          <p:nvPr/>
        </p:nvSpPr>
        <p:spPr>
          <a:xfrm>
            <a:off x="3163824" y="306324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Totality of Circumstances</a:t>
            </a:r>
            <a:endParaRPr lang="en-US" sz="1400" dirty="0"/>
          </a:p>
        </p:txBody>
      </p:sp>
      <p:sp>
        <p:nvSpPr>
          <p:cNvPr id="11" name="Text 9"/>
          <p:cNvSpPr/>
          <p:nvPr/>
        </p:nvSpPr>
        <p:spPr>
          <a:xfrm>
            <a:off x="3163824" y="3319272"/>
            <a:ext cx="5870448" cy="36576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Courts consider training records, handler experience, the particular alert, and any conflicting evidence.</a:t>
            </a:r>
            <a:endParaRPr lang="en-US" sz="1300" dirty="0"/>
          </a:p>
        </p:txBody>
      </p:sp>
      <p:sp>
        <p:nvSpPr>
          <p:cNvPr id="12" name="Text 10"/>
          <p:cNvSpPr/>
          <p:nvPr/>
        </p:nvSpPr>
        <p:spPr>
          <a:xfrm>
            <a:off x="3163824" y="37947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Defense Opportunity</a:t>
            </a:r>
            <a:endParaRPr lang="en-US" sz="1400" dirty="0"/>
          </a:p>
        </p:txBody>
      </p:sp>
      <p:sp>
        <p:nvSpPr>
          <p:cNvPr id="13" name="Text 11"/>
          <p:cNvSpPr/>
          <p:nvPr/>
        </p:nvSpPr>
        <p:spPr>
          <a:xfrm>
            <a:off x="3163824" y="4050792"/>
            <a:ext cx="5870448" cy="36576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Defendant may still challenge reliability, handler conduct (including cueing), and the specific alert circumstances.</a:t>
            </a:r>
            <a:endParaRPr lang="en-US" sz="1300" dirty="0"/>
          </a:p>
        </p:txBody>
      </p:sp>
      <p:sp>
        <p:nvSpPr>
          <p:cNvPr id="14" name="Shape 12"/>
          <p:cNvSpPr/>
          <p:nvPr/>
        </p:nvSpPr>
        <p:spPr>
          <a:xfrm>
            <a:off x="0" y="4800600"/>
            <a:ext cx="9144000" cy="342900"/>
          </a:xfrm>
          <a:prstGeom prst="rect">
            <a:avLst/>
          </a:prstGeom>
          <a:solidFill>
            <a:srgbClr val="061018"/>
          </a:solidFill>
          <a:ln/>
        </p:spPr>
        <p:txBody>
          <a:bodyPr/>
          <a:lstStyle/>
          <a:p>
            <a:endParaRPr lang="en-US"/>
          </a:p>
        </p:txBody>
      </p:sp>
      <p:pic>
        <p:nvPicPr>
          <p:cNvPr id="18" name="Image 1" descr="/home/workdir/artifacts/moody_detective_badge.jpg">
            <a:extLst>
              <a:ext uri="{FF2B5EF4-FFF2-40B4-BE49-F238E27FC236}">
                <a16:creationId xmlns:a16="http://schemas.microsoft.com/office/drawing/2014/main" id="{88680B38-9D05-80D2-3986-FB5F3BBA2E3D}"/>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9" name="Picture 18">
            <a:extLst>
              <a:ext uri="{FF2B5EF4-FFF2-40B4-BE49-F238E27FC236}">
                <a16:creationId xmlns:a16="http://schemas.microsoft.com/office/drawing/2014/main" id="{7234DEFA-2501-E926-D675-09B7E38DBD5A}"/>
              </a:ext>
            </a:extLst>
          </p:cNvPr>
          <p:cNvPicPr>
            <a:picLocks noChangeAspect="1"/>
          </p:cNvPicPr>
          <p:nvPr/>
        </p:nvPicPr>
        <p:blipFill>
          <a:blip r:embed="rId4"/>
          <a:stretch>
            <a:fillRect/>
          </a:stretch>
        </p:blipFill>
        <p:spPr>
          <a:xfrm>
            <a:off x="561875" y="4555167"/>
            <a:ext cx="891540" cy="459278"/>
          </a:xfrm>
          <a:prstGeom prst="rect">
            <a:avLst/>
          </a:prstGeom>
        </p:spPr>
      </p:pic>
      <p:sp>
        <p:nvSpPr>
          <p:cNvPr id="17" name="Text 14"/>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r>
              <a:rPr sz="1000" b="1">
                <a:solidFill>
                  <a:srgbClr val="0D7377"/>
                </a:solidFill>
                <a:latin typeface="Calibri"/>
              </a:rPr>
              <a:t>RELIABILITY &amp; DEFENSIBILITY</a:t>
            </a:r>
          </a:p>
        </p:txBody>
      </p:sp>
      <p:sp>
        <p:nvSpPr>
          <p:cNvPr id="4" name="Text 2"/>
          <p:cNvSpPr/>
          <p:nvPr/>
        </p:nvSpPr>
        <p:spPr>
          <a:xfrm>
            <a:off x="457200" y="365760"/>
            <a:ext cx="8229600" cy="292608"/>
          </a:xfrm>
          <a:prstGeom prst="rect">
            <a:avLst/>
          </a:prstGeom>
          <a:noFill/>
          <a:ln/>
        </p:spPr>
        <p:txBody>
          <a:bodyPr wrap="square" rtlCol="0" anchor="ctr"/>
          <a:lstStyle/>
          <a:p>
            <a:r>
              <a:rPr sz="1800" b="1">
                <a:solidFill>
                  <a:srgbClr val="FFFFFF"/>
                </a:solidFill>
                <a:latin typeface="Calibri"/>
              </a:rPr>
              <a:t>Best Practices After Florida v. Harris</a:t>
            </a:r>
          </a:p>
        </p:txBody>
      </p:sp>
      <p:sp>
        <p:nvSpPr>
          <p:cNvPr id="5" name="Shape 3"/>
          <p:cNvSpPr/>
          <p:nvPr/>
        </p:nvSpPr>
        <p:spPr>
          <a:xfrm>
            <a:off x="457200" y="868680"/>
            <a:ext cx="256032" cy="256032"/>
          </a:xfrm>
          <a:prstGeom prst="ellipse">
            <a:avLst/>
          </a:prstGeom>
          <a:solidFill>
            <a:srgbClr val="0D7377"/>
          </a:solidFill>
          <a:ln/>
        </p:spPr>
        <p:txBody>
          <a:bodyPr/>
          <a:lstStyle/>
          <a:p>
            <a:endParaRPr lang="en-US"/>
          </a:p>
        </p:txBody>
      </p:sp>
      <p:sp>
        <p:nvSpPr>
          <p:cNvPr id="6" name="Text 4"/>
          <p:cNvSpPr/>
          <p:nvPr/>
        </p:nvSpPr>
        <p:spPr>
          <a:xfrm>
            <a:off x="457200" y="86868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868680" y="822960"/>
            <a:ext cx="7772400"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Current certification from a recognized organization</a:t>
            </a:r>
            <a:endParaRPr lang="en-US" sz="1400" dirty="0"/>
          </a:p>
        </p:txBody>
      </p:sp>
      <p:sp>
        <p:nvSpPr>
          <p:cNvPr id="8" name="Shape 6"/>
          <p:cNvSpPr/>
          <p:nvPr/>
        </p:nvSpPr>
        <p:spPr>
          <a:xfrm>
            <a:off x="457200" y="1463040"/>
            <a:ext cx="256032" cy="256032"/>
          </a:xfrm>
          <a:prstGeom prst="ellipse">
            <a:avLst/>
          </a:prstGeom>
          <a:solidFill>
            <a:srgbClr val="0D7377"/>
          </a:solidFill>
          <a:ln/>
        </p:spPr>
        <p:txBody>
          <a:bodyPr/>
          <a:lstStyle/>
          <a:p>
            <a:endParaRPr lang="en-US"/>
          </a:p>
        </p:txBody>
      </p:sp>
      <p:sp>
        <p:nvSpPr>
          <p:cNvPr id="9" name="Text 7"/>
          <p:cNvSpPr/>
          <p:nvPr/>
        </p:nvSpPr>
        <p:spPr>
          <a:xfrm>
            <a:off x="457200" y="146304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868680" y="1417320"/>
            <a:ext cx="7772400"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Recent controlled-testing records (including residual-odor scenarios)</a:t>
            </a:r>
            <a:endParaRPr lang="en-US" sz="1400" dirty="0"/>
          </a:p>
        </p:txBody>
      </p:sp>
      <p:sp>
        <p:nvSpPr>
          <p:cNvPr id="11" name="Shape 9"/>
          <p:cNvSpPr/>
          <p:nvPr/>
        </p:nvSpPr>
        <p:spPr>
          <a:xfrm>
            <a:off x="457200" y="2057400"/>
            <a:ext cx="256032" cy="256032"/>
          </a:xfrm>
          <a:prstGeom prst="ellipse">
            <a:avLst/>
          </a:prstGeom>
          <a:solidFill>
            <a:srgbClr val="0D7377"/>
          </a:solidFill>
          <a:ln/>
        </p:spPr>
        <p:txBody>
          <a:bodyPr/>
          <a:lstStyle/>
          <a:p>
            <a:endParaRPr lang="en-US"/>
          </a:p>
        </p:txBody>
      </p:sp>
      <p:sp>
        <p:nvSpPr>
          <p:cNvPr id="12" name="Text 10"/>
          <p:cNvSpPr/>
          <p:nvPr/>
        </p:nvSpPr>
        <p:spPr>
          <a:xfrm>
            <a:off x="457200" y="205740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868680" y="2011680"/>
            <a:ext cx="7772400"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Training logs showing consistent performance</a:t>
            </a:r>
            <a:endParaRPr lang="en-US" sz="1400" dirty="0"/>
          </a:p>
        </p:txBody>
      </p:sp>
      <p:sp>
        <p:nvSpPr>
          <p:cNvPr id="14" name="Shape 12"/>
          <p:cNvSpPr/>
          <p:nvPr/>
        </p:nvSpPr>
        <p:spPr>
          <a:xfrm>
            <a:off x="457200" y="2651760"/>
            <a:ext cx="256032" cy="256032"/>
          </a:xfrm>
          <a:prstGeom prst="ellipse">
            <a:avLst/>
          </a:prstGeom>
          <a:solidFill>
            <a:srgbClr val="0D7377"/>
          </a:solidFill>
          <a:ln/>
        </p:spPr>
        <p:txBody>
          <a:bodyPr/>
          <a:lstStyle/>
          <a:p>
            <a:endParaRPr lang="en-US"/>
          </a:p>
        </p:txBody>
      </p:sp>
      <p:sp>
        <p:nvSpPr>
          <p:cNvPr id="15" name="Text 13"/>
          <p:cNvSpPr/>
          <p:nvPr/>
        </p:nvSpPr>
        <p:spPr>
          <a:xfrm>
            <a:off x="457200" y="265176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p:nvPr/>
        </p:nvSpPr>
        <p:spPr>
          <a:xfrm>
            <a:off x="868680" y="2606040"/>
            <a:ext cx="7772400"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Handler training and experience documentation</a:t>
            </a:r>
            <a:endParaRPr lang="en-US" sz="1400" dirty="0"/>
          </a:p>
        </p:txBody>
      </p:sp>
      <p:sp>
        <p:nvSpPr>
          <p:cNvPr id="17" name="Shape 15"/>
          <p:cNvSpPr/>
          <p:nvPr/>
        </p:nvSpPr>
        <p:spPr>
          <a:xfrm>
            <a:off x="457200" y="3246120"/>
            <a:ext cx="256032" cy="256032"/>
          </a:xfrm>
          <a:prstGeom prst="ellipse">
            <a:avLst/>
          </a:prstGeom>
          <a:solidFill>
            <a:srgbClr val="0D7377"/>
          </a:solidFill>
          <a:ln/>
        </p:spPr>
        <p:txBody>
          <a:bodyPr/>
          <a:lstStyle/>
          <a:p>
            <a:endParaRPr lang="en-US"/>
          </a:p>
        </p:txBody>
      </p:sp>
      <p:sp>
        <p:nvSpPr>
          <p:cNvPr id="18" name="Text 16"/>
          <p:cNvSpPr/>
          <p:nvPr/>
        </p:nvSpPr>
        <p:spPr>
          <a:xfrm>
            <a:off x="457200" y="324612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868680" y="3200400"/>
            <a:ext cx="7772400"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Clear articulation of the dog’s trained final response versus mere interest</a:t>
            </a:r>
            <a:endParaRPr lang="en-US" sz="1400" dirty="0"/>
          </a:p>
        </p:txBody>
      </p:sp>
      <p:sp>
        <p:nvSpPr>
          <p:cNvPr id="20" name="Shape 18"/>
          <p:cNvSpPr/>
          <p:nvPr/>
        </p:nvSpPr>
        <p:spPr>
          <a:xfrm>
            <a:off x="457200" y="3840480"/>
            <a:ext cx="256032" cy="256032"/>
          </a:xfrm>
          <a:prstGeom prst="ellipse">
            <a:avLst/>
          </a:prstGeom>
          <a:solidFill>
            <a:srgbClr val="0D7377"/>
          </a:solidFill>
          <a:ln/>
        </p:spPr>
        <p:txBody>
          <a:bodyPr/>
          <a:lstStyle/>
          <a:p>
            <a:endParaRPr lang="en-US"/>
          </a:p>
        </p:txBody>
      </p:sp>
      <p:sp>
        <p:nvSpPr>
          <p:cNvPr id="21" name="Text 19"/>
          <p:cNvSpPr/>
          <p:nvPr/>
        </p:nvSpPr>
        <p:spPr>
          <a:xfrm>
            <a:off x="457200" y="3840480"/>
            <a:ext cx="256032"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p:nvPr/>
        </p:nvSpPr>
        <p:spPr>
          <a:xfrm>
            <a:off x="868680" y="3794760"/>
            <a:ext cx="7772400" cy="365760"/>
          </a:xfrm>
          <a:prstGeom prst="rect">
            <a:avLst/>
          </a:prstGeom>
          <a:noFill/>
          <a:ln/>
        </p:spPr>
        <p:txBody>
          <a:bodyPr wrap="square" rtlCol="0" anchor="ctr"/>
          <a:lstStyle/>
          <a:p>
            <a:r>
              <a:rPr sz="1150">
                <a:solidFill>
                  <a:srgbClr val="A8B8C8"/>
                </a:solidFill>
                <a:latin typeface="Calibri"/>
              </a:rPr>
              <a:t>Complete body-worn video that captures the deployment and handler movement without directing body language</a:t>
            </a:r>
          </a:p>
        </p:txBody>
      </p:sp>
      <p:sp>
        <p:nvSpPr>
          <p:cNvPr id="23" name="Shape 21"/>
          <p:cNvSpPr/>
          <p:nvPr/>
        </p:nvSpPr>
        <p:spPr>
          <a:xfrm>
            <a:off x="0" y="4800600"/>
            <a:ext cx="9144000" cy="342900"/>
          </a:xfrm>
          <a:prstGeom prst="rect">
            <a:avLst/>
          </a:prstGeom>
          <a:solidFill>
            <a:srgbClr val="061018"/>
          </a:solidFill>
          <a:ln/>
        </p:spPr>
        <p:txBody>
          <a:bodyPr/>
          <a:lstStyle/>
          <a:p>
            <a:endParaRPr lang="en-US"/>
          </a:p>
        </p:txBody>
      </p:sp>
      <p:pic>
        <p:nvPicPr>
          <p:cNvPr id="27" name="Image 1" descr="/home/workdir/artifacts/moody_detective_badge.jpg">
            <a:extLst>
              <a:ext uri="{FF2B5EF4-FFF2-40B4-BE49-F238E27FC236}">
                <a16:creationId xmlns:a16="http://schemas.microsoft.com/office/drawing/2014/main" id="{4EC80803-E2F8-AEDB-A117-7AAD9D15054E}"/>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8" name="Picture 27">
            <a:extLst>
              <a:ext uri="{FF2B5EF4-FFF2-40B4-BE49-F238E27FC236}">
                <a16:creationId xmlns:a16="http://schemas.microsoft.com/office/drawing/2014/main" id="{94DFCBA0-AD3C-2E85-DB9C-EF25330DBAD3}"/>
              </a:ext>
            </a:extLst>
          </p:cNvPr>
          <p:cNvPicPr>
            <a:picLocks noChangeAspect="1"/>
          </p:cNvPicPr>
          <p:nvPr/>
        </p:nvPicPr>
        <p:blipFill>
          <a:blip r:embed="rId4"/>
          <a:stretch>
            <a:fillRect/>
          </a:stretch>
        </p:blipFill>
        <p:spPr>
          <a:xfrm>
            <a:off x="561875" y="4555167"/>
            <a:ext cx="891540" cy="459278"/>
          </a:xfrm>
          <a:prstGeom prst="rect">
            <a:avLst/>
          </a:prstGeom>
        </p:spPr>
      </p:pic>
      <p:sp>
        <p:nvSpPr>
          <p:cNvPr id="26" name="Text 23"/>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7085"/>
            <a:ext cx="9144000" cy="5143500"/>
          </a:xfrm>
          <a:prstGeom prst="rect">
            <a:avLst/>
          </a:prstGeom>
          <a:solidFill>
            <a:srgbClr val="0A1628"/>
          </a:solidFill>
          <a:ln/>
        </p:spPr>
        <p:txBody>
          <a:bodyPr/>
          <a:lstStyle/>
          <a:p>
            <a:endParaRPr lang="en-US"/>
          </a:p>
        </p:txBody>
      </p:sp>
      <p:sp>
        <p:nvSpPr>
          <p:cNvPr id="19" name="Rectangle 18"/>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esidual.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ISSUE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r>
              <a:rPr sz="1800" b="1">
                <a:solidFill>
                  <a:srgbClr val="FFFFFF"/>
                </a:solidFill>
                <a:latin typeface="Calibri"/>
              </a:rPr>
              <a:t>Residual Odor &amp; Unverified Alerts</a:t>
            </a:r>
          </a:p>
        </p:txBody>
      </p:sp>
      <p:sp>
        <p:nvSpPr>
          <p:cNvPr id="5" name="Shape 3"/>
          <p:cNvSpPr/>
          <p:nvPr/>
        </p:nvSpPr>
        <p:spPr>
          <a:xfrm>
            <a:off x="3163824" y="822960"/>
            <a:ext cx="5870448" cy="1188720"/>
          </a:xfrm>
          <a:prstGeom prst="roundRect">
            <a:avLst>
              <a:gd name="adj" fmla="val 4615"/>
            </a:avLst>
          </a:prstGeom>
          <a:solidFill>
            <a:srgbClr val="0F1F2E"/>
          </a:solidFill>
          <a:ln/>
        </p:spPr>
        <p:txBody>
          <a:bodyPr/>
          <a:lstStyle/>
          <a:p>
            <a:endParaRPr lang="en-US"/>
          </a:p>
        </p:txBody>
      </p:sp>
      <p:sp>
        <p:nvSpPr>
          <p:cNvPr id="6" name="Text 4"/>
          <p:cNvSpPr/>
          <p:nvPr/>
        </p:nvSpPr>
        <p:spPr>
          <a:xfrm>
            <a:off x="3163824" y="960120"/>
            <a:ext cx="5870448" cy="914400"/>
          </a:xfrm>
          <a:prstGeom prst="rect">
            <a:avLst/>
          </a:prstGeom>
          <a:noFill/>
          <a:ln/>
        </p:spPr>
        <p:txBody>
          <a:bodyPr wrap="square" rtlCol="0" anchor="ctr"/>
          <a:lstStyle/>
          <a:p>
            <a:r>
              <a:rPr sz="1200">
                <a:solidFill>
                  <a:srgbClr val="FFFFFF"/>
                </a:solidFill>
                <a:latin typeface="Calibri"/>
              </a:rPr>
              <a:t>A dog may alert to residual odor from drugs that are no longer present. Under Harris, a negative search does not automatically defeat probable cause. The question remains whether all facts surrounding the alert would make a reasonably prudent person believe a search would reveal contraband or evidence.</a:t>
            </a:r>
          </a:p>
        </p:txBody>
      </p:sp>
      <p:sp>
        <p:nvSpPr>
          <p:cNvPr id="7" name="Text 5"/>
          <p:cNvSpPr/>
          <p:nvPr/>
        </p:nvSpPr>
        <p:spPr>
          <a:xfrm>
            <a:off x="3163824" y="21945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Handlers must be prepared to:</a:t>
            </a:r>
            <a:endParaRPr lang="en-US" sz="1400" dirty="0"/>
          </a:p>
        </p:txBody>
      </p:sp>
      <p:sp>
        <p:nvSpPr>
          <p:cNvPr id="8" name="Text 6"/>
          <p:cNvSpPr/>
          <p:nvPr/>
        </p:nvSpPr>
        <p:spPr>
          <a:xfrm>
            <a:off x="3163824" y="2560320"/>
            <a:ext cx="5870448"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  Explain odor dynamics and residual scent in plain language</a:t>
            </a:r>
            <a:endParaRPr lang="en-US" sz="1400" dirty="0"/>
          </a:p>
        </p:txBody>
      </p:sp>
      <p:sp>
        <p:nvSpPr>
          <p:cNvPr id="9" name="Text 7"/>
          <p:cNvSpPr/>
          <p:nvPr/>
        </p:nvSpPr>
        <p:spPr>
          <a:xfrm>
            <a:off x="3163824" y="2971800"/>
            <a:ext cx="5870448"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  Distinguish a trained final response from mere interest</a:t>
            </a:r>
            <a:endParaRPr lang="en-US" sz="1400" dirty="0"/>
          </a:p>
        </p:txBody>
      </p:sp>
      <p:sp>
        <p:nvSpPr>
          <p:cNvPr id="10" name="Text 8"/>
          <p:cNvSpPr/>
          <p:nvPr/>
        </p:nvSpPr>
        <p:spPr>
          <a:xfrm>
            <a:off x="3163824" y="3383280"/>
            <a:ext cx="5870448" cy="365760"/>
          </a:xfrm>
          <a:prstGeom prst="rect">
            <a:avLst/>
          </a:prstGeom>
          <a:noFill/>
          <a:ln/>
        </p:spPr>
        <p:txBody>
          <a:bodyPr wrap="square" rtlCol="0" anchor="ctr"/>
          <a:lstStyle/>
          <a:p>
            <a:pPr marL="0" indent="0">
              <a:buNone/>
            </a:pPr>
            <a:r>
              <a:rPr lang="en-US" sz="1400" dirty="0">
                <a:solidFill>
                  <a:srgbClr val="A8B8C8"/>
                </a:solidFill>
                <a:latin typeface="Calibri" pitchFamily="34" charset="0"/>
                <a:ea typeface="Calibri" pitchFamily="34" charset="-122"/>
                <a:cs typeface="Calibri" pitchFamily="34" charset="-120"/>
              </a:rPr>
              <a:t>•  Document controlled-testing performance that includes residual-odor scenarios</a:t>
            </a:r>
            <a:endParaRPr lang="en-US" sz="1400" dirty="0"/>
          </a:p>
        </p:txBody>
      </p:sp>
      <p:sp>
        <p:nvSpPr>
          <p:cNvPr id="11" name="Text 9"/>
          <p:cNvSpPr/>
          <p:nvPr/>
        </p:nvSpPr>
        <p:spPr>
          <a:xfrm>
            <a:off x="3163824" y="3794760"/>
            <a:ext cx="5870448" cy="365760"/>
          </a:xfrm>
          <a:prstGeom prst="rect">
            <a:avLst/>
          </a:prstGeom>
          <a:noFill/>
          <a:ln/>
        </p:spPr>
        <p:txBody>
          <a:bodyPr wrap="square" rtlCol="0" anchor="ctr"/>
          <a:lstStyle/>
          <a:p>
            <a:r>
              <a:rPr sz="1200">
                <a:solidFill>
                  <a:srgbClr val="A8B8C8"/>
                </a:solidFill>
                <a:latin typeface="Calibri"/>
              </a:rPr>
              <a:t>•  Avoid over-claiming: an alert does not always mean current presence of a usable quantity</a:t>
            </a:r>
          </a:p>
        </p:txBody>
      </p:sp>
      <p:pic>
        <p:nvPicPr>
          <p:cNvPr id="16" name="Image 1" descr="/home/workdir/artifacts/moody_detective_badge.jpg">
            <a:extLst>
              <a:ext uri="{FF2B5EF4-FFF2-40B4-BE49-F238E27FC236}">
                <a16:creationId xmlns:a16="http://schemas.microsoft.com/office/drawing/2014/main" id="{AC32D337-887B-12A7-ADD3-F07E7EE9CF6D}"/>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7" name="Picture 16">
            <a:extLst>
              <a:ext uri="{FF2B5EF4-FFF2-40B4-BE49-F238E27FC236}">
                <a16:creationId xmlns:a16="http://schemas.microsoft.com/office/drawing/2014/main" id="{11DAC676-70D3-C984-DDC0-00E8676A93F0}"/>
              </a:ext>
            </a:extLst>
          </p:cNvPr>
          <p:cNvPicPr>
            <a:picLocks noChangeAspect="1"/>
          </p:cNvPicPr>
          <p:nvPr/>
        </p:nvPicPr>
        <p:blipFill>
          <a:blip r:embed="rId4"/>
          <a:stretch>
            <a:fillRect/>
          </a:stretch>
        </p:blipFill>
        <p:spPr>
          <a:xfrm>
            <a:off x="561875" y="4555167"/>
            <a:ext cx="891540" cy="459278"/>
          </a:xfrm>
          <a:prstGeom prst="rect">
            <a:avLst/>
          </a:prstGeom>
        </p:spPr>
      </p:pic>
      <p:sp>
        <p:nvSpPr>
          <p:cNvPr id="15" name="Text 12"/>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9" name="Rectangle 18"/>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jardine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Florida v. Jardines (2013)</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569 U.S. 1  •  5–4  •  Justice Scalia</a:t>
            </a:r>
            <a:endParaRPr lang="en-US" sz="1200" dirty="0"/>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Using a trained dog to investigate the area immediately surrounding a home (the curtilage) is a Fourth Amendment search.</a:t>
            </a:r>
            <a:endParaRPr lang="en-US" sz="1400" dirty="0"/>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Property-Based Holding</a:t>
            </a:r>
            <a:endParaRPr lang="en-US" sz="1400" dirty="0"/>
          </a:p>
        </p:txBody>
      </p:sp>
      <p:sp>
        <p:nvSpPr>
          <p:cNvPr id="9" name="Text 7"/>
          <p:cNvSpPr/>
          <p:nvPr/>
        </p:nvSpPr>
        <p:spPr>
          <a:xfrm>
            <a:off x="3163824" y="2286000"/>
            <a:ext cx="5870448" cy="82296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The home is “first among equals.” An officer may approach a home and knock (knock-and-talk), but introducing a trained police dog to explore the area around the home in hopes of discovering evidence is something else. There is no customary invitation to do that.</a:t>
            </a:r>
            <a:endParaRPr lang="en-US" sz="1300" dirty="0"/>
          </a:p>
        </p:txBody>
      </p:sp>
      <p:sp>
        <p:nvSpPr>
          <p:cNvPr id="10" name="Text 8"/>
          <p:cNvSpPr/>
          <p:nvPr/>
        </p:nvSpPr>
        <p:spPr>
          <a:xfrm>
            <a:off x="3163824" y="320040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Practical Consequences</a:t>
            </a:r>
            <a:endParaRPr lang="en-US" sz="1400" dirty="0"/>
          </a:p>
        </p:txBody>
      </p:sp>
      <p:sp>
        <p:nvSpPr>
          <p:cNvPr id="11" name="Text 9"/>
          <p:cNvSpPr/>
          <p:nvPr/>
        </p:nvSpPr>
        <p:spPr>
          <a:xfrm>
            <a:off x="3163824" y="3520440"/>
            <a:ext cx="5870448" cy="1005840"/>
          </a:xfrm>
          <a:prstGeom prst="rect">
            <a:avLst/>
          </a:prstGeom>
          <a:noFill/>
          <a:ln/>
        </p:spPr>
        <p:txBody>
          <a:bodyPr wrap="square" rtlCol="0" anchor="ctr"/>
          <a:lstStyle/>
          <a:p>
            <a:r>
              <a:rPr sz="1200">
                <a:solidFill>
                  <a:srgbClr val="A8B8C8"/>
                </a:solidFill>
                <a:latin typeface="Calibri"/>
              </a:rPr>
              <a:t>• Front porch / doorway sniffs of residences generally require a warrant or recognized exception to the warrant requirement.</a:t>
            </a:r>
          </a:p>
          <a:p>
            <a:r>
              <a:rPr sz="1200">
                <a:solidFill>
                  <a:srgbClr val="A8B8C8"/>
                </a:solidFill>
                <a:latin typeface="Calibri"/>
              </a:rPr>
              <a:t>• Decision rests primarily on trespass / property rights.</a:t>
            </a:r>
          </a:p>
          <a:p>
            <a:r>
              <a:rPr sz="1200">
                <a:solidFill>
                  <a:srgbClr val="A8B8C8"/>
                </a:solidFill>
                <a:latin typeface="Calibri"/>
              </a:rPr>
              <a:t>• Caballes remains good law for vehicles and public places.</a:t>
            </a:r>
          </a:p>
          <a:p>
            <a:r>
              <a:rPr sz="1200">
                <a:solidFill>
                  <a:srgbClr val="A8B8C8"/>
                </a:solidFill>
                <a:latin typeface="Calibri"/>
              </a:rPr>
              <a:t>• Apartment hallways and door seams raise fact-specific questions (see Earl).</a:t>
            </a:r>
          </a:p>
        </p:txBody>
      </p:sp>
      <p:sp>
        <p:nvSpPr>
          <p:cNvPr id="12" name="Shape 10"/>
          <p:cNvSpPr/>
          <p:nvPr/>
        </p:nvSpPr>
        <p:spPr>
          <a:xfrm>
            <a:off x="0" y="4800600"/>
            <a:ext cx="9144000" cy="342900"/>
          </a:xfrm>
          <a:prstGeom prst="rect">
            <a:avLst/>
          </a:prstGeom>
          <a:solidFill>
            <a:srgbClr val="061018"/>
          </a:solidFill>
          <a:ln/>
        </p:spPr>
        <p:txBody>
          <a:bodyPr/>
          <a:lstStyle/>
          <a:p>
            <a:endParaRPr lang="en-US"/>
          </a:p>
        </p:txBody>
      </p:sp>
      <p:pic>
        <p:nvPicPr>
          <p:cNvPr id="16" name="Image 1" descr="/home/workdir/artifacts/moody_detective_badge.jpg">
            <a:extLst>
              <a:ext uri="{FF2B5EF4-FFF2-40B4-BE49-F238E27FC236}">
                <a16:creationId xmlns:a16="http://schemas.microsoft.com/office/drawing/2014/main" id="{FD54B633-6049-C2CF-E49F-010304E9774B}"/>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7" name="Picture 16">
            <a:extLst>
              <a:ext uri="{FF2B5EF4-FFF2-40B4-BE49-F238E27FC236}">
                <a16:creationId xmlns:a16="http://schemas.microsoft.com/office/drawing/2014/main" id="{C2166C3F-83E4-4EDA-B9F9-066076423867}"/>
              </a:ext>
            </a:extLst>
          </p:cNvPr>
          <p:cNvPicPr>
            <a:picLocks noChangeAspect="1"/>
          </p:cNvPicPr>
          <p:nvPr/>
        </p:nvPicPr>
        <p:blipFill>
          <a:blip r:embed="rId4"/>
          <a:stretch>
            <a:fillRect/>
          </a:stretch>
        </p:blipFill>
        <p:spPr>
          <a:xfrm>
            <a:off x="561875" y="4555167"/>
            <a:ext cx="891540" cy="459278"/>
          </a:xfrm>
          <a:prstGeom prst="rect">
            <a:avLst/>
          </a:prstGeom>
        </p:spPr>
      </p:pic>
      <p:sp>
        <p:nvSpPr>
          <p:cNvPr id="15" name="Text 12"/>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CURTILAGE RULES</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What Counts as Curtilage? The Dunn Factors</a:t>
            </a:r>
            <a:endParaRPr lang="en-US" sz="1800" dirty="0"/>
          </a:p>
        </p:txBody>
      </p:sp>
      <p:sp>
        <p:nvSpPr>
          <p:cNvPr id="5" name="Text 3"/>
          <p:cNvSpPr/>
          <p:nvPr/>
        </p:nvSpPr>
        <p:spPr>
          <a:xfrm>
            <a:off x="457200" y="685800"/>
            <a:ext cx="8229600" cy="201168"/>
          </a:xfrm>
          <a:prstGeom prst="rect">
            <a:avLst/>
          </a:prstGeom>
          <a:noFill/>
          <a:ln/>
        </p:spPr>
        <p:txBody>
          <a:bodyPr wrap="square" rtlCol="0" anchor="ctr"/>
          <a:lstStyle/>
          <a:p>
            <a:r>
              <a:rPr sz="1200">
                <a:solidFill>
                  <a:srgbClr val="0D7377"/>
                </a:solidFill>
                <a:latin typeface="Calibri"/>
              </a:rPr>
              <a:t>United States v. Dunn (1987) supplies the four factors courts use. They are analytical tools — not a mechanical formula.</a:t>
            </a:r>
          </a:p>
        </p:txBody>
      </p:sp>
      <p:sp>
        <p:nvSpPr>
          <p:cNvPr id="6" name="Shape 4"/>
          <p:cNvSpPr/>
          <p:nvPr/>
        </p:nvSpPr>
        <p:spPr>
          <a:xfrm>
            <a:off x="457200" y="1051560"/>
            <a:ext cx="4114800" cy="1463040"/>
          </a:xfrm>
          <a:prstGeom prst="roundRect">
            <a:avLst>
              <a:gd name="adj" fmla="val 3750"/>
            </a:avLst>
          </a:prstGeom>
          <a:solidFill>
            <a:srgbClr val="0F1F2E"/>
          </a:solidFill>
          <a:ln/>
        </p:spPr>
        <p:txBody>
          <a:bodyPr/>
          <a:lstStyle/>
          <a:p>
            <a:endParaRPr lang="en-US"/>
          </a:p>
        </p:txBody>
      </p:sp>
      <p:sp>
        <p:nvSpPr>
          <p:cNvPr id="7" name="Shape 5"/>
          <p:cNvSpPr/>
          <p:nvPr/>
        </p:nvSpPr>
        <p:spPr>
          <a:xfrm>
            <a:off x="640080" y="1280160"/>
            <a:ext cx="347472" cy="347472"/>
          </a:xfrm>
          <a:prstGeom prst="ellipse">
            <a:avLst/>
          </a:prstGeom>
          <a:solidFill>
            <a:srgbClr val="0D7377"/>
          </a:solidFill>
          <a:ln/>
        </p:spPr>
        <p:txBody>
          <a:bodyPr/>
          <a:lstStyle/>
          <a:p>
            <a:endParaRPr lang="en-US"/>
          </a:p>
        </p:txBody>
      </p:sp>
      <p:sp>
        <p:nvSpPr>
          <p:cNvPr id="8" name="Text 6"/>
          <p:cNvSpPr/>
          <p:nvPr/>
        </p:nvSpPr>
        <p:spPr>
          <a:xfrm>
            <a:off x="640080" y="128016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97280" y="132588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Proximity</a:t>
            </a:r>
            <a:endParaRPr lang="en-US" sz="1400" dirty="0"/>
          </a:p>
        </p:txBody>
      </p:sp>
      <p:sp>
        <p:nvSpPr>
          <p:cNvPr id="10" name="Text 8"/>
          <p:cNvSpPr/>
          <p:nvPr/>
        </p:nvSpPr>
        <p:spPr>
          <a:xfrm>
            <a:off x="640080" y="178308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How close is the area to the residence? Front porches and areas immediately adjacent to doors are almost always curtilage.</a:t>
            </a:r>
            <a:endParaRPr lang="en-US" sz="1200" dirty="0"/>
          </a:p>
        </p:txBody>
      </p:sp>
      <p:sp>
        <p:nvSpPr>
          <p:cNvPr id="11" name="Shape 9"/>
          <p:cNvSpPr/>
          <p:nvPr/>
        </p:nvSpPr>
        <p:spPr>
          <a:xfrm>
            <a:off x="4754880" y="1051560"/>
            <a:ext cx="4114800" cy="1463040"/>
          </a:xfrm>
          <a:prstGeom prst="roundRect">
            <a:avLst>
              <a:gd name="adj" fmla="val 3750"/>
            </a:avLst>
          </a:prstGeom>
          <a:solidFill>
            <a:srgbClr val="0F1F2E"/>
          </a:solidFill>
          <a:ln/>
        </p:spPr>
        <p:txBody>
          <a:bodyPr/>
          <a:lstStyle/>
          <a:p>
            <a:endParaRPr lang="en-US"/>
          </a:p>
        </p:txBody>
      </p:sp>
      <p:sp>
        <p:nvSpPr>
          <p:cNvPr id="12" name="Shape 10"/>
          <p:cNvSpPr/>
          <p:nvPr/>
        </p:nvSpPr>
        <p:spPr>
          <a:xfrm>
            <a:off x="4937760" y="1280160"/>
            <a:ext cx="347472" cy="347472"/>
          </a:xfrm>
          <a:prstGeom prst="ellipse">
            <a:avLst/>
          </a:prstGeom>
          <a:solidFill>
            <a:srgbClr val="0D7377"/>
          </a:solidFill>
          <a:ln/>
        </p:spPr>
        <p:txBody>
          <a:bodyPr/>
          <a:lstStyle/>
          <a:p>
            <a:endParaRPr lang="en-US"/>
          </a:p>
        </p:txBody>
      </p:sp>
      <p:sp>
        <p:nvSpPr>
          <p:cNvPr id="13" name="Text 11"/>
          <p:cNvSpPr/>
          <p:nvPr/>
        </p:nvSpPr>
        <p:spPr>
          <a:xfrm>
            <a:off x="4937760" y="128016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394960" y="132588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Enclosure</a:t>
            </a:r>
            <a:endParaRPr lang="en-US" sz="1400" dirty="0"/>
          </a:p>
        </p:txBody>
      </p:sp>
      <p:sp>
        <p:nvSpPr>
          <p:cNvPr id="15" name="Text 13"/>
          <p:cNvSpPr/>
          <p:nvPr/>
        </p:nvSpPr>
        <p:spPr>
          <a:xfrm>
            <a:off x="4937760" y="178308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Is the area enclosed by a fence, wall, or other barrier that marks it as part of the home’s private space?</a:t>
            </a:r>
            <a:endParaRPr lang="en-US" sz="1200" dirty="0"/>
          </a:p>
        </p:txBody>
      </p:sp>
      <p:sp>
        <p:nvSpPr>
          <p:cNvPr id="16" name="Shape 14"/>
          <p:cNvSpPr/>
          <p:nvPr/>
        </p:nvSpPr>
        <p:spPr>
          <a:xfrm>
            <a:off x="457200" y="2697480"/>
            <a:ext cx="4114800" cy="1463040"/>
          </a:xfrm>
          <a:prstGeom prst="roundRect">
            <a:avLst>
              <a:gd name="adj" fmla="val 3750"/>
            </a:avLst>
          </a:prstGeom>
          <a:solidFill>
            <a:srgbClr val="0F1F2E"/>
          </a:solidFill>
          <a:ln/>
        </p:spPr>
        <p:txBody>
          <a:bodyPr/>
          <a:lstStyle/>
          <a:p>
            <a:endParaRPr lang="en-US"/>
          </a:p>
        </p:txBody>
      </p:sp>
      <p:sp>
        <p:nvSpPr>
          <p:cNvPr id="17" name="Shape 15"/>
          <p:cNvSpPr/>
          <p:nvPr/>
        </p:nvSpPr>
        <p:spPr>
          <a:xfrm>
            <a:off x="640080" y="2926080"/>
            <a:ext cx="347472" cy="347472"/>
          </a:xfrm>
          <a:prstGeom prst="ellipse">
            <a:avLst/>
          </a:prstGeom>
          <a:solidFill>
            <a:srgbClr val="0D7377"/>
          </a:solidFill>
          <a:ln/>
        </p:spPr>
        <p:txBody>
          <a:bodyPr/>
          <a:lstStyle/>
          <a:p>
            <a:endParaRPr lang="en-US"/>
          </a:p>
        </p:txBody>
      </p:sp>
      <p:sp>
        <p:nvSpPr>
          <p:cNvPr id="18" name="Text 16"/>
          <p:cNvSpPr/>
          <p:nvPr/>
        </p:nvSpPr>
        <p:spPr>
          <a:xfrm>
            <a:off x="640080" y="292608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097280" y="297180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Nature of Uses</a:t>
            </a:r>
            <a:endParaRPr lang="en-US" sz="1400" dirty="0"/>
          </a:p>
        </p:txBody>
      </p:sp>
      <p:sp>
        <p:nvSpPr>
          <p:cNvPr id="20" name="Text 18"/>
          <p:cNvSpPr/>
          <p:nvPr/>
        </p:nvSpPr>
        <p:spPr>
          <a:xfrm>
            <a:off x="640080" y="342900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Is the area used for intimate activities of the home rather than open fields or public access?</a:t>
            </a:r>
            <a:endParaRPr lang="en-US" sz="1200" dirty="0"/>
          </a:p>
        </p:txBody>
      </p:sp>
      <p:sp>
        <p:nvSpPr>
          <p:cNvPr id="21" name="Shape 19"/>
          <p:cNvSpPr/>
          <p:nvPr/>
        </p:nvSpPr>
        <p:spPr>
          <a:xfrm>
            <a:off x="4754880" y="2697480"/>
            <a:ext cx="4114800" cy="1463040"/>
          </a:xfrm>
          <a:prstGeom prst="roundRect">
            <a:avLst>
              <a:gd name="adj" fmla="val 3750"/>
            </a:avLst>
          </a:prstGeom>
          <a:solidFill>
            <a:srgbClr val="0F1F2E"/>
          </a:solidFill>
          <a:ln/>
        </p:spPr>
        <p:txBody>
          <a:bodyPr/>
          <a:lstStyle/>
          <a:p>
            <a:endParaRPr lang="en-US"/>
          </a:p>
        </p:txBody>
      </p:sp>
      <p:sp>
        <p:nvSpPr>
          <p:cNvPr id="22" name="Shape 20"/>
          <p:cNvSpPr/>
          <p:nvPr/>
        </p:nvSpPr>
        <p:spPr>
          <a:xfrm>
            <a:off x="4937760" y="2926080"/>
            <a:ext cx="347472" cy="347472"/>
          </a:xfrm>
          <a:prstGeom prst="ellipse">
            <a:avLst/>
          </a:prstGeom>
          <a:solidFill>
            <a:srgbClr val="0D7377"/>
          </a:solidFill>
          <a:ln/>
        </p:spPr>
        <p:txBody>
          <a:bodyPr/>
          <a:lstStyle/>
          <a:p>
            <a:endParaRPr lang="en-US"/>
          </a:p>
        </p:txBody>
      </p:sp>
      <p:sp>
        <p:nvSpPr>
          <p:cNvPr id="23" name="Text 21"/>
          <p:cNvSpPr/>
          <p:nvPr/>
        </p:nvSpPr>
        <p:spPr>
          <a:xfrm>
            <a:off x="4937760" y="292608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5394960" y="297180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Steps to Protect Privacy</a:t>
            </a:r>
            <a:endParaRPr lang="en-US" sz="1400" dirty="0"/>
          </a:p>
        </p:txBody>
      </p:sp>
      <p:sp>
        <p:nvSpPr>
          <p:cNvPr id="25" name="Text 23"/>
          <p:cNvSpPr/>
          <p:nvPr/>
        </p:nvSpPr>
        <p:spPr>
          <a:xfrm>
            <a:off x="4937760" y="342900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Has the resident taken steps to shield the area from observation by people passing by?</a:t>
            </a:r>
            <a:endParaRPr lang="en-US" sz="1200" dirty="0"/>
          </a:p>
        </p:txBody>
      </p:sp>
      <p:pic>
        <p:nvPicPr>
          <p:cNvPr id="30" name="Image 1" descr="/home/workdir/artifacts/moody_detective_badge.jpg">
            <a:extLst>
              <a:ext uri="{FF2B5EF4-FFF2-40B4-BE49-F238E27FC236}">
                <a16:creationId xmlns:a16="http://schemas.microsoft.com/office/drawing/2014/main" id="{FD95CC26-70D3-03C2-EF64-A3A5E867931B}"/>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31" name="Picture 30">
            <a:extLst>
              <a:ext uri="{FF2B5EF4-FFF2-40B4-BE49-F238E27FC236}">
                <a16:creationId xmlns:a16="http://schemas.microsoft.com/office/drawing/2014/main" id="{618B5121-B07A-8263-446E-82C86AE683E5}"/>
              </a:ext>
            </a:extLst>
          </p:cNvPr>
          <p:cNvPicPr>
            <a:picLocks noChangeAspect="1"/>
          </p:cNvPicPr>
          <p:nvPr/>
        </p:nvPicPr>
        <p:blipFill>
          <a:blip r:embed="rId4"/>
          <a:stretch>
            <a:fillRect/>
          </a:stretch>
        </p:blipFill>
        <p:spPr>
          <a:xfrm>
            <a:off x="561875" y="4555167"/>
            <a:ext cx="891540" cy="459278"/>
          </a:xfrm>
          <a:prstGeom prst="rect">
            <a:avLst/>
          </a:prstGeom>
        </p:spPr>
      </p:pic>
      <p:sp>
        <p:nvSpPr>
          <p:cNvPr id="29" name="Text 26"/>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kyllo.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Kyllo v. United States (2001)</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533 U.S. 27  •  5–4  •  Justice Scalia</a:t>
            </a:r>
            <a:endParaRPr lang="en-US" sz="1200" dirty="0"/>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Thermal imaging of a home to detect interior heat signatures is a search when the technology is not in general public use.</a:t>
            </a:r>
            <a:endParaRPr lang="en-US" sz="1400" dirty="0"/>
          </a:p>
        </p:txBody>
      </p:sp>
      <p:sp>
        <p:nvSpPr>
          <p:cNvPr id="8" name="Text 6"/>
          <p:cNvSpPr/>
          <p:nvPr/>
        </p:nvSpPr>
        <p:spPr>
          <a:xfrm>
            <a:off x="3163824" y="2011680"/>
            <a:ext cx="5870448" cy="256032"/>
          </a:xfrm>
          <a:prstGeom prst="rect">
            <a:avLst/>
          </a:prstGeom>
          <a:noFill/>
          <a:ln/>
        </p:spPr>
        <p:txBody>
          <a:bodyPr wrap="square" rtlCol="0" anchor="ctr"/>
          <a:lstStyle/>
          <a:p>
            <a:r>
              <a:rPr sz="1400" b="1">
                <a:solidFill>
                  <a:srgbClr val="FFFFFF"/>
                </a:solidFill>
                <a:latin typeface="Calibri"/>
              </a:rPr>
              <a:t>Justice Kagan’s Jardines Concurrence</a:t>
            </a:r>
          </a:p>
        </p:txBody>
      </p:sp>
      <p:sp>
        <p:nvSpPr>
          <p:cNvPr id="9" name="Text 7"/>
          <p:cNvSpPr/>
          <p:nvPr/>
        </p:nvSpPr>
        <p:spPr>
          <a:xfrm>
            <a:off x="3163824" y="2377440"/>
            <a:ext cx="5870448" cy="1645920"/>
          </a:xfrm>
          <a:prstGeom prst="rect">
            <a:avLst/>
          </a:prstGeom>
          <a:noFill/>
          <a:ln/>
        </p:spPr>
        <p:txBody>
          <a:bodyPr wrap="square" rtlCol="0" anchor="ctr"/>
          <a:lstStyle/>
          <a:p>
            <a:r>
              <a:rPr sz="1200">
                <a:solidFill>
                  <a:srgbClr val="A8B8C8"/>
                </a:solidFill>
                <a:latin typeface="Calibri"/>
              </a:rPr>
              <a:t>Justice Kagan’s concurrence in Jardines treated a trained drug dog as similar to a “device not in general public use.” Walking that dog to a home’s front door to explore by smell was compared to the thermal scan prohibited in Kyllo.</a:t>
            </a:r>
          </a:p>
          <a:p>
            <a:endParaRPr sz="1200">
              <a:solidFill>
                <a:srgbClr val="A8B8C8"/>
              </a:solidFill>
              <a:latin typeface="Calibri"/>
            </a:endParaRPr>
          </a:p>
          <a:p>
            <a:r>
              <a:rPr sz="1200">
                <a:solidFill>
                  <a:srgbClr val="A8B8C8"/>
                </a:solidFill>
                <a:latin typeface="Calibri"/>
              </a:rPr>
              <a:t>Important: the Jardines majority rested on property/trespass. Kyllo is an alternative privacy-based explanation from the concurrence.</a:t>
            </a:r>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7EBB45C6-C9D0-9974-DCE1-549E5852227D}"/>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FF8344F1-6568-6D36-7DEA-AD86CB7E589B}"/>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arl.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ALABAMA AUTHORITY</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Earl v. State, 309 So. 3d 641 (Ala. Crim. App. 2020)</a:t>
            </a:r>
            <a:endParaRPr lang="en-US" sz="17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Alabama Court of Criminal Appeals  •  May 29, 2020</a:t>
            </a:r>
            <a:endParaRPr lang="en-US" sz="1200" dirty="0"/>
          </a:p>
        </p:txBody>
      </p:sp>
      <p:sp>
        <p:nvSpPr>
          <p:cNvPr id="6" name="Shape 4"/>
          <p:cNvSpPr/>
          <p:nvPr/>
        </p:nvSpPr>
        <p:spPr>
          <a:xfrm>
            <a:off x="3163824" y="1005840"/>
            <a:ext cx="5870448" cy="731520"/>
          </a:xfrm>
          <a:prstGeom prst="roundRect">
            <a:avLst>
              <a:gd name="adj" fmla="val 7500"/>
            </a:avLst>
          </a:prstGeom>
          <a:solidFill>
            <a:srgbClr val="0F1F2E"/>
          </a:solidFill>
          <a:ln/>
        </p:spPr>
        <p:txBody>
          <a:bodyPr wrap="square"/>
          <a:lstStyle/>
          <a:p>
            <a:endParaRPr/>
          </a:p>
        </p:txBody>
      </p:sp>
      <p:sp>
        <p:nvSpPr>
          <p:cNvPr id="7" name="Text 5"/>
          <p:cNvSpPr/>
          <p:nvPr/>
        </p:nvSpPr>
        <p:spPr>
          <a:xfrm>
            <a:off x="3163824" y="1143000"/>
            <a:ext cx="5870448" cy="457200"/>
          </a:xfrm>
          <a:prstGeom prst="rect">
            <a:avLst/>
          </a:prstGeom>
          <a:noFill/>
          <a:ln/>
        </p:spPr>
        <p:txBody>
          <a:bodyPr wrap="square" rtlCol="0" anchor="ctr"/>
          <a:lstStyle/>
          <a:p>
            <a:r>
              <a:rPr sz="1400" b="1">
                <a:solidFill>
                  <a:srgbClr val="D4A84B"/>
                </a:solidFill>
                <a:latin typeface="Calibri"/>
              </a:rPr>
              <a:t>A drug-dog sniff of the door seams of the apartment in Earl was an illegal search under Jardines.</a:t>
            </a:r>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Key Facts &amp; Holding</a:t>
            </a:r>
            <a:endParaRPr lang="en-US" sz="1400" dirty="0"/>
          </a:p>
        </p:txBody>
      </p:sp>
      <p:sp>
        <p:nvSpPr>
          <p:cNvPr id="9" name="Text 7"/>
          <p:cNvSpPr/>
          <p:nvPr/>
        </p:nvSpPr>
        <p:spPr>
          <a:xfrm>
            <a:off x="3163824" y="2286000"/>
            <a:ext cx="5870448" cy="2011680"/>
          </a:xfrm>
          <a:prstGeom prst="rect">
            <a:avLst/>
          </a:prstGeom>
          <a:noFill/>
          <a:ln/>
        </p:spPr>
        <p:txBody>
          <a:bodyPr wrap="square" rtlCol="0" anchor="ctr"/>
          <a:lstStyle/>
          <a:p>
            <a:r>
              <a:rPr sz="1150">
                <a:solidFill>
                  <a:srgbClr val="A8B8C8"/>
                </a:solidFill>
                <a:latin typeface="Calibri"/>
              </a:rPr>
              <a:t>Holding: The sniff at the apartment door seams was an illegal search under Jardines. The alert could not supply probable cause for the warrant.</a:t>
            </a:r>
          </a:p>
          <a:p>
            <a:endParaRPr sz="1150">
              <a:solidFill>
                <a:srgbClr val="A8B8C8"/>
              </a:solidFill>
              <a:latin typeface="Calibri"/>
            </a:endParaRPr>
          </a:p>
          <a:p>
            <a:r>
              <a:rPr sz="1150">
                <a:solidFill>
                  <a:srgbClr val="A8B8C8"/>
                </a:solidFill>
                <a:latin typeface="Calibri"/>
              </a:rPr>
              <a:t>Field rule: treat residential apartment door/door-seam sniffs conservatively. Do not deploy a dog at a residential door without a warrant, consent, exigency, or other lawful authority.</a:t>
            </a:r>
          </a:p>
        </p:txBody>
      </p:sp>
      <p:pic>
        <p:nvPicPr>
          <p:cNvPr id="14" name="Image 1" descr="/home/workdir/artifacts/moody_detective_badge.jpg">
            <a:extLst>
              <a:ext uri="{FF2B5EF4-FFF2-40B4-BE49-F238E27FC236}">
                <a16:creationId xmlns:a16="http://schemas.microsoft.com/office/drawing/2014/main" id="{4948762D-D6F0-E51F-FEB3-4C544C6CEA13}"/>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8AD8C1DC-79F0-D590-1DEA-91A549FE0E13}"/>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ALABAMA CASE LAW SUMMARY</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Operational Takeaways for Alabama Deployments</a:t>
            </a:r>
            <a:endParaRPr lang="en-US" sz="1700" dirty="0"/>
          </a:p>
        </p:txBody>
      </p:sp>
      <p:sp>
        <p:nvSpPr>
          <p:cNvPr id="5" name="Shape 3"/>
          <p:cNvSpPr/>
          <p:nvPr/>
        </p:nvSpPr>
        <p:spPr>
          <a:xfrm>
            <a:off x="457200" y="822960"/>
            <a:ext cx="292608" cy="292608"/>
          </a:xfrm>
          <a:prstGeom prst="ellipse">
            <a:avLst/>
          </a:prstGeom>
          <a:solidFill>
            <a:srgbClr val="0D7377"/>
          </a:solidFill>
          <a:ln/>
        </p:spPr>
        <p:txBody>
          <a:bodyPr/>
          <a:lstStyle/>
          <a:p>
            <a:endParaRPr lang="en-US"/>
          </a:p>
        </p:txBody>
      </p:sp>
      <p:sp>
        <p:nvSpPr>
          <p:cNvPr id="6" name="Text 4"/>
          <p:cNvSpPr/>
          <p:nvPr/>
        </p:nvSpPr>
        <p:spPr>
          <a:xfrm>
            <a:off x="457200" y="82296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14400" y="822960"/>
            <a:ext cx="7772400" cy="256032"/>
          </a:xfrm>
          <a:prstGeom prst="rect">
            <a:avLst/>
          </a:prstGeom>
          <a:noFill/>
          <a:ln/>
        </p:spPr>
        <p:txBody>
          <a:bodyPr wrap="square" rtlCol="0" anchor="ctr"/>
          <a:lstStyle/>
          <a:p>
            <a:r>
              <a:rPr sz="1300" b="1">
                <a:solidFill>
                  <a:srgbClr val="D4A84B"/>
                </a:solidFill>
                <a:latin typeface="Calibri"/>
              </a:rPr>
              <a:t>Residential door/door-seam sniffs</a:t>
            </a:r>
          </a:p>
        </p:txBody>
      </p:sp>
      <p:sp>
        <p:nvSpPr>
          <p:cNvPr id="8" name="Text 6"/>
          <p:cNvSpPr/>
          <p:nvPr/>
        </p:nvSpPr>
        <p:spPr>
          <a:xfrm>
            <a:off x="914400" y="1097280"/>
            <a:ext cx="7772400" cy="320040"/>
          </a:xfrm>
          <a:prstGeom prst="rect">
            <a:avLst/>
          </a:prstGeom>
          <a:noFill/>
          <a:ln/>
        </p:spPr>
        <p:txBody>
          <a:bodyPr wrap="square" rtlCol="0" anchor="ctr"/>
          <a:lstStyle/>
          <a:p>
            <a:r>
              <a:rPr sz="1080">
                <a:solidFill>
                  <a:srgbClr val="A8B8C8"/>
                </a:solidFill>
                <a:latin typeface="Calibri"/>
              </a:rPr>
              <a:t>Treat the immediate area at residential doors as protected absent lawful authority. Earl controls its facts; use a conservative field rule.</a:t>
            </a:r>
          </a:p>
        </p:txBody>
      </p:sp>
      <p:sp>
        <p:nvSpPr>
          <p:cNvPr id="9" name="Shape 7"/>
          <p:cNvSpPr/>
          <p:nvPr/>
        </p:nvSpPr>
        <p:spPr>
          <a:xfrm>
            <a:off x="457200" y="1508760"/>
            <a:ext cx="292608" cy="292608"/>
          </a:xfrm>
          <a:prstGeom prst="ellipse">
            <a:avLst/>
          </a:prstGeom>
          <a:solidFill>
            <a:srgbClr val="0D7377"/>
          </a:solidFill>
          <a:ln/>
        </p:spPr>
        <p:txBody>
          <a:bodyPr/>
          <a:lstStyle/>
          <a:p>
            <a:endParaRPr lang="en-US"/>
          </a:p>
        </p:txBody>
      </p:sp>
      <p:sp>
        <p:nvSpPr>
          <p:cNvPr id="10" name="Text 8"/>
          <p:cNvSpPr/>
          <p:nvPr/>
        </p:nvSpPr>
        <p:spPr>
          <a:xfrm>
            <a:off x="457200" y="150876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14400" y="1508760"/>
            <a:ext cx="7772400" cy="256032"/>
          </a:xfrm>
          <a:prstGeom prst="rect">
            <a:avLst/>
          </a:prstGeom>
          <a:noFill/>
          <a:ln/>
        </p:spPr>
        <p:txBody>
          <a:bodyPr wrap="square" rtlCol="0" anchor="ctr"/>
          <a:lstStyle/>
          <a:p>
            <a:r>
              <a:rPr sz="1300" b="1">
                <a:solidFill>
                  <a:srgbClr val="D4A84B"/>
                </a:solidFill>
                <a:latin typeface="Calibri"/>
              </a:rPr>
              <a:t>Traffic stop timing</a:t>
            </a:r>
          </a:p>
        </p:txBody>
      </p:sp>
      <p:sp>
        <p:nvSpPr>
          <p:cNvPr id="12" name="Text 10"/>
          <p:cNvSpPr/>
          <p:nvPr/>
        </p:nvSpPr>
        <p:spPr>
          <a:xfrm>
            <a:off x="914400" y="1783080"/>
            <a:ext cx="7772400" cy="320040"/>
          </a:xfrm>
          <a:prstGeom prst="rect">
            <a:avLst/>
          </a:prstGeom>
          <a:noFill/>
          <a:ln/>
        </p:spPr>
        <p:txBody>
          <a:bodyPr wrap="square" rtlCol="0" anchor="ctr"/>
          <a:lstStyle/>
          <a:p>
            <a:r>
              <a:rPr sz="1080">
                <a:solidFill>
                  <a:srgbClr val="A8B8C8"/>
                </a:solidFill>
                <a:latin typeface="Calibri"/>
              </a:rPr>
              <a:t>Complete the mission diligently. Under Rodriguez/Campbell, unrelated K9 activity cannot add time without independent RS.</a:t>
            </a:r>
          </a:p>
        </p:txBody>
      </p:sp>
      <p:sp>
        <p:nvSpPr>
          <p:cNvPr id="13" name="Shape 11"/>
          <p:cNvSpPr/>
          <p:nvPr/>
        </p:nvSpPr>
        <p:spPr>
          <a:xfrm>
            <a:off x="457200" y="2194560"/>
            <a:ext cx="292608" cy="292608"/>
          </a:xfrm>
          <a:prstGeom prst="ellipse">
            <a:avLst/>
          </a:prstGeom>
          <a:solidFill>
            <a:srgbClr val="0D7377"/>
          </a:solidFill>
          <a:ln/>
        </p:spPr>
        <p:txBody>
          <a:bodyPr/>
          <a:lstStyle/>
          <a:p>
            <a:endParaRPr lang="en-US"/>
          </a:p>
        </p:txBody>
      </p:sp>
      <p:sp>
        <p:nvSpPr>
          <p:cNvPr id="14" name="Text 12"/>
          <p:cNvSpPr/>
          <p:nvPr/>
        </p:nvSpPr>
        <p:spPr>
          <a:xfrm>
            <a:off x="457200" y="219456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914400" y="2194560"/>
            <a:ext cx="7772400" cy="256032"/>
          </a:xfrm>
          <a:prstGeom prst="rect">
            <a:avLst/>
          </a:prstGeom>
          <a:noFill/>
          <a:ln/>
        </p:spPr>
        <p:txBody>
          <a:bodyPr wrap="square" rtlCol="0" anchor="ctr"/>
          <a:lstStyle/>
          <a:p>
            <a:r>
              <a:rPr sz="1300" b="1">
                <a:solidFill>
                  <a:srgbClr val="D4A84B"/>
                </a:solidFill>
                <a:latin typeface="Calibri"/>
              </a:rPr>
              <a:t>Certification &amp; records</a:t>
            </a:r>
          </a:p>
        </p:txBody>
      </p:sp>
      <p:sp>
        <p:nvSpPr>
          <p:cNvPr id="16" name="Text 14"/>
          <p:cNvSpPr/>
          <p:nvPr/>
        </p:nvSpPr>
        <p:spPr>
          <a:xfrm>
            <a:off x="914400" y="2468880"/>
            <a:ext cx="7772400" cy="320040"/>
          </a:xfrm>
          <a:prstGeom prst="rect">
            <a:avLst/>
          </a:prstGeom>
          <a:noFill/>
          <a:ln/>
        </p:spPr>
        <p:txBody>
          <a:bodyPr wrap="square" rtlCol="0" anchor="ctr"/>
          <a:lstStyle/>
          <a:p>
            <a:r>
              <a:rPr sz="1080">
                <a:solidFill>
                  <a:srgbClr val="A8B8C8"/>
                </a:solidFill>
                <a:latin typeface="Calibri"/>
              </a:rPr>
              <a:t>Maintain current certification and controlled-testing records. Under Harris these form strong reliability evidence, not a checklist.</a:t>
            </a:r>
          </a:p>
        </p:txBody>
      </p:sp>
      <p:sp>
        <p:nvSpPr>
          <p:cNvPr id="17" name="Shape 15"/>
          <p:cNvSpPr/>
          <p:nvPr/>
        </p:nvSpPr>
        <p:spPr>
          <a:xfrm>
            <a:off x="457200" y="2880360"/>
            <a:ext cx="292608" cy="292608"/>
          </a:xfrm>
          <a:prstGeom prst="ellipse">
            <a:avLst/>
          </a:prstGeom>
          <a:solidFill>
            <a:srgbClr val="0D7377"/>
          </a:solidFill>
          <a:ln/>
        </p:spPr>
        <p:txBody>
          <a:bodyPr/>
          <a:lstStyle/>
          <a:p>
            <a:endParaRPr lang="en-US"/>
          </a:p>
        </p:txBody>
      </p:sp>
      <p:sp>
        <p:nvSpPr>
          <p:cNvPr id="18" name="Text 16"/>
          <p:cNvSpPr/>
          <p:nvPr/>
        </p:nvSpPr>
        <p:spPr>
          <a:xfrm>
            <a:off x="457200" y="288036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914400" y="2880360"/>
            <a:ext cx="7772400" cy="256032"/>
          </a:xfrm>
          <a:prstGeom prst="rect">
            <a:avLst/>
          </a:prstGeom>
          <a:noFill/>
          <a:ln/>
        </p:spPr>
        <p:txBody>
          <a:bodyPr wrap="square" rtlCol="0" anchor="ctr"/>
          <a:lstStyle/>
          <a:p>
            <a:r>
              <a:rPr sz="1300" b="1">
                <a:solidFill>
                  <a:srgbClr val="D4A84B"/>
                </a:solidFill>
                <a:latin typeface="Calibri"/>
              </a:rPr>
              <a:t>Marijuana odor in Alabama</a:t>
            </a:r>
          </a:p>
        </p:txBody>
      </p:sp>
      <p:sp>
        <p:nvSpPr>
          <p:cNvPr id="20" name="Text 18"/>
          <p:cNvSpPr/>
          <p:nvPr/>
        </p:nvSpPr>
        <p:spPr>
          <a:xfrm>
            <a:off x="914400" y="3154680"/>
            <a:ext cx="7772400" cy="320040"/>
          </a:xfrm>
          <a:prstGeom prst="rect">
            <a:avLst/>
          </a:prstGeom>
          <a:noFill/>
          <a:ln/>
        </p:spPr>
        <p:txBody>
          <a:bodyPr wrap="square" rtlCol="0" anchor="ctr"/>
          <a:lstStyle/>
          <a:p>
            <a:r>
              <a:rPr sz="1080">
                <a:solidFill>
                  <a:srgbClr val="A8B8C8"/>
                </a:solidFill>
                <a:latin typeface="Calibri"/>
              </a:rPr>
              <a:t>Under Bain v. State, legal hemp does not presently eliminate PC based on marijuana odor. Document exactly what you smelled.</a:t>
            </a:r>
          </a:p>
        </p:txBody>
      </p:sp>
      <p:sp>
        <p:nvSpPr>
          <p:cNvPr id="21" name="Shape 19"/>
          <p:cNvSpPr/>
          <p:nvPr/>
        </p:nvSpPr>
        <p:spPr>
          <a:xfrm>
            <a:off x="457200" y="3566160"/>
            <a:ext cx="292608" cy="292608"/>
          </a:xfrm>
          <a:prstGeom prst="ellipse">
            <a:avLst/>
          </a:prstGeom>
          <a:solidFill>
            <a:srgbClr val="0D7377"/>
          </a:solidFill>
          <a:ln/>
        </p:spPr>
        <p:txBody>
          <a:bodyPr/>
          <a:lstStyle/>
          <a:p>
            <a:endParaRPr lang="en-US"/>
          </a:p>
        </p:txBody>
      </p:sp>
      <p:sp>
        <p:nvSpPr>
          <p:cNvPr id="22" name="Text 20"/>
          <p:cNvSpPr/>
          <p:nvPr/>
        </p:nvSpPr>
        <p:spPr>
          <a:xfrm>
            <a:off x="457200" y="356616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914400" y="3566160"/>
            <a:ext cx="7772400" cy="256032"/>
          </a:xfrm>
          <a:prstGeom prst="rect">
            <a:avLst/>
          </a:prstGeom>
          <a:noFill/>
          <a:ln/>
        </p:spPr>
        <p:txBody>
          <a:bodyPr wrap="square" rtlCol="0" anchor="ctr"/>
          <a:lstStyle/>
          <a:p>
            <a:r>
              <a:rPr sz="1300" b="1">
                <a:solidFill>
                  <a:srgbClr val="D4A84B"/>
                </a:solidFill>
                <a:latin typeface="Calibri"/>
              </a:rPr>
              <a:t>Vehicles in curtilage</a:t>
            </a:r>
          </a:p>
        </p:txBody>
      </p:sp>
      <p:sp>
        <p:nvSpPr>
          <p:cNvPr id="24" name="Text 22"/>
          <p:cNvSpPr/>
          <p:nvPr/>
        </p:nvSpPr>
        <p:spPr>
          <a:xfrm>
            <a:off x="914400" y="3840480"/>
            <a:ext cx="7772400" cy="320040"/>
          </a:xfrm>
          <a:prstGeom prst="rect">
            <a:avLst/>
          </a:prstGeom>
          <a:noFill/>
          <a:ln/>
        </p:spPr>
        <p:txBody>
          <a:bodyPr wrap="square" rtlCol="0" anchor="ctr"/>
          <a:lstStyle/>
          <a:p>
            <a:r>
              <a:rPr sz="1080">
                <a:solidFill>
                  <a:srgbClr val="A8B8C8"/>
                </a:solidFill>
                <a:latin typeface="Calibri"/>
              </a:rPr>
              <a:t>Driveways/carports adjacent to a residence may be inside curtilage. Collins limits access even when vehicle PC exists.</a:t>
            </a:r>
          </a:p>
        </p:txBody>
      </p:sp>
      <p:sp>
        <p:nvSpPr>
          <p:cNvPr id="25" name="Shape 23"/>
          <p:cNvSpPr/>
          <p:nvPr/>
        </p:nvSpPr>
        <p:spPr>
          <a:xfrm>
            <a:off x="0" y="4800600"/>
            <a:ext cx="9144000" cy="342900"/>
          </a:xfrm>
          <a:prstGeom prst="rect">
            <a:avLst/>
          </a:prstGeom>
          <a:solidFill>
            <a:srgbClr val="061018"/>
          </a:solidFill>
          <a:ln/>
        </p:spPr>
        <p:txBody>
          <a:bodyPr/>
          <a:lstStyle/>
          <a:p>
            <a:endParaRPr lang="en-US"/>
          </a:p>
        </p:txBody>
      </p:sp>
      <p:pic>
        <p:nvPicPr>
          <p:cNvPr id="29" name="Image 1" descr="/home/workdir/artifacts/moody_detective_badge.jpg">
            <a:extLst>
              <a:ext uri="{FF2B5EF4-FFF2-40B4-BE49-F238E27FC236}">
                <a16:creationId xmlns:a16="http://schemas.microsoft.com/office/drawing/2014/main" id="{29C39259-A0F7-4908-846B-131DDCB1CDBC}"/>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30" name="Picture 29">
            <a:extLst>
              <a:ext uri="{FF2B5EF4-FFF2-40B4-BE49-F238E27FC236}">
                <a16:creationId xmlns:a16="http://schemas.microsoft.com/office/drawing/2014/main" id="{0EAEBE76-0779-D6FE-ABE8-9971CCF12855}"/>
              </a:ext>
            </a:extLst>
          </p:cNvPr>
          <p:cNvPicPr>
            <a:picLocks noChangeAspect="1"/>
          </p:cNvPicPr>
          <p:nvPr/>
        </p:nvPicPr>
        <p:blipFill>
          <a:blip r:embed="rId4"/>
          <a:stretch>
            <a:fillRect/>
          </a:stretch>
        </p:blipFill>
        <p:spPr>
          <a:xfrm>
            <a:off x="561875" y="4555167"/>
            <a:ext cx="891540" cy="459278"/>
          </a:xfrm>
          <a:prstGeom prst="rect">
            <a:avLst/>
          </a:prstGeom>
        </p:spPr>
      </p:pic>
      <p:sp>
        <p:nvSpPr>
          <p:cNvPr id="28" name="Text 25"/>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ALABAMA VEHICLE SEARCH EXCEPTIONS</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Warrantless Vehicle Searches Under Alabama Law</a:t>
            </a:r>
            <a:endParaRPr lang="en-US" sz="1700" dirty="0"/>
          </a:p>
        </p:txBody>
      </p:sp>
      <p:sp>
        <p:nvSpPr>
          <p:cNvPr id="5" name="Text 3"/>
          <p:cNvSpPr/>
          <p:nvPr/>
        </p:nvSpPr>
        <p:spPr>
          <a:xfrm>
            <a:off x="457200" y="77724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Automobile Exception</a:t>
            </a:r>
            <a:endParaRPr lang="en-US" sz="1300" dirty="0"/>
          </a:p>
        </p:txBody>
      </p:sp>
      <p:sp>
        <p:nvSpPr>
          <p:cNvPr id="6" name="Text 4"/>
          <p:cNvSpPr/>
          <p:nvPr/>
        </p:nvSpPr>
        <p:spPr>
          <a:xfrm>
            <a:off x="457200" y="1033272"/>
            <a:ext cx="8229600" cy="411480"/>
          </a:xfrm>
          <a:prstGeom prst="rect">
            <a:avLst/>
          </a:prstGeom>
          <a:noFill/>
          <a:ln/>
        </p:spPr>
        <p:txBody>
          <a:bodyPr wrap="square" rtlCol="0" anchor="ctr"/>
          <a:lstStyle/>
          <a:p>
            <a:r>
              <a:rPr sz="1050">
                <a:solidFill>
                  <a:srgbClr val="A8B8C8"/>
                </a:solidFill>
                <a:latin typeface="Calibri"/>
              </a:rPr>
              <a:t>Probable cause plus a readily mobile vehicle permits a warrantless vehicle search; no separate exigency is required. A reliable dog alert strongly supports PC under Harris’s totality test. Do not enter curtilage to reach the vehicle without lawful authority. Harris v. State; State v. Montgomery; Collins v. Virginia.</a:t>
            </a:r>
          </a:p>
        </p:txBody>
      </p:sp>
      <p:sp>
        <p:nvSpPr>
          <p:cNvPr id="7" name="Text 5"/>
          <p:cNvSpPr/>
          <p:nvPr/>
        </p:nvSpPr>
        <p:spPr>
          <a:xfrm>
            <a:off x="457200" y="15087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Plain Smell / Odor of Marijuana</a:t>
            </a:r>
            <a:endParaRPr lang="en-US" sz="1300" dirty="0"/>
          </a:p>
        </p:txBody>
      </p:sp>
      <p:sp>
        <p:nvSpPr>
          <p:cNvPr id="8" name="Text 6"/>
          <p:cNvSpPr/>
          <p:nvPr/>
        </p:nvSpPr>
        <p:spPr>
          <a:xfrm>
            <a:off x="457200" y="1764792"/>
            <a:ext cx="8229600" cy="411480"/>
          </a:xfrm>
          <a:prstGeom prst="rect">
            <a:avLst/>
          </a:prstGeom>
          <a:noFill/>
          <a:ln/>
        </p:spPr>
        <p:txBody>
          <a:bodyPr wrap="square" rtlCol="0" anchor="ctr"/>
          <a:lstStyle/>
          <a:p>
            <a:r>
              <a:rPr sz="1050">
                <a:solidFill>
                  <a:srgbClr val="A8B8C8"/>
                </a:solidFill>
                <a:latin typeface="Calibri"/>
              </a:rPr>
              <a:t>Odor of burned or raw marijuana from a vehicle currently provides probable cause under Alabama law. Bain v. State, 414 So. 3d 168 (Ala. Crim. App. 2024), rejected the argument that legal hemp eliminates PC based on marijuana odor. Also see Blake v. State; Adams v. State.</a:t>
            </a:r>
          </a:p>
        </p:txBody>
      </p:sp>
      <p:sp>
        <p:nvSpPr>
          <p:cNvPr id="9" name="Text 7"/>
          <p:cNvSpPr/>
          <p:nvPr/>
        </p:nvSpPr>
        <p:spPr>
          <a:xfrm>
            <a:off x="457200" y="224028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Consent</a:t>
            </a:r>
            <a:endParaRPr lang="en-US" sz="1300" dirty="0"/>
          </a:p>
        </p:txBody>
      </p:sp>
      <p:sp>
        <p:nvSpPr>
          <p:cNvPr id="10" name="Text 8"/>
          <p:cNvSpPr/>
          <p:nvPr/>
        </p:nvSpPr>
        <p:spPr>
          <a:xfrm>
            <a:off x="457200" y="2496312"/>
            <a:ext cx="8229600" cy="41148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Voluntary consent is valid. Scope is judged by what a reasonable person would understand. Consent can be limited or withdrawn.</a:t>
            </a:r>
            <a:endParaRPr lang="en-US" sz="1200" dirty="0"/>
          </a:p>
        </p:txBody>
      </p:sp>
      <p:sp>
        <p:nvSpPr>
          <p:cNvPr id="11" name="Text 9"/>
          <p:cNvSpPr/>
          <p:nvPr/>
        </p:nvSpPr>
        <p:spPr>
          <a:xfrm>
            <a:off x="457200" y="297180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Search Incident to Arrest</a:t>
            </a:r>
            <a:endParaRPr lang="en-US" sz="1300" dirty="0"/>
          </a:p>
        </p:txBody>
      </p:sp>
      <p:sp>
        <p:nvSpPr>
          <p:cNvPr id="12" name="Text 10"/>
          <p:cNvSpPr/>
          <p:nvPr/>
        </p:nvSpPr>
        <p:spPr>
          <a:xfrm>
            <a:off x="457200" y="3227832"/>
            <a:ext cx="8229600" cy="411480"/>
          </a:xfrm>
          <a:prstGeom prst="rect">
            <a:avLst/>
          </a:prstGeom>
          <a:noFill/>
          <a:ln/>
        </p:spPr>
        <p:txBody>
          <a:bodyPr wrap="square" rtlCol="0" anchor="ctr"/>
          <a:lstStyle/>
          <a:p>
            <a:r>
              <a:rPr sz="1080">
                <a:solidFill>
                  <a:srgbClr val="A8B8C8"/>
                </a:solidFill>
                <a:latin typeface="Calibri"/>
              </a:rPr>
              <a:t>Passenger compartment when arrestee is unsecured and within reaching distance, or when it is reasonable to believe the vehicle contains evidence of the offense of arrest. Arizona v. Gant applies.</a:t>
            </a:r>
          </a:p>
        </p:txBody>
      </p:sp>
      <p:sp>
        <p:nvSpPr>
          <p:cNvPr id="13" name="Text 11"/>
          <p:cNvSpPr/>
          <p:nvPr/>
        </p:nvSpPr>
        <p:spPr>
          <a:xfrm>
            <a:off x="457200" y="370332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Inventory Search</a:t>
            </a:r>
            <a:endParaRPr lang="en-US" sz="1300" dirty="0"/>
          </a:p>
        </p:txBody>
      </p:sp>
      <p:sp>
        <p:nvSpPr>
          <p:cNvPr id="14" name="Text 12"/>
          <p:cNvSpPr/>
          <p:nvPr/>
        </p:nvSpPr>
        <p:spPr>
          <a:xfrm>
            <a:off x="457200" y="3959352"/>
            <a:ext cx="8229600" cy="41148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Lawful impound + standardized inventory policy. Must not be a pretext for an investigative search.</a:t>
            </a:r>
            <a:endParaRPr lang="en-US" sz="1200" dirty="0"/>
          </a:p>
        </p:txBody>
      </p:sp>
      <p:sp>
        <p:nvSpPr>
          <p:cNvPr id="15" name="Shape 13"/>
          <p:cNvSpPr/>
          <p:nvPr/>
        </p:nvSpPr>
        <p:spPr>
          <a:xfrm>
            <a:off x="0" y="4800600"/>
            <a:ext cx="9144000" cy="342900"/>
          </a:xfrm>
          <a:prstGeom prst="rect">
            <a:avLst/>
          </a:prstGeom>
          <a:solidFill>
            <a:srgbClr val="061018"/>
          </a:solidFill>
          <a:ln/>
        </p:spPr>
        <p:txBody>
          <a:bodyPr/>
          <a:lstStyle/>
          <a:p>
            <a:endParaRPr lang="en-US"/>
          </a:p>
        </p:txBody>
      </p:sp>
      <p:pic>
        <p:nvPicPr>
          <p:cNvPr id="19" name="Image 1" descr="/home/workdir/artifacts/moody_detective_badge.jpg">
            <a:extLst>
              <a:ext uri="{FF2B5EF4-FFF2-40B4-BE49-F238E27FC236}">
                <a16:creationId xmlns:a16="http://schemas.microsoft.com/office/drawing/2014/main" id="{5C1F3B7E-C784-3419-F72E-960AE447AFD0}"/>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0" name="Picture 19">
            <a:extLst>
              <a:ext uri="{FF2B5EF4-FFF2-40B4-BE49-F238E27FC236}">
                <a16:creationId xmlns:a16="http://schemas.microsoft.com/office/drawing/2014/main" id="{22733D3F-6F9B-7733-D4BE-A5D564C6CE3F}"/>
              </a:ext>
            </a:extLst>
          </p:cNvPr>
          <p:cNvPicPr>
            <a:picLocks noChangeAspect="1"/>
          </p:cNvPicPr>
          <p:nvPr/>
        </p:nvPicPr>
        <p:blipFill>
          <a:blip r:embed="rId4"/>
          <a:stretch>
            <a:fillRect/>
          </a:stretch>
        </p:blipFill>
        <p:spPr>
          <a:xfrm>
            <a:off x="561875" y="4555167"/>
            <a:ext cx="891540" cy="459278"/>
          </a:xfrm>
          <a:prstGeom prst="rect">
            <a:avLst/>
          </a:prstGeom>
        </p:spPr>
      </p:pic>
      <p:sp>
        <p:nvSpPr>
          <p:cNvPr id="18" name="Text 15"/>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lace.jpg"/>
          <p:cNvPicPr>
            <a:picLocks noChangeAspect="1"/>
          </p:cNvPicPr>
          <p:nvPr/>
        </p:nvPicPr>
        <p:blipFill>
          <a:blip r:embed="rId4"/>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Wyoming v. Houghton (1999)</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526 U.S. 295  •  6–3  •  Justice Scalia</a:t>
            </a:r>
            <a:endParaRPr lang="en-US" sz="1200" dirty="0"/>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Police with probable cause to search a car may inspect passenger belongings in the vehicle capable of concealing the object of the search.</a:t>
            </a:r>
            <a:endParaRPr lang="en-US" sz="1400" dirty="0"/>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After a K9 Alert — Scope of the Vehicle Search</a:t>
            </a:r>
            <a:endParaRPr lang="en-US" sz="1400" dirty="0"/>
          </a:p>
        </p:txBody>
      </p:sp>
      <p:sp>
        <p:nvSpPr>
          <p:cNvPr id="9" name="Text 7"/>
          <p:cNvSpPr/>
          <p:nvPr/>
        </p:nvSpPr>
        <p:spPr>
          <a:xfrm>
            <a:off x="3163824" y="2331720"/>
            <a:ext cx="5870448" cy="192024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A reliable dog alert supplies probable cause to search the vehicle under the automobile exception. Houghton holds that this PC is not limited to the driver’s property. Purses, bags, backpacks, and other containers found in the car may be searched if they could hold the contraband the dog is trained to detect. Ownership by an unsuspected passenger does not create a separate warrant requirement.</a:t>
            </a:r>
            <a:endParaRPr lang="en-US" sz="1300" dirty="0"/>
          </a:p>
          <a:p>
            <a:pPr marL="0" indent="0">
              <a:buNone/>
            </a:pP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Limits still apply: Houghton covers effects associated with the vehicle, not a search of the passenger’s person. Combined with Caballes, Harris, and Alabama vehicle-exception cases: alert → PC for the car and containers in it capable of concealing the target odor.</a:t>
            </a:r>
            <a:endParaRPr lang="en-US" sz="1300" dirty="0"/>
          </a:p>
        </p:txBody>
      </p:sp>
      <p:sp>
        <p:nvSpPr>
          <p:cNvPr id="10" name="Shape 8"/>
          <p:cNvSpPr/>
          <p:nvPr/>
        </p:nvSpPr>
        <p:spPr>
          <a:xfrm>
            <a:off x="0" y="4800600"/>
            <a:ext cx="9144000" cy="342900"/>
          </a:xfrm>
          <a:prstGeom prst="rect">
            <a:avLst/>
          </a:prstGeom>
          <a:solidFill>
            <a:srgbClr val="061018"/>
          </a:solidFill>
          <a:ln/>
        </p:spPr>
        <p:txBody>
          <a:bodyPr wrap="square"/>
          <a:lstStyle/>
          <a:p>
            <a:endParaRPr sz="1100"/>
          </a:p>
        </p:txBody>
      </p:sp>
      <p:pic>
        <p:nvPicPr>
          <p:cNvPr id="14" name="Image 1" descr="/home/workdir/artifacts/moody_detective_badge.jpg">
            <a:extLst>
              <a:ext uri="{FF2B5EF4-FFF2-40B4-BE49-F238E27FC236}">
                <a16:creationId xmlns:a16="http://schemas.microsoft.com/office/drawing/2014/main" id="{4714770A-90B9-C6D8-8975-6075B22966DA}"/>
              </a:ext>
            </a:extLst>
          </p:cNvPr>
          <p:cNvPicPr>
            <a:picLocks noChangeAspect="1"/>
          </p:cNvPicPr>
          <p:nvPr/>
        </p:nvPicPr>
        <p:blipFill>
          <a:blip r:embed="rId2"/>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BD061282-53E4-6C37-DD09-00DE9F12C009}"/>
              </a:ext>
            </a:extLst>
          </p:cNvPr>
          <p:cNvPicPr>
            <a:picLocks noChangeAspect="1"/>
          </p:cNvPicPr>
          <p:nvPr/>
        </p:nvPicPr>
        <p:blipFill>
          <a:blip r:embed="rId3"/>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ighttime_scene_inside_a_vehicle_with_an_open_pass.png">
            <a:extLst>
              <a:ext uri="{FF2B5EF4-FFF2-40B4-BE49-F238E27FC236}">
                <a16:creationId xmlns:a16="http://schemas.microsoft.com/office/drawing/2014/main" id="{08FB98B4-570D-29D1-8420-5EB0217306DB}"/>
              </a:ext>
            </a:extLst>
          </p:cNvPr>
          <p:cNvPicPr>
            <a:picLocks noChangeAspect="1"/>
          </p:cNvPicPr>
          <p:nvPr/>
        </p:nvPicPr>
        <p:blipFill>
          <a:blip r:embed="rId2"/>
          <a:stretch>
            <a:fillRect/>
          </a:stretch>
        </p:blipFill>
        <p:spPr>
          <a:xfrm>
            <a:off x="-246321" y="0"/>
            <a:ext cx="9636642" cy="5316279"/>
          </a:xfrm>
          <a:prstGeom prst="rect">
            <a:avLst/>
          </a:prstGeom>
        </p:spPr>
      </p:pic>
      <p:sp>
        <p:nvSpPr>
          <p:cNvPr id="3" name="Rectangle 2">
            <a:extLst>
              <a:ext uri="{FF2B5EF4-FFF2-40B4-BE49-F238E27FC236}">
                <a16:creationId xmlns:a16="http://schemas.microsoft.com/office/drawing/2014/main" id="{199C92EC-C76A-4823-C422-9A8C935AC356}"/>
              </a:ext>
            </a:extLst>
          </p:cNvPr>
          <p:cNvSpPr/>
          <p:nvPr/>
        </p:nvSpPr>
        <p:spPr>
          <a:xfrm>
            <a:off x="4709160" y="0"/>
            <a:ext cx="4434840" cy="51435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64560A8-D138-7424-3884-3176080D52E4}"/>
              </a:ext>
            </a:extLst>
          </p:cNvPr>
          <p:cNvSpPr txBox="1"/>
          <p:nvPr/>
        </p:nvSpPr>
        <p:spPr>
          <a:xfrm>
            <a:off x="4892040" y="256032"/>
            <a:ext cx="3977639" cy="256032"/>
          </a:xfrm>
          <a:prstGeom prst="rect">
            <a:avLst/>
          </a:prstGeom>
          <a:noFill/>
        </p:spPr>
        <p:txBody>
          <a:bodyPr wrap="none">
            <a:spAutoFit/>
          </a:bodyPr>
          <a:lstStyle/>
          <a:p>
            <a:pPr algn="r"/>
            <a:r>
              <a:rPr sz="950" b="1">
                <a:solidFill>
                  <a:srgbClr val="DBAC4A"/>
                </a:solidFill>
              </a:rPr>
              <a:t>VEHICLE CONTAINERS + MAIL CLAIMS</a:t>
            </a:r>
          </a:p>
        </p:txBody>
      </p:sp>
      <p:sp>
        <p:nvSpPr>
          <p:cNvPr id="5" name="TextBox 4">
            <a:extLst>
              <a:ext uri="{FF2B5EF4-FFF2-40B4-BE49-F238E27FC236}">
                <a16:creationId xmlns:a16="http://schemas.microsoft.com/office/drawing/2014/main" id="{7F132B22-C201-CCAF-2892-C6D9E9C4F900}"/>
              </a:ext>
            </a:extLst>
          </p:cNvPr>
          <p:cNvSpPr txBox="1"/>
          <p:nvPr/>
        </p:nvSpPr>
        <p:spPr>
          <a:xfrm>
            <a:off x="4507992" y="530352"/>
            <a:ext cx="4370832" cy="530352"/>
          </a:xfrm>
          <a:prstGeom prst="rect">
            <a:avLst/>
          </a:prstGeom>
          <a:noFill/>
        </p:spPr>
        <p:txBody>
          <a:bodyPr wrap="square">
            <a:normAutofit/>
          </a:bodyPr>
          <a:lstStyle/>
          <a:p>
            <a:pPr algn="r"/>
            <a:r>
              <a:rPr sz="2600" b="1">
                <a:solidFill>
                  <a:srgbClr val="FFFFFF"/>
                </a:solidFill>
              </a:rPr>
              <a:t>Stamped Box in a Car</a:t>
            </a:r>
          </a:p>
        </p:txBody>
      </p:sp>
      <p:sp>
        <p:nvSpPr>
          <p:cNvPr id="6" name="TextBox 5">
            <a:extLst>
              <a:ext uri="{FF2B5EF4-FFF2-40B4-BE49-F238E27FC236}">
                <a16:creationId xmlns:a16="http://schemas.microsoft.com/office/drawing/2014/main" id="{6000ACDB-E834-2342-55A7-DE0E4BCCBAB1}"/>
              </a:ext>
            </a:extLst>
          </p:cNvPr>
          <p:cNvSpPr txBox="1"/>
          <p:nvPr/>
        </p:nvSpPr>
        <p:spPr>
          <a:xfrm>
            <a:off x="4754880" y="1124712"/>
            <a:ext cx="4114800" cy="384048"/>
          </a:xfrm>
          <a:prstGeom prst="rect">
            <a:avLst/>
          </a:prstGeom>
          <a:noFill/>
        </p:spPr>
        <p:txBody>
          <a:bodyPr wrap="none" lIns="0" rIns="0">
            <a:spAutoFit/>
          </a:bodyPr>
          <a:lstStyle/>
          <a:p>
            <a:pPr algn="r"/>
            <a:r>
              <a:rPr sz="1700" b="1">
                <a:solidFill>
                  <a:srgbClr val="DBAC4A"/>
                </a:solidFill>
              </a:rPr>
              <a:t>Can we search it?  Yes — if PC reaches it.</a:t>
            </a:r>
          </a:p>
        </p:txBody>
      </p:sp>
      <p:sp>
        <p:nvSpPr>
          <p:cNvPr id="7" name="TextBox 6">
            <a:extLst>
              <a:ext uri="{FF2B5EF4-FFF2-40B4-BE49-F238E27FC236}">
                <a16:creationId xmlns:a16="http://schemas.microsoft.com/office/drawing/2014/main" id="{4D458D3D-0CA6-0105-B248-46116FE48E34}"/>
              </a:ext>
            </a:extLst>
          </p:cNvPr>
          <p:cNvSpPr txBox="1"/>
          <p:nvPr/>
        </p:nvSpPr>
        <p:spPr>
          <a:xfrm>
            <a:off x="4736592" y="1664208"/>
            <a:ext cx="4142232" cy="1755648"/>
          </a:xfrm>
          <a:prstGeom prst="rect">
            <a:avLst/>
          </a:prstGeom>
          <a:noFill/>
        </p:spPr>
        <p:txBody>
          <a:bodyPr wrap="square" lIns="27432" rIns="27432">
            <a:spAutoFit/>
          </a:bodyPr>
          <a:lstStyle/>
          <a:p>
            <a:pPr>
              <a:spcAft>
                <a:spcPts val="300"/>
              </a:spcAft>
              <a:defRPr sz="1350" b="1">
                <a:solidFill>
                  <a:srgbClr val="F5F5F5"/>
                </a:solidFill>
              </a:defRPr>
            </a:pPr>
            <a:r>
              <a:rPr dirty="0"/>
              <a:t>• Stamps, tape, and an address do not create a roadside “mail shield.”</a:t>
            </a:r>
          </a:p>
          <a:p>
            <a:pPr>
              <a:spcAft>
                <a:spcPts val="300"/>
              </a:spcAft>
              <a:defRPr sz="1350" b="0">
                <a:solidFill>
                  <a:srgbClr val="F5F5F5"/>
                </a:solidFill>
              </a:defRPr>
            </a:pPr>
            <a:r>
              <a:rPr dirty="0"/>
              <a:t>• Not yet in USPS custody? Treat it as a container inside the vehicle.</a:t>
            </a:r>
          </a:p>
          <a:p>
            <a:pPr>
              <a:spcAft>
                <a:spcPts val="300"/>
              </a:spcAft>
              <a:defRPr sz="1350" b="0">
                <a:solidFill>
                  <a:srgbClr val="F5F5F5"/>
                </a:solidFill>
              </a:defRPr>
            </a:pPr>
            <a:r>
              <a:rPr dirty="0"/>
              <a:t>• Carroll / Ross / Acevedo: PC allows search of any area or container that could hold the object of the search.</a:t>
            </a:r>
          </a:p>
          <a:p>
            <a:pPr>
              <a:spcAft>
                <a:spcPts val="300"/>
              </a:spcAft>
              <a:defRPr sz="1350" b="0">
                <a:solidFill>
                  <a:srgbClr val="F5F5F5"/>
                </a:solidFill>
              </a:defRPr>
            </a:pPr>
            <a:r>
              <a:rPr dirty="0"/>
              <a:t>• K9 alert: PC under Harris when reliability and totality support it.</a:t>
            </a:r>
          </a:p>
        </p:txBody>
      </p:sp>
      <p:sp>
        <p:nvSpPr>
          <p:cNvPr id="8" name="TextBox 7">
            <a:extLst>
              <a:ext uri="{FF2B5EF4-FFF2-40B4-BE49-F238E27FC236}">
                <a16:creationId xmlns:a16="http://schemas.microsoft.com/office/drawing/2014/main" id="{FF934E47-9D8C-58FE-9106-AADBABDC7553}"/>
              </a:ext>
            </a:extLst>
          </p:cNvPr>
          <p:cNvSpPr txBox="1"/>
          <p:nvPr/>
        </p:nvSpPr>
        <p:spPr>
          <a:xfrm>
            <a:off x="4736592" y="3602736"/>
            <a:ext cx="4142232" cy="530352"/>
          </a:xfrm>
          <a:prstGeom prst="rect">
            <a:avLst/>
          </a:prstGeom>
          <a:noFill/>
        </p:spPr>
        <p:txBody>
          <a:bodyPr wrap="square">
            <a:spAutoFit/>
          </a:bodyPr>
          <a:lstStyle/>
          <a:p>
            <a:r>
              <a:rPr sz="1150" i="1">
                <a:solidFill>
                  <a:srgbClr val="FFFFFF"/>
                </a:solidFill>
              </a:rPr>
              <a:t>Caveat: Actual USPS mail stream = warrant / postal inspector route unless a separate exception applies, such as Ramsey border-search authority.</a:t>
            </a:r>
          </a:p>
        </p:txBody>
      </p:sp>
      <p:pic>
        <p:nvPicPr>
          <p:cNvPr id="11" name="Image 1" descr="/home/workdir/artifacts/moody_detective_badge.jpg">
            <a:extLst>
              <a:ext uri="{FF2B5EF4-FFF2-40B4-BE49-F238E27FC236}">
                <a16:creationId xmlns:a16="http://schemas.microsoft.com/office/drawing/2014/main" id="{03E91544-FEEA-4C0F-8D6C-7458160AC1EF}"/>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01DB5262-29AD-C218-8CB4-2465ADBE87FE}"/>
              </a:ext>
            </a:extLst>
          </p:cNvPr>
          <p:cNvPicPr>
            <a:picLocks noChangeAspect="1"/>
          </p:cNvPicPr>
          <p:nvPr/>
        </p:nvPicPr>
        <p:blipFill>
          <a:blip r:embed="rId4"/>
          <a:stretch>
            <a:fillRect/>
          </a:stretch>
        </p:blipFill>
        <p:spPr>
          <a:xfrm>
            <a:off x="561875" y="4555167"/>
            <a:ext cx="891540" cy="459278"/>
          </a:xfrm>
          <a:prstGeom prst="rect">
            <a:avLst/>
          </a:prstGeom>
        </p:spPr>
      </p:pic>
    </p:spTree>
    <p:extLst>
      <p:ext uri="{BB962C8B-B14F-4D97-AF65-F5344CB8AC3E}">
        <p14:creationId xmlns:p14="http://schemas.microsoft.com/office/powerpoint/2010/main" val="1066145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ollin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Collins v. Virginia (2018)</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584 U.S. ___  •  8–1  •  Justice Sotomayor</a:t>
            </a:r>
            <a:endParaRPr lang="en-US" sz="1200" dirty="0"/>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The automobile exception does not permit a warrantless entry onto the curtilage of a home to search a vehicle parked there.</a:t>
            </a:r>
            <a:endParaRPr lang="en-US" sz="1400" dirty="0"/>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It Matters for K9 Deployments</a:t>
            </a:r>
            <a:endParaRPr lang="en-US" sz="1400" dirty="0"/>
          </a:p>
        </p:txBody>
      </p:sp>
      <p:sp>
        <p:nvSpPr>
          <p:cNvPr id="9" name="Text 7"/>
          <p:cNvSpPr/>
          <p:nvPr/>
        </p:nvSpPr>
        <p:spPr>
          <a:xfrm>
            <a:off x="3163824" y="2331720"/>
            <a:ext cx="5870448" cy="192024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Even if you have probable cause to search a vehicle under the automobile exception, you still need a lawful right of access to that vehicle. Walking onto the curtilage (for example, a partially enclosed driveway or carport immediately adjacent to the house) to reach the vehicle is itself a search of the curtilage and requires a warrant or exception.</a:t>
            </a:r>
            <a:endParaRPr lang="en-US" sz="1300" dirty="0"/>
          </a:p>
          <a:p>
            <a:pPr marL="0" indent="0">
              <a:buNone/>
            </a:pP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Combined with Jardines and Earl: do not treat a vehicle parked in the curtilage of a residence the same way you treat a vehicle on a public roadway. Location still controls the analysis.</a:t>
            </a:r>
            <a:endParaRPr lang="en-US" sz="1300" dirty="0"/>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4714770A-90B9-C6D8-8975-6075B22966DA}"/>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BD061282-53E4-6C37-DD09-00DE9F12C009}"/>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21" name="Rectangle 20"/>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odriguez.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r>
              <a:rPr sz="1000" b="1">
                <a:solidFill>
                  <a:srgbClr val="0D7377"/>
                </a:solidFill>
                <a:latin typeface="Calibri"/>
              </a:rPr>
              <a:t>LANDMARK + 11TH CIRCUIT</a:t>
            </a:r>
          </a:p>
        </p:txBody>
      </p:sp>
      <p:sp>
        <p:nvSpPr>
          <p:cNvPr id="4" name="Text 2"/>
          <p:cNvSpPr/>
          <p:nvPr/>
        </p:nvSpPr>
        <p:spPr>
          <a:xfrm>
            <a:off x="3163824" y="365760"/>
            <a:ext cx="5870448" cy="292608"/>
          </a:xfrm>
          <a:prstGeom prst="rect">
            <a:avLst/>
          </a:prstGeom>
          <a:noFill/>
          <a:ln/>
        </p:spPr>
        <p:txBody>
          <a:bodyPr wrap="square" rtlCol="0" anchor="ctr"/>
          <a:lstStyle/>
          <a:p>
            <a:r>
              <a:rPr sz="2000" b="1">
                <a:solidFill>
                  <a:srgbClr val="FFFFFF"/>
                </a:solidFill>
                <a:latin typeface="Calibri"/>
              </a:rPr>
              <a:t>Rodriguez v. United States + United States v. Campbell</a:t>
            </a:r>
          </a:p>
        </p:txBody>
      </p:sp>
      <p:sp>
        <p:nvSpPr>
          <p:cNvPr id="5" name="Text 3"/>
          <p:cNvSpPr/>
          <p:nvPr/>
        </p:nvSpPr>
        <p:spPr>
          <a:xfrm>
            <a:off x="3163824" y="685800"/>
            <a:ext cx="5870448" cy="201168"/>
          </a:xfrm>
          <a:prstGeom prst="rect">
            <a:avLst/>
          </a:prstGeom>
          <a:noFill/>
          <a:ln/>
        </p:spPr>
        <p:txBody>
          <a:bodyPr wrap="square" rtlCol="0" anchor="ctr"/>
          <a:lstStyle/>
          <a:p>
            <a:r>
              <a:rPr sz="1100">
                <a:solidFill>
                  <a:srgbClr val="0D7377"/>
                </a:solidFill>
                <a:latin typeface="Calibri"/>
              </a:rPr>
              <a:t>Rodriguez, 575 U.S. 348 (2015) • Campbell, 26 F.4th 860 (11th Cir. 2022) (en banc)</a:t>
            </a:r>
          </a:p>
        </p:txBody>
      </p:sp>
      <p:sp>
        <p:nvSpPr>
          <p:cNvPr id="6" name="Shape 4"/>
          <p:cNvSpPr/>
          <p:nvPr/>
        </p:nvSpPr>
        <p:spPr>
          <a:xfrm>
            <a:off x="3163824" y="1005840"/>
            <a:ext cx="5870448" cy="731520"/>
          </a:xfrm>
          <a:prstGeom prst="roundRect">
            <a:avLst>
              <a:gd name="adj" fmla="val 7500"/>
            </a:avLst>
          </a:prstGeom>
          <a:solidFill>
            <a:srgbClr val="0F1F2E"/>
          </a:solidFill>
          <a:ln/>
        </p:spPr>
        <p:txBody>
          <a:bodyPr/>
          <a:lstStyle/>
          <a:p>
            <a:endParaRPr lang="en-US"/>
          </a:p>
        </p:txBody>
      </p:sp>
      <p:sp>
        <p:nvSpPr>
          <p:cNvPr id="7" name="Text 5"/>
          <p:cNvSpPr/>
          <p:nvPr/>
        </p:nvSpPr>
        <p:spPr>
          <a:xfrm>
            <a:off x="3163824" y="1143000"/>
            <a:ext cx="5870448" cy="457200"/>
          </a:xfrm>
          <a:prstGeom prst="rect">
            <a:avLst/>
          </a:prstGeom>
          <a:noFill/>
          <a:ln/>
        </p:spPr>
        <p:txBody>
          <a:bodyPr wrap="square" rtlCol="0" anchor="ctr"/>
          <a:lstStyle/>
          <a:p>
            <a:r>
              <a:rPr sz="1400" b="1">
                <a:solidFill>
                  <a:srgbClr val="D4A84B"/>
                </a:solidFill>
                <a:latin typeface="Calibri"/>
              </a:rPr>
              <a:t>Without independent reasonable suspicion, officers may not add time to a traffic stop to conduct unrelated K9/drug investigation.</a:t>
            </a:r>
          </a:p>
        </p:txBody>
      </p:sp>
      <p:sp>
        <p:nvSpPr>
          <p:cNvPr id="8" name="Text 6"/>
          <p:cNvSpPr/>
          <p:nvPr/>
        </p:nvSpPr>
        <p:spPr>
          <a:xfrm>
            <a:off x="3163824" y="1965960"/>
            <a:ext cx="5870448" cy="228600"/>
          </a:xfrm>
          <a:prstGeom prst="rect">
            <a:avLst/>
          </a:prstGeom>
          <a:noFill/>
          <a:ln/>
        </p:spPr>
        <p:txBody>
          <a:bodyPr wrap="square" rtlCol="0" anchor="ctr"/>
          <a:lstStyle/>
          <a:p>
            <a:r>
              <a:rPr sz="1400" b="1">
                <a:solidFill>
                  <a:srgbClr val="D4A84B"/>
                </a:solidFill>
                <a:latin typeface="Calibri"/>
              </a:rPr>
              <a:t>Mission of the Stop</a:t>
            </a:r>
          </a:p>
        </p:txBody>
      </p:sp>
      <p:sp>
        <p:nvSpPr>
          <p:cNvPr id="9" name="Text 7"/>
          <p:cNvSpPr/>
          <p:nvPr/>
        </p:nvSpPr>
        <p:spPr>
          <a:xfrm>
            <a:off x="3163824" y="2240280"/>
            <a:ext cx="5870448" cy="457200"/>
          </a:xfrm>
          <a:prstGeom prst="rect">
            <a:avLst/>
          </a:prstGeom>
          <a:noFill/>
          <a:ln/>
        </p:spPr>
        <p:txBody>
          <a:bodyPr wrap="square" rtlCol="0" anchor="ctr"/>
          <a:lstStyle/>
          <a:p>
            <a:r>
              <a:rPr sz="1220">
                <a:solidFill>
                  <a:srgbClr val="A8B8C8"/>
                </a:solidFill>
                <a:latin typeface="Calibri"/>
              </a:rPr>
              <a:t>The stop lasts only as long as reasonably required to complete traffic and safety tasks: license, registration, insurance, warrants, roadway safety, and citation/warning tasks.</a:t>
            </a:r>
          </a:p>
        </p:txBody>
      </p:sp>
      <p:sp>
        <p:nvSpPr>
          <p:cNvPr id="10" name="Text 8"/>
          <p:cNvSpPr/>
          <p:nvPr/>
        </p:nvSpPr>
        <p:spPr>
          <a:xfrm>
            <a:off x="3163824" y="2788920"/>
            <a:ext cx="5870448" cy="228600"/>
          </a:xfrm>
          <a:prstGeom prst="rect">
            <a:avLst/>
          </a:prstGeom>
          <a:noFill/>
          <a:ln/>
        </p:spPr>
        <p:txBody>
          <a:bodyPr wrap="square" rtlCol="0" anchor="ctr"/>
          <a:lstStyle/>
          <a:p>
            <a:r>
              <a:rPr sz="1400" b="1">
                <a:solidFill>
                  <a:srgbClr val="D4A84B"/>
                </a:solidFill>
                <a:latin typeface="Calibri"/>
              </a:rPr>
              <a:t>No Added Time</a:t>
            </a:r>
          </a:p>
        </p:txBody>
      </p:sp>
      <p:sp>
        <p:nvSpPr>
          <p:cNvPr id="11" name="Text 9"/>
          <p:cNvSpPr/>
          <p:nvPr/>
        </p:nvSpPr>
        <p:spPr>
          <a:xfrm>
            <a:off x="3163824" y="3063240"/>
            <a:ext cx="5870448" cy="457200"/>
          </a:xfrm>
          <a:prstGeom prst="rect">
            <a:avLst/>
          </a:prstGeom>
          <a:noFill/>
          <a:ln/>
        </p:spPr>
        <p:txBody>
          <a:bodyPr wrap="square" rtlCol="0" anchor="ctr"/>
          <a:lstStyle/>
          <a:p>
            <a:r>
              <a:rPr sz="1220">
                <a:solidFill>
                  <a:srgbClr val="A8B8C8"/>
                </a:solidFill>
                <a:latin typeface="Calibri"/>
              </a:rPr>
              <a:t>Campbell asks whether the officer conducted an unrelated criminal inquiry that added time to the stop without RS. There is no “bonus time” because traffic work could have been finished faster.</a:t>
            </a:r>
          </a:p>
        </p:txBody>
      </p:sp>
      <p:sp>
        <p:nvSpPr>
          <p:cNvPr id="12" name="Text 10"/>
          <p:cNvSpPr/>
          <p:nvPr/>
        </p:nvSpPr>
        <p:spPr>
          <a:xfrm>
            <a:off x="3163824" y="3611880"/>
            <a:ext cx="5870448" cy="228600"/>
          </a:xfrm>
          <a:prstGeom prst="rect">
            <a:avLst/>
          </a:prstGeom>
          <a:noFill/>
          <a:ln/>
        </p:spPr>
        <p:txBody>
          <a:bodyPr wrap="square" rtlCol="0" anchor="ctr"/>
          <a:lstStyle/>
          <a:p>
            <a:r>
              <a:rPr sz="1400" b="1">
                <a:solidFill>
                  <a:srgbClr val="D4A84B"/>
                </a:solidFill>
                <a:latin typeface="Calibri"/>
              </a:rPr>
              <a:t>RS Exception</a:t>
            </a:r>
          </a:p>
        </p:txBody>
      </p:sp>
      <p:sp>
        <p:nvSpPr>
          <p:cNvPr id="13" name="Text 11"/>
          <p:cNvSpPr/>
          <p:nvPr/>
        </p:nvSpPr>
        <p:spPr>
          <a:xfrm>
            <a:off x="3163824" y="3886200"/>
            <a:ext cx="5870448" cy="457200"/>
          </a:xfrm>
          <a:prstGeom prst="rect">
            <a:avLst/>
          </a:prstGeom>
          <a:noFill/>
          <a:ln/>
        </p:spPr>
        <p:txBody>
          <a:bodyPr wrap="square" rtlCol="0" anchor="ctr"/>
          <a:lstStyle/>
          <a:p>
            <a:r>
              <a:rPr sz="1220">
                <a:solidFill>
                  <a:srgbClr val="A8B8C8"/>
                </a:solidFill>
                <a:latin typeface="Calibri"/>
              </a:rPr>
              <a:t>If independent reasonable suspicion develops during the lawful stop, the officer may reasonably extend the detention, including waiting for or deploying a K9.</a:t>
            </a:r>
          </a:p>
        </p:txBody>
      </p:sp>
      <p:sp>
        <p:nvSpPr>
          <p:cNvPr id="14" name="Shape 12"/>
          <p:cNvSpPr/>
          <p:nvPr/>
        </p:nvSpPr>
        <p:spPr>
          <a:xfrm>
            <a:off x="0" y="4800600"/>
            <a:ext cx="9144000" cy="342900"/>
          </a:xfrm>
          <a:prstGeom prst="rect">
            <a:avLst/>
          </a:prstGeom>
          <a:solidFill>
            <a:srgbClr val="061018"/>
          </a:solidFill>
          <a:ln/>
        </p:spPr>
        <p:txBody>
          <a:bodyPr/>
          <a:lstStyle/>
          <a:p>
            <a:endParaRPr lang="en-US"/>
          </a:p>
        </p:txBody>
      </p:sp>
      <p:pic>
        <p:nvPicPr>
          <p:cNvPr id="18" name="Image 1" descr="/home/workdir/artifacts/moody_detective_badge.jpg">
            <a:extLst>
              <a:ext uri="{FF2B5EF4-FFF2-40B4-BE49-F238E27FC236}">
                <a16:creationId xmlns:a16="http://schemas.microsoft.com/office/drawing/2014/main" id="{8D7FF69C-75B4-E5F8-3321-7BF3B83BB5CA}"/>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9" name="Picture 18">
            <a:extLst>
              <a:ext uri="{FF2B5EF4-FFF2-40B4-BE49-F238E27FC236}">
                <a16:creationId xmlns:a16="http://schemas.microsoft.com/office/drawing/2014/main" id="{11938CA0-7E79-BD81-356E-913B07EB080D}"/>
              </a:ext>
            </a:extLst>
          </p:cNvPr>
          <p:cNvPicPr>
            <a:picLocks noChangeAspect="1"/>
          </p:cNvPicPr>
          <p:nvPr/>
        </p:nvPicPr>
        <p:blipFill>
          <a:blip r:embed="rId4"/>
          <a:stretch>
            <a:fillRect/>
          </a:stretch>
        </p:blipFill>
        <p:spPr>
          <a:xfrm>
            <a:off x="561875" y="4555167"/>
            <a:ext cx="891540" cy="459278"/>
          </a:xfrm>
          <a:prstGeom prst="rect">
            <a:avLst/>
          </a:prstGeom>
        </p:spPr>
      </p:pic>
      <p:sp>
        <p:nvSpPr>
          <p:cNvPr id="17" name="Text 14"/>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r>
              <a:rPr sz="1000" b="1">
                <a:solidFill>
                  <a:srgbClr val="0D7377"/>
                </a:solidFill>
                <a:latin typeface="Calibri"/>
              </a:rPr>
              <a:t>RODRIGUEZ / CAMPBELL TIME LIMITS</a:t>
            </a:r>
          </a:p>
        </p:txBody>
      </p:sp>
      <p:sp>
        <p:nvSpPr>
          <p:cNvPr id="4" name="Text 2"/>
          <p:cNvSpPr/>
          <p:nvPr/>
        </p:nvSpPr>
        <p:spPr>
          <a:xfrm>
            <a:off x="457200" y="365760"/>
            <a:ext cx="8229600" cy="292608"/>
          </a:xfrm>
          <a:prstGeom prst="rect">
            <a:avLst/>
          </a:prstGeom>
          <a:noFill/>
          <a:ln/>
        </p:spPr>
        <p:txBody>
          <a:bodyPr wrap="square" rtlCol="0" anchor="ctr"/>
          <a:lstStyle/>
          <a:p>
            <a:r>
              <a:rPr sz="1700" b="1">
                <a:solidFill>
                  <a:srgbClr val="FFFFFF"/>
                </a:solidFill>
                <a:latin typeface="Calibri"/>
              </a:rPr>
              <a:t>No Fixed Minute Limit — Ask Whether K9 Activity Added Time</a:t>
            </a:r>
          </a:p>
        </p:txBody>
      </p:sp>
      <p:sp>
        <p:nvSpPr>
          <p:cNvPr id="5" name="Shape 3"/>
          <p:cNvSpPr/>
          <p:nvPr/>
        </p:nvSpPr>
        <p:spPr>
          <a:xfrm>
            <a:off x="457200" y="822960"/>
            <a:ext cx="8229600" cy="822960"/>
          </a:xfrm>
          <a:prstGeom prst="roundRect">
            <a:avLst>
              <a:gd name="adj" fmla="val 6667"/>
            </a:avLst>
          </a:prstGeom>
          <a:solidFill>
            <a:srgbClr val="0F1F2E"/>
          </a:solidFill>
          <a:ln/>
        </p:spPr>
        <p:txBody>
          <a:bodyPr/>
          <a:lstStyle/>
          <a:p>
            <a:endParaRPr lang="en-US"/>
          </a:p>
        </p:txBody>
      </p:sp>
      <p:sp>
        <p:nvSpPr>
          <p:cNvPr id="6" name="Text 4"/>
          <p:cNvSpPr/>
          <p:nvPr/>
        </p:nvSpPr>
        <p:spPr>
          <a:xfrm>
            <a:off x="640080" y="914400"/>
            <a:ext cx="7863840" cy="228600"/>
          </a:xfrm>
          <a:prstGeom prst="rect">
            <a:avLst/>
          </a:prstGeom>
          <a:noFill/>
          <a:ln/>
        </p:spPr>
        <p:txBody>
          <a:bodyPr wrap="square" rtlCol="0" anchor="ctr"/>
          <a:lstStyle/>
          <a:p>
            <a:r>
              <a:rPr sz="1400" b="1">
                <a:solidFill>
                  <a:srgbClr val="D4A84B"/>
                </a:solidFill>
                <a:latin typeface="Calibri"/>
              </a:rPr>
              <a:t>Dog already on scene</a:t>
            </a:r>
          </a:p>
        </p:txBody>
      </p:sp>
      <p:sp>
        <p:nvSpPr>
          <p:cNvPr id="7" name="Text 5"/>
          <p:cNvSpPr/>
          <p:nvPr/>
        </p:nvSpPr>
        <p:spPr>
          <a:xfrm>
            <a:off x="640080" y="1188720"/>
            <a:ext cx="7863840" cy="365760"/>
          </a:xfrm>
          <a:prstGeom prst="rect">
            <a:avLst/>
          </a:prstGeom>
          <a:noFill/>
          <a:ln/>
        </p:spPr>
        <p:txBody>
          <a:bodyPr wrap="square" rtlCol="0" anchor="ctr"/>
          <a:lstStyle/>
          <a:p>
            <a:r>
              <a:rPr sz="1150">
                <a:solidFill>
                  <a:srgbClr val="A8B8C8"/>
                </a:solidFill>
                <a:latin typeface="Calibri"/>
              </a:rPr>
              <a:t>Sniff is generally lawful when it occurs while traffic/safety tasks are being diligently performed and the sniff adds no time.</a:t>
            </a:r>
          </a:p>
        </p:txBody>
      </p:sp>
      <p:sp>
        <p:nvSpPr>
          <p:cNvPr id="8" name="Shape 6"/>
          <p:cNvSpPr/>
          <p:nvPr/>
        </p:nvSpPr>
        <p:spPr>
          <a:xfrm>
            <a:off x="457200" y="1737360"/>
            <a:ext cx="8229600" cy="822960"/>
          </a:xfrm>
          <a:prstGeom prst="roundRect">
            <a:avLst>
              <a:gd name="adj" fmla="val 6667"/>
            </a:avLst>
          </a:prstGeom>
          <a:solidFill>
            <a:srgbClr val="0F1F2E"/>
          </a:solidFill>
          <a:ln/>
        </p:spPr>
        <p:txBody>
          <a:bodyPr/>
          <a:lstStyle/>
          <a:p>
            <a:endParaRPr lang="en-US"/>
          </a:p>
        </p:txBody>
      </p:sp>
      <p:sp>
        <p:nvSpPr>
          <p:cNvPr id="9" name="Text 7"/>
          <p:cNvSpPr/>
          <p:nvPr/>
        </p:nvSpPr>
        <p:spPr>
          <a:xfrm>
            <a:off x="640080" y="1828800"/>
            <a:ext cx="7863840" cy="228600"/>
          </a:xfrm>
          <a:prstGeom prst="rect">
            <a:avLst/>
          </a:prstGeom>
          <a:noFill/>
          <a:ln/>
        </p:spPr>
        <p:txBody>
          <a:bodyPr wrap="square" rtlCol="0" anchor="ctr"/>
          <a:lstStyle/>
          <a:p>
            <a:r>
              <a:rPr sz="1400" b="1">
                <a:solidFill>
                  <a:srgbClr val="D4A84B"/>
                </a:solidFill>
                <a:latin typeface="Calibri"/>
              </a:rPr>
              <a:t>Dog arrives during mission</a:t>
            </a:r>
          </a:p>
        </p:txBody>
      </p:sp>
      <p:sp>
        <p:nvSpPr>
          <p:cNvPr id="10" name="Text 8"/>
          <p:cNvSpPr/>
          <p:nvPr/>
        </p:nvSpPr>
        <p:spPr>
          <a:xfrm>
            <a:off x="640080" y="2103120"/>
            <a:ext cx="7863840" cy="365760"/>
          </a:xfrm>
          <a:prstGeom prst="rect">
            <a:avLst/>
          </a:prstGeom>
          <a:noFill/>
          <a:ln/>
        </p:spPr>
        <p:txBody>
          <a:bodyPr wrap="square" rtlCol="0" anchor="ctr"/>
          <a:lstStyle/>
          <a:p>
            <a:r>
              <a:rPr sz="1150">
                <a:solidFill>
                  <a:srgbClr val="A8B8C8"/>
                </a:solidFill>
                <a:latin typeface="Calibri"/>
              </a:rPr>
              <a:t>Sniff can proceed if the traffic mission is still being diligently pursued. Do not slow, suspend, or pad the mission to create dog time.</a:t>
            </a:r>
          </a:p>
        </p:txBody>
      </p:sp>
      <p:sp>
        <p:nvSpPr>
          <p:cNvPr id="11" name="Shape 9"/>
          <p:cNvSpPr/>
          <p:nvPr/>
        </p:nvSpPr>
        <p:spPr>
          <a:xfrm>
            <a:off x="457200" y="2651760"/>
            <a:ext cx="8229600" cy="822960"/>
          </a:xfrm>
          <a:prstGeom prst="roundRect">
            <a:avLst>
              <a:gd name="adj" fmla="val 6667"/>
            </a:avLst>
          </a:prstGeom>
          <a:solidFill>
            <a:srgbClr val="0F1F2E"/>
          </a:solidFill>
          <a:ln/>
        </p:spPr>
        <p:txBody>
          <a:bodyPr/>
          <a:lstStyle/>
          <a:p>
            <a:endParaRPr lang="en-US"/>
          </a:p>
        </p:txBody>
      </p:sp>
      <p:sp>
        <p:nvSpPr>
          <p:cNvPr id="12" name="Text 10"/>
          <p:cNvSpPr/>
          <p:nvPr/>
        </p:nvSpPr>
        <p:spPr>
          <a:xfrm>
            <a:off x="640080" y="2743200"/>
            <a:ext cx="7863840" cy="228600"/>
          </a:xfrm>
          <a:prstGeom prst="rect">
            <a:avLst/>
          </a:prstGeom>
          <a:noFill/>
          <a:ln/>
        </p:spPr>
        <p:txBody>
          <a:bodyPr wrap="square" rtlCol="0" anchor="ctr"/>
          <a:lstStyle/>
          <a:p>
            <a:r>
              <a:rPr sz="1400" b="1">
                <a:solidFill>
                  <a:srgbClr val="D4A84B"/>
                </a:solidFill>
                <a:latin typeface="Calibri"/>
              </a:rPr>
              <a:t>Mission objectively complete — no RS</a:t>
            </a:r>
          </a:p>
        </p:txBody>
      </p:sp>
      <p:sp>
        <p:nvSpPr>
          <p:cNvPr id="13" name="Text 11"/>
          <p:cNvSpPr/>
          <p:nvPr/>
        </p:nvSpPr>
        <p:spPr>
          <a:xfrm>
            <a:off x="640080" y="3017520"/>
            <a:ext cx="7863840" cy="365760"/>
          </a:xfrm>
          <a:prstGeom prst="rect">
            <a:avLst/>
          </a:prstGeom>
          <a:noFill/>
          <a:ln/>
        </p:spPr>
        <p:txBody>
          <a:bodyPr wrap="square" rtlCol="0" anchor="ctr"/>
          <a:lstStyle/>
          <a:p>
            <a:r>
              <a:rPr sz="1150">
                <a:solidFill>
                  <a:srgbClr val="A8B8C8"/>
                </a:solidFill>
                <a:latin typeface="Calibri"/>
              </a:rPr>
              <a:t>Further detention solely for a dog sniff is unconstitutional. Do not rely only on whether the ticket has been physically handed over.</a:t>
            </a:r>
          </a:p>
        </p:txBody>
      </p:sp>
      <p:sp>
        <p:nvSpPr>
          <p:cNvPr id="14" name="Shape 12"/>
          <p:cNvSpPr/>
          <p:nvPr/>
        </p:nvSpPr>
        <p:spPr>
          <a:xfrm>
            <a:off x="457200" y="3566160"/>
            <a:ext cx="8229600" cy="822960"/>
          </a:xfrm>
          <a:prstGeom prst="roundRect">
            <a:avLst>
              <a:gd name="adj" fmla="val 6667"/>
            </a:avLst>
          </a:prstGeom>
          <a:solidFill>
            <a:srgbClr val="0F1F2E"/>
          </a:solidFill>
          <a:ln/>
        </p:spPr>
        <p:txBody>
          <a:bodyPr/>
          <a:lstStyle/>
          <a:p>
            <a:endParaRPr lang="en-US"/>
          </a:p>
        </p:txBody>
      </p:sp>
      <p:sp>
        <p:nvSpPr>
          <p:cNvPr id="15" name="Text 13"/>
          <p:cNvSpPr/>
          <p:nvPr/>
        </p:nvSpPr>
        <p:spPr>
          <a:xfrm>
            <a:off x="640080" y="3657600"/>
            <a:ext cx="7863840" cy="228600"/>
          </a:xfrm>
          <a:prstGeom prst="rect">
            <a:avLst/>
          </a:prstGeom>
          <a:noFill/>
          <a:ln/>
        </p:spPr>
        <p:txBody>
          <a:bodyPr wrap="square" rtlCol="0" anchor="ctr"/>
          <a:lstStyle/>
          <a:p>
            <a:r>
              <a:rPr sz="1400" b="1">
                <a:solidFill>
                  <a:srgbClr val="D4A84B"/>
                </a:solidFill>
                <a:latin typeface="Calibri"/>
              </a:rPr>
              <a:t>Mission complete — with RS</a:t>
            </a:r>
          </a:p>
        </p:txBody>
      </p:sp>
      <p:sp>
        <p:nvSpPr>
          <p:cNvPr id="16" name="Text 14"/>
          <p:cNvSpPr/>
          <p:nvPr/>
        </p:nvSpPr>
        <p:spPr>
          <a:xfrm>
            <a:off x="640080" y="3931920"/>
            <a:ext cx="7863840" cy="365760"/>
          </a:xfrm>
          <a:prstGeom prst="rect">
            <a:avLst/>
          </a:prstGeom>
          <a:noFill/>
          <a:ln/>
        </p:spPr>
        <p:txBody>
          <a:bodyPr wrap="square" rtlCol="0" anchor="ctr"/>
          <a:lstStyle/>
          <a:p>
            <a:r>
              <a:rPr sz="1150">
                <a:solidFill>
                  <a:srgbClr val="A8B8C8"/>
                </a:solidFill>
                <a:latin typeface="Calibri"/>
              </a:rPr>
              <a:t>Independent RS can justify a reasonable extension. Document the facts known before the extension.</a:t>
            </a:r>
          </a:p>
        </p:txBody>
      </p:sp>
      <p:sp>
        <p:nvSpPr>
          <p:cNvPr id="17" name="Shape 15"/>
          <p:cNvSpPr/>
          <p:nvPr/>
        </p:nvSpPr>
        <p:spPr>
          <a:xfrm>
            <a:off x="0" y="4800600"/>
            <a:ext cx="9144000" cy="342900"/>
          </a:xfrm>
          <a:prstGeom prst="rect">
            <a:avLst/>
          </a:prstGeom>
          <a:solidFill>
            <a:srgbClr val="061018"/>
          </a:solidFill>
          <a:ln/>
        </p:spPr>
        <p:txBody>
          <a:bodyPr/>
          <a:lstStyle/>
          <a:p>
            <a:endParaRPr lang="en-US"/>
          </a:p>
        </p:txBody>
      </p:sp>
      <p:pic>
        <p:nvPicPr>
          <p:cNvPr id="21" name="Image 1" descr="/home/workdir/artifacts/moody_detective_badge.jpg">
            <a:extLst>
              <a:ext uri="{FF2B5EF4-FFF2-40B4-BE49-F238E27FC236}">
                <a16:creationId xmlns:a16="http://schemas.microsoft.com/office/drawing/2014/main" id="{35B21F46-DECC-1702-8352-E50935C2E7DD}"/>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2" name="Picture 21">
            <a:extLst>
              <a:ext uri="{FF2B5EF4-FFF2-40B4-BE49-F238E27FC236}">
                <a16:creationId xmlns:a16="http://schemas.microsoft.com/office/drawing/2014/main" id="{272687DF-72E0-7C40-0539-52DD9581BB58}"/>
              </a:ext>
            </a:extLst>
          </p:cNvPr>
          <p:cNvPicPr>
            <a:picLocks noChangeAspect="1"/>
          </p:cNvPicPr>
          <p:nvPr/>
        </p:nvPicPr>
        <p:blipFill>
          <a:blip r:embed="rId4"/>
          <a:stretch>
            <a:fillRect/>
          </a:stretch>
        </p:blipFill>
        <p:spPr>
          <a:xfrm>
            <a:off x="561875" y="4555167"/>
            <a:ext cx="891540" cy="459278"/>
          </a:xfrm>
          <a:prstGeom prst="rect">
            <a:avLst/>
          </a:prstGeom>
        </p:spPr>
      </p:pic>
      <p:sp>
        <p:nvSpPr>
          <p:cNvPr id="20" name="Text 1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OPERATIONAL FRAMEWORK</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Where the Sniff Occurs Changes the Legal Analysis</a:t>
            </a:r>
            <a:endParaRPr lang="en-US" sz="1700" dirty="0"/>
          </a:p>
        </p:txBody>
      </p:sp>
      <p:sp>
        <p:nvSpPr>
          <p:cNvPr id="5" name="Shape 3"/>
          <p:cNvSpPr/>
          <p:nvPr/>
        </p:nvSpPr>
        <p:spPr>
          <a:xfrm>
            <a:off x="320040" y="914400"/>
            <a:ext cx="1645920" cy="3291840"/>
          </a:xfrm>
          <a:prstGeom prst="roundRect">
            <a:avLst>
              <a:gd name="adj" fmla="val 3333"/>
            </a:avLst>
          </a:prstGeom>
          <a:solidFill>
            <a:srgbClr val="0F1F2E"/>
          </a:solidFill>
          <a:ln/>
        </p:spPr>
        <p:txBody>
          <a:bodyPr/>
          <a:lstStyle/>
          <a:p>
            <a:endParaRPr lang="en-US"/>
          </a:p>
        </p:txBody>
      </p:sp>
      <p:sp>
        <p:nvSpPr>
          <p:cNvPr id="6" name="Text 4"/>
          <p:cNvSpPr/>
          <p:nvPr/>
        </p:nvSpPr>
        <p:spPr>
          <a:xfrm>
            <a:off x="411480" y="1143000"/>
            <a:ext cx="1463040" cy="822960"/>
          </a:xfrm>
          <a:prstGeom prst="rect">
            <a:avLst/>
          </a:prstGeom>
          <a:noFill/>
          <a:ln/>
        </p:spPr>
        <p:txBody>
          <a:bodyPr wrap="square" rtlCol="0" anchor="ctr"/>
          <a:lstStyle/>
          <a:p>
            <a:pPr marL="0" indent="0" algn="ctr">
              <a:buNone/>
            </a:pPr>
            <a:r>
              <a:rPr lang="en-US" sz="1300" b="1" dirty="0">
                <a:solidFill>
                  <a:srgbClr val="D4A84B"/>
                </a:solidFill>
                <a:latin typeface="Calibri" pitchFamily="34" charset="0"/>
                <a:ea typeface="Calibri" pitchFamily="34" charset="-122"/>
                <a:cs typeface="Calibri" pitchFamily="34" charset="-120"/>
              </a:rPr>
              <a:t>Public Place /</a:t>
            </a:r>
            <a:endParaRPr lang="en-US" sz="1300" dirty="0"/>
          </a:p>
          <a:p>
            <a:pPr marL="0" indent="0" algn="ctr">
              <a:buNone/>
            </a:pPr>
            <a:r>
              <a:rPr lang="en-US" sz="1300" b="1" dirty="0">
                <a:solidFill>
                  <a:srgbClr val="D4A84B"/>
                </a:solidFill>
                <a:latin typeface="Calibri" pitchFamily="34" charset="0"/>
                <a:ea typeface="Calibri" pitchFamily="34" charset="-122"/>
                <a:cs typeface="Calibri" pitchFamily="34" charset="-120"/>
              </a:rPr>
              <a:t>Luggage</a:t>
            </a:r>
            <a:endParaRPr lang="en-US" sz="1300" dirty="0"/>
          </a:p>
        </p:txBody>
      </p:sp>
      <p:sp>
        <p:nvSpPr>
          <p:cNvPr id="7" name="Text 5"/>
          <p:cNvSpPr/>
          <p:nvPr/>
        </p:nvSpPr>
        <p:spPr>
          <a:xfrm>
            <a:off x="411480" y="2194560"/>
            <a:ext cx="1463040" cy="1645920"/>
          </a:xfrm>
          <a:prstGeom prst="rect">
            <a:avLst/>
          </a:prstGeom>
          <a:noFill/>
          <a:ln/>
        </p:spPr>
        <p:txBody>
          <a:bodyPr wrap="square" rtlCol="0" anchor="ctr"/>
          <a:lstStyle/>
          <a:p>
            <a:pPr marL="0" indent="0" algn="ctr">
              <a:buNone/>
            </a:pPr>
            <a:r>
              <a:rPr lang="en-US" sz="1200" dirty="0">
                <a:solidFill>
                  <a:srgbClr val="A8B8C8"/>
                </a:solidFill>
                <a:latin typeface="Calibri" pitchFamily="34" charset="0"/>
                <a:ea typeface="Calibri" pitchFamily="34" charset="-122"/>
                <a:cs typeface="Calibri" pitchFamily="34" charset="-120"/>
              </a:rPr>
              <a:t>Generally not a search (Place)</a:t>
            </a:r>
            <a:endParaRPr lang="en-US" sz="1200" dirty="0"/>
          </a:p>
          <a:p>
            <a:pPr marL="0" indent="0" algn="ctr">
              <a:buNone/>
            </a:pPr>
            <a:r>
              <a:rPr lang="en-US" sz="1200" dirty="0">
                <a:solidFill>
                  <a:srgbClr val="A8B8C8"/>
                </a:solidFill>
                <a:latin typeface="Calibri" pitchFamily="34" charset="0"/>
                <a:ea typeface="Calibri" pitchFamily="34" charset="-122"/>
                <a:cs typeface="Calibri" pitchFamily="34" charset="-120"/>
              </a:rPr>
              <a:t>Limited by seizure duration</a:t>
            </a:r>
            <a:endParaRPr lang="en-US" sz="1200" dirty="0"/>
          </a:p>
        </p:txBody>
      </p:sp>
      <p:sp>
        <p:nvSpPr>
          <p:cNvPr id="8" name="Shape 6"/>
          <p:cNvSpPr/>
          <p:nvPr/>
        </p:nvSpPr>
        <p:spPr>
          <a:xfrm>
            <a:off x="2057400" y="914400"/>
            <a:ext cx="1645920" cy="3291840"/>
          </a:xfrm>
          <a:prstGeom prst="roundRect">
            <a:avLst>
              <a:gd name="adj" fmla="val 3333"/>
            </a:avLst>
          </a:prstGeom>
          <a:solidFill>
            <a:srgbClr val="0F1F2E"/>
          </a:solidFill>
          <a:ln/>
        </p:spPr>
        <p:txBody>
          <a:bodyPr/>
          <a:lstStyle/>
          <a:p>
            <a:endParaRPr lang="en-US"/>
          </a:p>
        </p:txBody>
      </p:sp>
      <p:sp>
        <p:nvSpPr>
          <p:cNvPr id="9" name="Text 7"/>
          <p:cNvSpPr/>
          <p:nvPr/>
        </p:nvSpPr>
        <p:spPr>
          <a:xfrm>
            <a:off x="2148840" y="1143000"/>
            <a:ext cx="1463040" cy="822960"/>
          </a:xfrm>
          <a:prstGeom prst="rect">
            <a:avLst/>
          </a:prstGeom>
          <a:noFill/>
          <a:ln/>
        </p:spPr>
        <p:txBody>
          <a:bodyPr wrap="square" rtlCol="0" anchor="ctr"/>
          <a:lstStyle/>
          <a:p>
            <a:pPr marL="0" indent="0" algn="ctr">
              <a:buNone/>
            </a:pPr>
            <a:r>
              <a:rPr lang="en-US" sz="1300" b="1" dirty="0">
                <a:solidFill>
                  <a:srgbClr val="D4A84B"/>
                </a:solidFill>
                <a:latin typeface="Calibri" pitchFamily="34" charset="0"/>
                <a:ea typeface="Calibri" pitchFamily="34" charset="-122"/>
                <a:cs typeface="Calibri" pitchFamily="34" charset="-120"/>
              </a:rPr>
              <a:t>Vehicle Exterior</a:t>
            </a:r>
            <a:endParaRPr lang="en-US" sz="1300" dirty="0"/>
          </a:p>
          <a:p>
            <a:pPr marL="0" indent="0" algn="ctr">
              <a:buNone/>
            </a:pPr>
            <a:r>
              <a:rPr lang="en-US" sz="1300" b="1" dirty="0">
                <a:solidFill>
                  <a:srgbClr val="D4A84B"/>
                </a:solidFill>
                <a:latin typeface="Calibri" pitchFamily="34" charset="0"/>
                <a:ea typeface="Calibri" pitchFamily="34" charset="-122"/>
                <a:cs typeface="Calibri" pitchFamily="34" charset="-120"/>
              </a:rPr>
              <a:t>(Traffic Stop)</a:t>
            </a:r>
            <a:endParaRPr lang="en-US" sz="1300" dirty="0"/>
          </a:p>
        </p:txBody>
      </p:sp>
      <p:sp>
        <p:nvSpPr>
          <p:cNvPr id="10" name="Text 8"/>
          <p:cNvSpPr/>
          <p:nvPr/>
        </p:nvSpPr>
        <p:spPr>
          <a:xfrm>
            <a:off x="2148840" y="2194560"/>
            <a:ext cx="1463040" cy="1645920"/>
          </a:xfrm>
          <a:prstGeom prst="rect">
            <a:avLst/>
          </a:prstGeom>
          <a:noFill/>
          <a:ln/>
        </p:spPr>
        <p:txBody>
          <a:bodyPr wrap="square" rtlCol="0" anchor="ctr"/>
          <a:lstStyle/>
          <a:p>
            <a:r>
              <a:rPr sz="1050">
                <a:solidFill>
                  <a:srgbClr val="A8B8C8"/>
                </a:solidFill>
                <a:latin typeface="Calibri"/>
              </a:rPr>
              <a:t>Not a search if sniff adds no time</a:t>
            </a:r>
          </a:p>
          <a:p>
            <a:r>
              <a:rPr sz="1050">
                <a:solidFill>
                  <a:srgbClr val="A8B8C8"/>
                </a:solidFill>
                <a:latin typeface="Calibri"/>
              </a:rPr>
              <a:t>Caballes + Rodriguez/Campbell</a:t>
            </a:r>
          </a:p>
        </p:txBody>
      </p:sp>
      <p:sp>
        <p:nvSpPr>
          <p:cNvPr id="11" name="Shape 9"/>
          <p:cNvSpPr/>
          <p:nvPr/>
        </p:nvSpPr>
        <p:spPr>
          <a:xfrm>
            <a:off x="3794760" y="914400"/>
            <a:ext cx="1645920" cy="3291840"/>
          </a:xfrm>
          <a:prstGeom prst="roundRect">
            <a:avLst>
              <a:gd name="adj" fmla="val 3333"/>
            </a:avLst>
          </a:prstGeom>
          <a:solidFill>
            <a:srgbClr val="0F1F2E"/>
          </a:solidFill>
          <a:ln/>
        </p:spPr>
        <p:txBody>
          <a:bodyPr/>
          <a:lstStyle/>
          <a:p>
            <a:endParaRPr lang="en-US"/>
          </a:p>
        </p:txBody>
      </p:sp>
      <p:sp>
        <p:nvSpPr>
          <p:cNvPr id="12" name="Text 10"/>
          <p:cNvSpPr/>
          <p:nvPr/>
        </p:nvSpPr>
        <p:spPr>
          <a:xfrm>
            <a:off x="3886200" y="1143000"/>
            <a:ext cx="1463040" cy="822960"/>
          </a:xfrm>
          <a:prstGeom prst="rect">
            <a:avLst/>
          </a:prstGeom>
          <a:noFill/>
          <a:ln/>
        </p:spPr>
        <p:txBody>
          <a:bodyPr wrap="square" rtlCol="0" anchor="ctr"/>
          <a:lstStyle/>
          <a:p>
            <a:pPr marL="0" indent="0" algn="ctr">
              <a:buNone/>
            </a:pPr>
            <a:r>
              <a:rPr lang="en-US" sz="1300" b="1" dirty="0">
                <a:solidFill>
                  <a:srgbClr val="D4A84B"/>
                </a:solidFill>
                <a:latin typeface="Calibri" pitchFamily="34" charset="0"/>
                <a:ea typeface="Calibri" pitchFamily="34" charset="-122"/>
                <a:cs typeface="Calibri" pitchFamily="34" charset="-120"/>
              </a:rPr>
              <a:t>Vehicle</a:t>
            </a:r>
            <a:endParaRPr lang="en-US" sz="1300" dirty="0"/>
          </a:p>
          <a:p>
            <a:pPr marL="0" indent="0" algn="ctr">
              <a:buNone/>
            </a:pPr>
            <a:r>
              <a:rPr lang="en-US" sz="1300" b="1" dirty="0">
                <a:solidFill>
                  <a:srgbClr val="D4A84B"/>
                </a:solidFill>
                <a:latin typeface="Calibri" pitchFamily="34" charset="0"/>
                <a:ea typeface="Calibri" pitchFamily="34" charset="-122"/>
                <a:cs typeface="Calibri" pitchFamily="34" charset="-120"/>
              </a:rPr>
              <a:t>Interior</a:t>
            </a:r>
            <a:endParaRPr lang="en-US" sz="1300" dirty="0"/>
          </a:p>
        </p:txBody>
      </p:sp>
      <p:sp>
        <p:nvSpPr>
          <p:cNvPr id="13" name="Text 11"/>
          <p:cNvSpPr/>
          <p:nvPr/>
        </p:nvSpPr>
        <p:spPr>
          <a:xfrm>
            <a:off x="3886200" y="2194560"/>
            <a:ext cx="1463040" cy="1645920"/>
          </a:xfrm>
          <a:prstGeom prst="rect">
            <a:avLst/>
          </a:prstGeom>
          <a:noFill/>
          <a:ln/>
        </p:spPr>
        <p:txBody>
          <a:bodyPr wrap="square" rtlCol="0" anchor="ctr"/>
          <a:lstStyle/>
          <a:p>
            <a:r>
              <a:rPr sz="1030">
                <a:solidFill>
                  <a:srgbClr val="A8B8C8"/>
                </a:solidFill>
                <a:latin typeface="Calibri"/>
              </a:rPr>
              <a:t>Conservative field rule:</a:t>
            </a:r>
          </a:p>
          <a:p>
            <a:r>
              <a:rPr sz="1030">
                <a:solidFill>
                  <a:srgbClr val="A8B8C8"/>
                </a:solidFill>
                <a:latin typeface="Calibri"/>
              </a:rPr>
              <a:t>Do not facilitate, command, encourage, or create an interior entry unless you already have lawful authority to search.</a:t>
            </a:r>
          </a:p>
        </p:txBody>
      </p:sp>
      <p:sp>
        <p:nvSpPr>
          <p:cNvPr id="14" name="Shape 12"/>
          <p:cNvSpPr/>
          <p:nvPr/>
        </p:nvSpPr>
        <p:spPr>
          <a:xfrm>
            <a:off x="5532120" y="914400"/>
            <a:ext cx="1645920" cy="3291840"/>
          </a:xfrm>
          <a:prstGeom prst="roundRect">
            <a:avLst>
              <a:gd name="adj" fmla="val 3333"/>
            </a:avLst>
          </a:prstGeom>
          <a:solidFill>
            <a:srgbClr val="0F1F2E"/>
          </a:solidFill>
          <a:ln/>
        </p:spPr>
        <p:txBody>
          <a:bodyPr/>
          <a:lstStyle/>
          <a:p>
            <a:endParaRPr lang="en-US"/>
          </a:p>
        </p:txBody>
      </p:sp>
      <p:sp>
        <p:nvSpPr>
          <p:cNvPr id="15" name="Text 13"/>
          <p:cNvSpPr/>
          <p:nvPr/>
        </p:nvSpPr>
        <p:spPr>
          <a:xfrm>
            <a:off x="5623560" y="1143000"/>
            <a:ext cx="1463040" cy="822960"/>
          </a:xfrm>
          <a:prstGeom prst="rect">
            <a:avLst/>
          </a:prstGeom>
          <a:noFill/>
          <a:ln/>
        </p:spPr>
        <p:txBody>
          <a:bodyPr wrap="square" rtlCol="0" anchor="ctr"/>
          <a:lstStyle/>
          <a:p>
            <a:pPr marL="0" indent="0" algn="ctr">
              <a:buNone/>
            </a:pPr>
            <a:r>
              <a:rPr lang="en-US" sz="1300" b="1" dirty="0">
                <a:solidFill>
                  <a:srgbClr val="D4A84B"/>
                </a:solidFill>
                <a:latin typeface="Calibri" pitchFamily="34" charset="0"/>
                <a:ea typeface="Calibri" pitchFamily="34" charset="-122"/>
                <a:cs typeface="Calibri" pitchFamily="34" charset="-120"/>
              </a:rPr>
              <a:t>Home / Apartment</a:t>
            </a:r>
            <a:endParaRPr lang="en-US" sz="1300" dirty="0"/>
          </a:p>
          <a:p>
            <a:pPr marL="0" indent="0" algn="ctr">
              <a:buNone/>
            </a:pPr>
            <a:r>
              <a:rPr lang="en-US" sz="1300" b="1" dirty="0">
                <a:solidFill>
                  <a:srgbClr val="D4A84B"/>
                </a:solidFill>
                <a:latin typeface="Calibri" pitchFamily="34" charset="0"/>
                <a:ea typeface="Calibri" pitchFamily="34" charset="-122"/>
                <a:cs typeface="Calibri" pitchFamily="34" charset="-120"/>
              </a:rPr>
              <a:t>Curtilage</a:t>
            </a:r>
            <a:endParaRPr lang="en-US" sz="1300" dirty="0"/>
          </a:p>
        </p:txBody>
      </p:sp>
      <p:sp>
        <p:nvSpPr>
          <p:cNvPr id="16" name="Text 14"/>
          <p:cNvSpPr/>
          <p:nvPr/>
        </p:nvSpPr>
        <p:spPr>
          <a:xfrm>
            <a:off x="5623560" y="2194560"/>
            <a:ext cx="1463040" cy="1645920"/>
          </a:xfrm>
          <a:prstGeom prst="rect">
            <a:avLst/>
          </a:prstGeom>
          <a:noFill/>
          <a:ln/>
        </p:spPr>
        <p:txBody>
          <a:bodyPr wrap="square" rtlCol="0" anchor="ctr"/>
          <a:lstStyle/>
          <a:p>
            <a:r>
              <a:rPr sz="1050">
                <a:solidFill>
                  <a:srgbClr val="A8B8C8"/>
                </a:solidFill>
                <a:latin typeface="Calibri"/>
              </a:rPr>
              <a:t>Is a search (Jardines + Earl)</a:t>
            </a:r>
          </a:p>
          <a:p>
            <a:r>
              <a:rPr sz="1050">
                <a:solidFill>
                  <a:srgbClr val="A8B8C8"/>
                </a:solidFill>
                <a:latin typeface="Calibri"/>
              </a:rPr>
              <a:t>Warrant or recognized exception</a:t>
            </a:r>
          </a:p>
        </p:txBody>
      </p:sp>
      <p:sp>
        <p:nvSpPr>
          <p:cNvPr id="17" name="Shape 15"/>
          <p:cNvSpPr/>
          <p:nvPr/>
        </p:nvSpPr>
        <p:spPr>
          <a:xfrm>
            <a:off x="7269480" y="914400"/>
            <a:ext cx="1645920" cy="3291840"/>
          </a:xfrm>
          <a:prstGeom prst="roundRect">
            <a:avLst>
              <a:gd name="adj" fmla="val 3333"/>
            </a:avLst>
          </a:prstGeom>
          <a:solidFill>
            <a:srgbClr val="0F1F2E"/>
          </a:solidFill>
          <a:ln/>
        </p:spPr>
        <p:txBody>
          <a:bodyPr/>
          <a:lstStyle/>
          <a:p>
            <a:endParaRPr lang="en-US"/>
          </a:p>
        </p:txBody>
      </p:sp>
      <p:sp>
        <p:nvSpPr>
          <p:cNvPr id="18" name="Text 16"/>
          <p:cNvSpPr/>
          <p:nvPr/>
        </p:nvSpPr>
        <p:spPr>
          <a:xfrm>
            <a:off x="7360920" y="1143000"/>
            <a:ext cx="1463040" cy="822960"/>
          </a:xfrm>
          <a:prstGeom prst="rect">
            <a:avLst/>
          </a:prstGeom>
          <a:noFill/>
          <a:ln/>
        </p:spPr>
        <p:txBody>
          <a:bodyPr wrap="square" rtlCol="0" anchor="ctr"/>
          <a:lstStyle/>
          <a:p>
            <a:pPr marL="0" indent="0" algn="ctr">
              <a:buNone/>
            </a:pPr>
            <a:r>
              <a:rPr lang="en-US" sz="1300" b="1" dirty="0">
                <a:solidFill>
                  <a:srgbClr val="D4A84B"/>
                </a:solidFill>
                <a:latin typeface="Calibri" pitchFamily="34" charset="0"/>
                <a:ea typeface="Calibri" pitchFamily="34" charset="-122"/>
                <a:cs typeface="Calibri" pitchFamily="34" charset="-120"/>
              </a:rPr>
              <a:t>Vehicle in</a:t>
            </a:r>
            <a:endParaRPr lang="en-US" sz="1300" dirty="0"/>
          </a:p>
          <a:p>
            <a:pPr marL="0" indent="0" algn="ctr">
              <a:buNone/>
            </a:pPr>
            <a:r>
              <a:rPr lang="en-US" sz="1300" b="1" dirty="0">
                <a:solidFill>
                  <a:srgbClr val="D4A84B"/>
                </a:solidFill>
                <a:latin typeface="Calibri" pitchFamily="34" charset="0"/>
                <a:ea typeface="Calibri" pitchFamily="34" charset="-122"/>
                <a:cs typeface="Calibri" pitchFamily="34" charset="-120"/>
              </a:rPr>
              <a:t>Curtilage</a:t>
            </a:r>
            <a:endParaRPr lang="en-US" sz="1300" dirty="0"/>
          </a:p>
        </p:txBody>
      </p:sp>
      <p:sp>
        <p:nvSpPr>
          <p:cNvPr id="19" name="Text 17"/>
          <p:cNvSpPr/>
          <p:nvPr/>
        </p:nvSpPr>
        <p:spPr>
          <a:xfrm>
            <a:off x="7360920" y="2194560"/>
            <a:ext cx="1463040" cy="1645920"/>
          </a:xfrm>
          <a:prstGeom prst="rect">
            <a:avLst/>
          </a:prstGeom>
          <a:noFill/>
          <a:ln/>
        </p:spPr>
        <p:txBody>
          <a:bodyPr wrap="square" rtlCol="0" anchor="ctr"/>
          <a:lstStyle/>
          <a:p>
            <a:pPr marL="0" indent="0" algn="ctr">
              <a:buNone/>
            </a:pPr>
            <a:r>
              <a:rPr lang="en-US" sz="1200" dirty="0">
                <a:solidFill>
                  <a:srgbClr val="A8B8C8"/>
                </a:solidFill>
                <a:latin typeface="Calibri" pitchFamily="34" charset="0"/>
                <a:ea typeface="Calibri" pitchFamily="34" charset="-122"/>
                <a:cs typeface="Calibri" pitchFamily="34" charset="-120"/>
              </a:rPr>
              <a:t>Access itself may be a search</a:t>
            </a:r>
            <a:endParaRPr lang="en-US" sz="1200" dirty="0"/>
          </a:p>
          <a:p>
            <a:pPr marL="0" indent="0" algn="ctr">
              <a:buNone/>
            </a:pPr>
            <a:r>
              <a:rPr lang="en-US" sz="1200" dirty="0">
                <a:solidFill>
                  <a:srgbClr val="A8B8C8"/>
                </a:solidFill>
                <a:latin typeface="Calibri" pitchFamily="34" charset="0"/>
                <a:ea typeface="Calibri" pitchFamily="34" charset="-122"/>
                <a:cs typeface="Calibri" pitchFamily="34" charset="-120"/>
              </a:rPr>
              <a:t>Collins v. Virginia</a:t>
            </a:r>
            <a:endParaRPr lang="en-US" sz="1200" dirty="0"/>
          </a:p>
        </p:txBody>
      </p:sp>
      <p:sp>
        <p:nvSpPr>
          <p:cNvPr id="20" name="Shape 18"/>
          <p:cNvSpPr/>
          <p:nvPr/>
        </p:nvSpPr>
        <p:spPr>
          <a:xfrm>
            <a:off x="0" y="4800600"/>
            <a:ext cx="9144000" cy="342900"/>
          </a:xfrm>
          <a:prstGeom prst="rect">
            <a:avLst/>
          </a:prstGeom>
          <a:solidFill>
            <a:srgbClr val="061018"/>
          </a:solidFill>
          <a:ln/>
        </p:spPr>
        <p:txBody>
          <a:bodyPr/>
          <a:lstStyle/>
          <a:p>
            <a:endParaRPr lang="en-US"/>
          </a:p>
        </p:txBody>
      </p:sp>
      <p:pic>
        <p:nvPicPr>
          <p:cNvPr id="24" name="Image 1" descr="/home/workdir/artifacts/moody_detective_badge.jpg">
            <a:extLst>
              <a:ext uri="{FF2B5EF4-FFF2-40B4-BE49-F238E27FC236}">
                <a16:creationId xmlns:a16="http://schemas.microsoft.com/office/drawing/2014/main" id="{95825CED-B0AA-D646-E371-26568CF0DD6B}"/>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5" name="Picture 24">
            <a:extLst>
              <a:ext uri="{FF2B5EF4-FFF2-40B4-BE49-F238E27FC236}">
                <a16:creationId xmlns:a16="http://schemas.microsoft.com/office/drawing/2014/main" id="{EEC45B2C-5335-7BA6-554F-128428DAF15F}"/>
              </a:ext>
            </a:extLst>
          </p:cNvPr>
          <p:cNvPicPr>
            <a:picLocks noChangeAspect="1"/>
          </p:cNvPicPr>
          <p:nvPr/>
        </p:nvPicPr>
        <p:blipFill>
          <a:blip r:embed="rId4"/>
          <a:stretch>
            <a:fillRect/>
          </a:stretch>
        </p:blipFill>
        <p:spPr>
          <a:xfrm>
            <a:off x="561875" y="4555167"/>
            <a:ext cx="891540" cy="459278"/>
          </a:xfrm>
          <a:prstGeom prst="rect">
            <a:avLst/>
          </a:prstGeom>
        </p:spPr>
      </p:pic>
      <p:sp>
        <p:nvSpPr>
          <p:cNvPr id="23" name="Text 2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BEHAVIOR SCIENCE FOUNDATION</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Four Classes of Detector Dog Behavior</a:t>
            </a:r>
            <a:endParaRPr lang="en-US" sz="1800" dirty="0"/>
          </a:p>
        </p:txBody>
      </p:sp>
      <p:sp>
        <p:nvSpPr>
          <p:cNvPr id="5" name="Text 3"/>
          <p:cNvSpPr/>
          <p:nvPr/>
        </p:nvSpPr>
        <p:spPr>
          <a:xfrm>
            <a:off x="457200" y="685800"/>
            <a:ext cx="8229600" cy="201168"/>
          </a:xfrm>
          <a:prstGeom prst="rect">
            <a:avLst/>
          </a:prstGeom>
          <a:noFill/>
          <a:ln/>
        </p:spPr>
        <p:txBody>
          <a:bodyPr wrap="square" rtlCol="0" anchor="ctr"/>
          <a:lstStyle/>
          <a:p>
            <a:r>
              <a:rPr sz="1200">
                <a:solidFill>
                  <a:srgbClr val="0D7377"/>
                </a:solidFill>
                <a:latin typeface="Calibri"/>
              </a:rPr>
              <a:t>Behavior is evidence — but its origin decides what it means. Latimer, Behavior Is Evidence (rev. 2026), Ch. 2.</a:t>
            </a:r>
          </a:p>
        </p:txBody>
      </p:sp>
      <p:sp>
        <p:nvSpPr>
          <p:cNvPr id="6" name="Shape 4"/>
          <p:cNvSpPr/>
          <p:nvPr/>
        </p:nvSpPr>
        <p:spPr>
          <a:xfrm>
            <a:off x="457200" y="1051560"/>
            <a:ext cx="4114800" cy="1463040"/>
          </a:xfrm>
          <a:prstGeom prst="roundRect">
            <a:avLst>
              <a:gd name="adj" fmla="val 3750"/>
            </a:avLst>
          </a:prstGeom>
          <a:solidFill>
            <a:srgbClr val="0F1F2E"/>
          </a:solidFill>
          <a:ln/>
        </p:spPr>
        <p:txBody>
          <a:bodyPr/>
          <a:lstStyle/>
          <a:p>
            <a:endParaRPr lang="en-US"/>
          </a:p>
        </p:txBody>
      </p:sp>
      <p:sp>
        <p:nvSpPr>
          <p:cNvPr id="7" name="Shape 5"/>
          <p:cNvSpPr/>
          <p:nvPr/>
        </p:nvSpPr>
        <p:spPr>
          <a:xfrm>
            <a:off x="640080" y="1280160"/>
            <a:ext cx="347472" cy="347472"/>
          </a:xfrm>
          <a:prstGeom prst="ellipse">
            <a:avLst/>
          </a:prstGeom>
          <a:solidFill>
            <a:srgbClr val="0D7377"/>
          </a:solidFill>
          <a:ln/>
        </p:spPr>
        <p:txBody>
          <a:bodyPr/>
          <a:lstStyle/>
          <a:p>
            <a:endParaRPr lang="en-US"/>
          </a:p>
        </p:txBody>
      </p:sp>
      <p:sp>
        <p:nvSpPr>
          <p:cNvPr id="8" name="Text 6"/>
          <p:cNvSpPr/>
          <p:nvPr/>
        </p:nvSpPr>
        <p:spPr>
          <a:xfrm>
            <a:off x="640080" y="128016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97280" y="132588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Intrinsic Behavior</a:t>
            </a:r>
            <a:endParaRPr lang="en-US" sz="1400" dirty="0"/>
          </a:p>
        </p:txBody>
      </p:sp>
      <p:sp>
        <p:nvSpPr>
          <p:cNvPr id="10" name="Text 8"/>
          <p:cNvSpPr/>
          <p:nvPr/>
        </p:nvSpPr>
        <p:spPr>
          <a:xfrm>
            <a:off x="640080" y="178308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Naturally expressed changes the dog didn't have to be taught — respiration, head position, body tension, pace — produced by what the dog is experiencing.</a:t>
            </a:r>
            <a:endParaRPr lang="en-US" sz="1200" dirty="0"/>
          </a:p>
        </p:txBody>
      </p:sp>
      <p:sp>
        <p:nvSpPr>
          <p:cNvPr id="11" name="Shape 9"/>
          <p:cNvSpPr/>
          <p:nvPr/>
        </p:nvSpPr>
        <p:spPr>
          <a:xfrm>
            <a:off x="4754880" y="1051560"/>
            <a:ext cx="4114800" cy="1463040"/>
          </a:xfrm>
          <a:prstGeom prst="roundRect">
            <a:avLst>
              <a:gd name="adj" fmla="val 3750"/>
            </a:avLst>
          </a:prstGeom>
          <a:solidFill>
            <a:srgbClr val="0F1F2E"/>
          </a:solidFill>
          <a:ln/>
        </p:spPr>
        <p:txBody>
          <a:bodyPr/>
          <a:lstStyle/>
          <a:p>
            <a:endParaRPr lang="en-US"/>
          </a:p>
        </p:txBody>
      </p:sp>
      <p:sp>
        <p:nvSpPr>
          <p:cNvPr id="12" name="Shape 10"/>
          <p:cNvSpPr/>
          <p:nvPr/>
        </p:nvSpPr>
        <p:spPr>
          <a:xfrm>
            <a:off x="4937760" y="1280160"/>
            <a:ext cx="347472" cy="347472"/>
          </a:xfrm>
          <a:prstGeom prst="ellipse">
            <a:avLst/>
          </a:prstGeom>
          <a:solidFill>
            <a:srgbClr val="0D7377"/>
          </a:solidFill>
          <a:ln/>
        </p:spPr>
        <p:txBody>
          <a:bodyPr/>
          <a:lstStyle/>
          <a:p>
            <a:endParaRPr lang="en-US"/>
          </a:p>
        </p:txBody>
      </p:sp>
      <p:sp>
        <p:nvSpPr>
          <p:cNvPr id="13" name="Text 11"/>
          <p:cNvSpPr/>
          <p:nvPr/>
        </p:nvSpPr>
        <p:spPr>
          <a:xfrm>
            <a:off x="4937760" y="128016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394960" y="132588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Trained Behavior</a:t>
            </a:r>
            <a:endParaRPr lang="en-US" sz="1400" dirty="0"/>
          </a:p>
        </p:txBody>
      </p:sp>
      <p:sp>
        <p:nvSpPr>
          <p:cNvPr id="15" name="Text 13"/>
          <p:cNvSpPr/>
          <p:nvPr/>
        </p:nvSpPr>
        <p:spPr>
          <a:xfrm>
            <a:off x="4937760" y="178308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The trained final response (sit, freeze, bark, scratch) — a deliberately taught way to communicate that the dog resolved an odor problem. Communication, not discovery.</a:t>
            </a:r>
            <a:endParaRPr lang="en-US" sz="1200" dirty="0"/>
          </a:p>
        </p:txBody>
      </p:sp>
      <p:sp>
        <p:nvSpPr>
          <p:cNvPr id="16" name="Shape 14"/>
          <p:cNvSpPr/>
          <p:nvPr/>
        </p:nvSpPr>
        <p:spPr>
          <a:xfrm>
            <a:off x="457200" y="2697480"/>
            <a:ext cx="4114800" cy="1463040"/>
          </a:xfrm>
          <a:prstGeom prst="roundRect">
            <a:avLst>
              <a:gd name="adj" fmla="val 3750"/>
            </a:avLst>
          </a:prstGeom>
          <a:solidFill>
            <a:srgbClr val="0F1F2E"/>
          </a:solidFill>
          <a:ln/>
        </p:spPr>
        <p:txBody>
          <a:bodyPr/>
          <a:lstStyle/>
          <a:p>
            <a:endParaRPr lang="en-US"/>
          </a:p>
        </p:txBody>
      </p:sp>
      <p:sp>
        <p:nvSpPr>
          <p:cNvPr id="17" name="Shape 15"/>
          <p:cNvSpPr/>
          <p:nvPr/>
        </p:nvSpPr>
        <p:spPr>
          <a:xfrm>
            <a:off x="640080" y="2926080"/>
            <a:ext cx="347472" cy="347472"/>
          </a:xfrm>
          <a:prstGeom prst="ellipse">
            <a:avLst/>
          </a:prstGeom>
          <a:solidFill>
            <a:srgbClr val="0D7377"/>
          </a:solidFill>
          <a:ln/>
        </p:spPr>
        <p:txBody>
          <a:bodyPr/>
          <a:lstStyle/>
          <a:p>
            <a:endParaRPr lang="en-US"/>
          </a:p>
        </p:txBody>
      </p:sp>
      <p:sp>
        <p:nvSpPr>
          <p:cNvPr id="18" name="Text 16"/>
          <p:cNvSpPr/>
          <p:nvPr/>
        </p:nvSpPr>
        <p:spPr>
          <a:xfrm>
            <a:off x="640080" y="292608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097280" y="297180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Independently Learned Behavior</a:t>
            </a:r>
            <a:endParaRPr lang="en-US" sz="1400" dirty="0"/>
          </a:p>
        </p:txBody>
      </p:sp>
      <p:sp>
        <p:nvSpPr>
          <p:cNvPr id="20" name="Text 18"/>
          <p:cNvSpPr/>
          <p:nvPr/>
        </p:nvSpPr>
        <p:spPr>
          <a:xfrm>
            <a:off x="640080" y="342900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Problem-solving strategies the dog developed through experience — bracketing, overshooting and reacquiring odor — never directly commanded by the handler.</a:t>
            </a:r>
            <a:endParaRPr lang="en-US" sz="1200" dirty="0"/>
          </a:p>
        </p:txBody>
      </p:sp>
      <p:sp>
        <p:nvSpPr>
          <p:cNvPr id="21" name="Shape 19"/>
          <p:cNvSpPr/>
          <p:nvPr/>
        </p:nvSpPr>
        <p:spPr>
          <a:xfrm>
            <a:off x="4754880" y="2697480"/>
            <a:ext cx="4114800" cy="1463040"/>
          </a:xfrm>
          <a:prstGeom prst="roundRect">
            <a:avLst>
              <a:gd name="adj" fmla="val 3750"/>
            </a:avLst>
          </a:prstGeom>
          <a:solidFill>
            <a:srgbClr val="0F1F2E"/>
          </a:solidFill>
          <a:ln/>
        </p:spPr>
        <p:txBody>
          <a:bodyPr/>
          <a:lstStyle/>
          <a:p>
            <a:endParaRPr lang="en-US"/>
          </a:p>
        </p:txBody>
      </p:sp>
      <p:sp>
        <p:nvSpPr>
          <p:cNvPr id="22" name="Shape 20"/>
          <p:cNvSpPr/>
          <p:nvPr/>
        </p:nvSpPr>
        <p:spPr>
          <a:xfrm>
            <a:off x="4937760" y="2926080"/>
            <a:ext cx="347472" cy="347472"/>
          </a:xfrm>
          <a:prstGeom prst="ellipse">
            <a:avLst/>
          </a:prstGeom>
          <a:solidFill>
            <a:srgbClr val="0D7377"/>
          </a:solidFill>
          <a:ln/>
        </p:spPr>
        <p:txBody>
          <a:bodyPr/>
          <a:lstStyle/>
          <a:p>
            <a:endParaRPr lang="en-US"/>
          </a:p>
        </p:txBody>
      </p:sp>
      <p:sp>
        <p:nvSpPr>
          <p:cNvPr id="23" name="Text 21"/>
          <p:cNvSpPr/>
          <p:nvPr/>
        </p:nvSpPr>
        <p:spPr>
          <a:xfrm>
            <a:off x="4937760" y="292608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5394960" y="2971800"/>
            <a:ext cx="32004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Handler-Influenced Behavior</a:t>
            </a:r>
            <a:endParaRPr lang="en-US" sz="1400" dirty="0"/>
          </a:p>
        </p:txBody>
      </p:sp>
      <p:sp>
        <p:nvSpPr>
          <p:cNvPr id="25" name="Text 23"/>
          <p:cNvSpPr/>
          <p:nvPr/>
        </p:nvSpPr>
        <p:spPr>
          <a:xfrm>
            <a:off x="4937760" y="3429000"/>
            <a:ext cx="3749040" cy="5943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Leash tension, body position, pace, or repeated commands that shape the dog's response, consciously or not — the class courts scrutinize as cueing.</a:t>
            </a:r>
            <a:endParaRPr lang="en-US" sz="1200" dirty="0"/>
          </a:p>
        </p:txBody>
      </p:sp>
      <p:pic>
        <p:nvPicPr>
          <p:cNvPr id="30" name="Image 1" descr="/home/workdir/artifacts/moody_detective_badge.jpg">
            <a:extLst>
              <a:ext uri="{FF2B5EF4-FFF2-40B4-BE49-F238E27FC236}">
                <a16:creationId xmlns:a16="http://schemas.microsoft.com/office/drawing/2014/main" id="{FD95CC26-70D3-03C2-EF64-A3A5E867931B}"/>
              </a:ext>
            </a:extLst>
          </p:cNvPr>
          <p:cNvPicPr>
            <a:picLocks noChangeAspect="1"/>
          </p:cNvPicPr>
          <p:nvPr/>
        </p:nvPicPr>
        <p:blipFill>
          <a:blip r:embed="rId2"/>
          <a:stretch>
            <a:fillRect/>
          </a:stretch>
        </p:blipFill>
        <p:spPr>
          <a:xfrm>
            <a:off x="8206740" y="4537608"/>
            <a:ext cx="548640" cy="538517"/>
          </a:xfrm>
          <a:prstGeom prst="rect">
            <a:avLst/>
          </a:prstGeom>
        </p:spPr>
      </p:pic>
      <p:pic>
        <p:nvPicPr>
          <p:cNvPr id="31" name="Picture 30">
            <a:extLst>
              <a:ext uri="{FF2B5EF4-FFF2-40B4-BE49-F238E27FC236}">
                <a16:creationId xmlns:a16="http://schemas.microsoft.com/office/drawing/2014/main" id="{618B5121-B07A-8263-446E-82C86AE683E5}"/>
              </a:ext>
            </a:extLst>
          </p:cNvPr>
          <p:cNvPicPr>
            <a:picLocks noChangeAspect="1"/>
          </p:cNvPicPr>
          <p:nvPr/>
        </p:nvPicPr>
        <p:blipFill>
          <a:blip r:embed="rId3"/>
          <a:stretch>
            <a:fillRect/>
          </a:stretch>
        </p:blipFill>
        <p:spPr>
          <a:xfrm>
            <a:off x="561875" y="4555167"/>
            <a:ext cx="891540" cy="459278"/>
          </a:xfrm>
          <a:prstGeom prst="rect">
            <a:avLst/>
          </a:prstGeom>
        </p:spPr>
      </p:pic>
      <p:sp>
        <p:nvSpPr>
          <p:cNvPr id="29" name="Text 26"/>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HANDLER-INFLUENCED BEHAVIOR — COURTROOM RISK</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Conscious and Unconscious Influence</a:t>
            </a:r>
            <a:endParaRPr lang="en-US" sz="1800" dirty="0"/>
          </a:p>
        </p:txBody>
      </p:sp>
      <p:sp>
        <p:nvSpPr>
          <p:cNvPr id="5" name="Shape 3"/>
          <p:cNvSpPr/>
          <p:nvPr/>
        </p:nvSpPr>
        <p:spPr>
          <a:xfrm>
            <a:off x="457200" y="822960"/>
            <a:ext cx="8229600" cy="1005840"/>
          </a:xfrm>
          <a:prstGeom prst="roundRect">
            <a:avLst>
              <a:gd name="adj" fmla="val 5455"/>
            </a:avLst>
          </a:prstGeom>
          <a:solidFill>
            <a:srgbClr val="0F1F2E"/>
          </a:solidFill>
          <a:ln/>
        </p:spPr>
        <p:txBody>
          <a:bodyPr/>
          <a:lstStyle/>
          <a:p>
            <a:endParaRPr lang="en-US"/>
          </a:p>
        </p:txBody>
      </p:sp>
      <p:sp>
        <p:nvSpPr>
          <p:cNvPr id="6" name="Text 4"/>
          <p:cNvSpPr/>
          <p:nvPr/>
        </p:nvSpPr>
        <p:spPr>
          <a:xfrm>
            <a:off x="640080" y="960120"/>
            <a:ext cx="7863840" cy="73152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“Circumstances surrounding a particular alert may undermine the case for probable cause… if the officer, consciously or not, cued the dog…”</a:t>
            </a:r>
            <a:endParaRPr lang="en-US" sz="1300" dirty="0"/>
          </a:p>
          <a:p>
            <a:pPr marL="0" indent="0">
              <a:buNone/>
            </a:pPr>
            <a:r>
              <a:rPr lang="en-US" sz="1300" i="1" dirty="0">
                <a:solidFill>
                  <a:srgbClr val="FFFFFF"/>
                </a:solidFill>
                <a:latin typeface="Calibri" pitchFamily="34" charset="0"/>
                <a:ea typeface="Calibri" pitchFamily="34" charset="-122"/>
                <a:cs typeface="Calibri" pitchFamily="34" charset="-120"/>
              </a:rPr>
              <a:t>— Florida v. Harris, 568 U.S. 237 (2013)</a:t>
            </a:r>
            <a:endParaRPr lang="en-US" sz="1300" dirty="0"/>
          </a:p>
        </p:txBody>
      </p:sp>
      <p:sp>
        <p:nvSpPr>
          <p:cNvPr id="7" name="Shape 5"/>
          <p:cNvSpPr/>
          <p:nvPr/>
        </p:nvSpPr>
        <p:spPr>
          <a:xfrm>
            <a:off x="457200" y="2057400"/>
            <a:ext cx="4023360" cy="2286000"/>
          </a:xfrm>
          <a:prstGeom prst="roundRect">
            <a:avLst>
              <a:gd name="adj" fmla="val 2400"/>
            </a:avLst>
          </a:prstGeom>
          <a:solidFill>
            <a:srgbClr val="0F1F2E"/>
          </a:solidFill>
          <a:ln/>
        </p:spPr>
        <p:txBody>
          <a:bodyPr wrap="square"/>
          <a:lstStyle/>
          <a:p>
            <a:endParaRPr/>
          </a:p>
        </p:txBody>
      </p:sp>
      <p:sp>
        <p:nvSpPr>
          <p:cNvPr id="8" name="Text 6"/>
          <p:cNvSpPr/>
          <p:nvPr/>
        </p:nvSpPr>
        <p:spPr>
          <a:xfrm>
            <a:off x="640080" y="2194560"/>
            <a:ext cx="36576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Conscious / Intentional</a:t>
            </a:r>
            <a:endParaRPr lang="en-US" sz="1400" dirty="0"/>
          </a:p>
        </p:txBody>
      </p:sp>
      <p:sp>
        <p:nvSpPr>
          <p:cNvPr id="9" name="Text 7"/>
          <p:cNvSpPr/>
          <p:nvPr/>
        </p:nvSpPr>
        <p:spPr>
          <a:xfrm>
            <a:off x="640080" y="2606040"/>
            <a:ext cx="3657600" cy="1554480"/>
          </a:xfrm>
          <a:prstGeom prst="rect">
            <a:avLst/>
          </a:prstGeom>
          <a:noFill/>
          <a:ln/>
        </p:spPr>
        <p:txBody>
          <a:bodyPr wrap="square" rtlCol="0" anchor="ctr"/>
          <a:lstStyle/>
          <a:p>
            <a:r>
              <a:rPr sz="1200">
                <a:solidFill>
                  <a:srgbClr val="A8B8C8"/>
                </a:solidFill>
                <a:latin typeface="Calibri"/>
              </a:rPr>
              <a:t>Handler deliberately signals, shapes, or pressures the dog toward a response. Do not frame this around what is later found; the issue is handler conduct at the time of deployment.</a:t>
            </a:r>
          </a:p>
        </p:txBody>
      </p:sp>
      <p:sp>
        <p:nvSpPr>
          <p:cNvPr id="10" name="Shape 8"/>
          <p:cNvSpPr/>
          <p:nvPr/>
        </p:nvSpPr>
        <p:spPr>
          <a:xfrm>
            <a:off x="4663440" y="2057400"/>
            <a:ext cx="4023360" cy="2286000"/>
          </a:xfrm>
          <a:prstGeom prst="roundRect">
            <a:avLst>
              <a:gd name="adj" fmla="val 2400"/>
            </a:avLst>
          </a:prstGeom>
          <a:solidFill>
            <a:srgbClr val="0F1F2E"/>
          </a:solidFill>
          <a:ln/>
        </p:spPr>
        <p:txBody>
          <a:bodyPr wrap="square"/>
          <a:lstStyle/>
          <a:p>
            <a:endParaRPr/>
          </a:p>
        </p:txBody>
      </p:sp>
      <p:sp>
        <p:nvSpPr>
          <p:cNvPr id="11" name="Text 9"/>
          <p:cNvSpPr/>
          <p:nvPr/>
        </p:nvSpPr>
        <p:spPr>
          <a:xfrm>
            <a:off x="4846320" y="2194560"/>
            <a:ext cx="36576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Unconscious / Inadvertent</a:t>
            </a:r>
            <a:endParaRPr lang="en-US" sz="1400" dirty="0"/>
          </a:p>
        </p:txBody>
      </p:sp>
      <p:sp>
        <p:nvSpPr>
          <p:cNvPr id="12" name="Text 10"/>
          <p:cNvSpPr/>
          <p:nvPr/>
        </p:nvSpPr>
        <p:spPr>
          <a:xfrm>
            <a:off x="4846320" y="2606040"/>
            <a:ext cx="3657600" cy="1554480"/>
          </a:xfrm>
          <a:prstGeom prst="rect">
            <a:avLst/>
          </a:prstGeom>
          <a:noFill/>
          <a:ln/>
        </p:spPr>
        <p:txBody>
          <a:bodyPr wrap="square" rtlCol="0" anchor="ctr"/>
          <a:lstStyle/>
          <a:p>
            <a:r>
              <a:rPr sz="1200">
                <a:solidFill>
                  <a:srgbClr val="A8B8C8"/>
                </a:solidFill>
                <a:latin typeface="Calibri"/>
              </a:rPr>
              <a:t>Handler’s natural body language, expectation, leash tension, timing, or movement may influence the dog without deliberate intent. Still undercuts reliability under the Harris totality test.</a:t>
            </a:r>
          </a:p>
        </p:txBody>
      </p:sp>
      <p:sp>
        <p:nvSpPr>
          <p:cNvPr id="13" name="Shape 11"/>
          <p:cNvSpPr/>
          <p:nvPr/>
        </p:nvSpPr>
        <p:spPr>
          <a:xfrm>
            <a:off x="0" y="4800600"/>
            <a:ext cx="9144000" cy="342900"/>
          </a:xfrm>
          <a:prstGeom prst="rect">
            <a:avLst/>
          </a:prstGeom>
          <a:solidFill>
            <a:srgbClr val="061018"/>
          </a:solidFill>
          <a:ln/>
        </p:spPr>
        <p:txBody>
          <a:bodyPr/>
          <a:lstStyle/>
          <a:p>
            <a:endParaRPr lang="en-US"/>
          </a:p>
        </p:txBody>
      </p:sp>
      <p:pic>
        <p:nvPicPr>
          <p:cNvPr id="17" name="Image 1" descr="/home/workdir/artifacts/moody_detective_badge.jpg">
            <a:extLst>
              <a:ext uri="{FF2B5EF4-FFF2-40B4-BE49-F238E27FC236}">
                <a16:creationId xmlns:a16="http://schemas.microsoft.com/office/drawing/2014/main" id="{2AFB5F13-EF7C-5500-3E67-1D0B4F2F31C4}"/>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8" name="Picture 17">
            <a:extLst>
              <a:ext uri="{FF2B5EF4-FFF2-40B4-BE49-F238E27FC236}">
                <a16:creationId xmlns:a16="http://schemas.microsoft.com/office/drawing/2014/main" id="{25B71076-6D91-8497-56A1-AE38427E01F0}"/>
              </a:ext>
            </a:extLst>
          </p:cNvPr>
          <p:cNvPicPr>
            <a:picLocks noChangeAspect="1"/>
          </p:cNvPicPr>
          <p:nvPr/>
        </p:nvPicPr>
        <p:blipFill>
          <a:blip r:embed="rId4"/>
          <a:stretch>
            <a:fillRect/>
          </a:stretch>
        </p:blipFill>
        <p:spPr>
          <a:xfrm>
            <a:off x="561875" y="4555167"/>
            <a:ext cx="891540" cy="459278"/>
          </a:xfrm>
          <a:prstGeom prst="rect">
            <a:avLst/>
          </a:prstGeom>
        </p:spPr>
      </p:pic>
      <p:sp>
        <p:nvSpPr>
          <p:cNvPr id="16" name="Text 13"/>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24" name="Rectangle 23"/>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dicator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HANDLER-INFLUENCED BEHAVIOR</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r>
              <a:rPr sz="1800" b="1">
                <a:solidFill>
                  <a:srgbClr val="FFFFFF"/>
                </a:solidFill>
                <a:latin typeface="Calibri"/>
              </a:rPr>
              <a:t>Potential Cueing Indicators on Body-Cam</a:t>
            </a:r>
          </a:p>
        </p:txBody>
      </p:sp>
      <p:sp>
        <p:nvSpPr>
          <p:cNvPr id="5" name="Text 3"/>
          <p:cNvSpPr/>
          <p:nvPr/>
        </p:nvSpPr>
        <p:spPr>
          <a:xfrm>
            <a:off x="3163824" y="8229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Leash pressure / tension</a:t>
            </a:r>
            <a:endParaRPr lang="en-US" sz="1400" dirty="0"/>
          </a:p>
        </p:txBody>
      </p:sp>
      <p:sp>
        <p:nvSpPr>
          <p:cNvPr id="6" name="Text 4"/>
          <p:cNvSpPr/>
          <p:nvPr/>
        </p:nvSpPr>
        <p:spPr>
          <a:xfrm>
            <a:off x="3163824" y="107899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Slight upward or lateral pressure at the moment the handler wants a response</a:t>
            </a:r>
            <a:endParaRPr lang="en-US" sz="1300" dirty="0"/>
          </a:p>
        </p:txBody>
      </p:sp>
      <p:sp>
        <p:nvSpPr>
          <p:cNvPr id="7" name="Text 5"/>
          <p:cNvSpPr/>
          <p:nvPr/>
        </p:nvSpPr>
        <p:spPr>
          <a:xfrm>
            <a:off x="3163824" y="141732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Body orientation</a:t>
            </a:r>
            <a:endParaRPr lang="en-US" sz="1400" dirty="0"/>
          </a:p>
        </p:txBody>
      </p:sp>
      <p:sp>
        <p:nvSpPr>
          <p:cNvPr id="8" name="Text 6"/>
          <p:cNvSpPr/>
          <p:nvPr/>
        </p:nvSpPr>
        <p:spPr>
          <a:xfrm>
            <a:off x="3163824" y="167335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Handler stops and “squares up” to a specific panel, handle, or seam just before the dog responds</a:t>
            </a:r>
            <a:endParaRPr lang="en-US" sz="1300" dirty="0"/>
          </a:p>
        </p:txBody>
      </p:sp>
      <p:sp>
        <p:nvSpPr>
          <p:cNvPr id="9" name="Text 7"/>
          <p:cNvSpPr/>
          <p:nvPr/>
        </p:nvSpPr>
        <p:spPr>
          <a:xfrm>
            <a:off x="3163824" y="201168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Hand or arm movement</a:t>
            </a:r>
            <a:endParaRPr lang="en-US" sz="1400" dirty="0"/>
          </a:p>
        </p:txBody>
      </p:sp>
      <p:sp>
        <p:nvSpPr>
          <p:cNvPr id="10" name="Text 8"/>
          <p:cNvSpPr/>
          <p:nvPr/>
        </p:nvSpPr>
        <p:spPr>
          <a:xfrm>
            <a:off x="3163824" y="226771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Pointing, tapping the side, or reaching toward a pocket/treat at a critical moment</a:t>
            </a:r>
            <a:endParaRPr lang="en-US" sz="1300" dirty="0"/>
          </a:p>
        </p:txBody>
      </p:sp>
      <p:sp>
        <p:nvSpPr>
          <p:cNvPr id="11" name="Text 9"/>
          <p:cNvSpPr/>
          <p:nvPr/>
        </p:nvSpPr>
        <p:spPr>
          <a:xfrm>
            <a:off x="3163824" y="260604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Verbal or tone change</a:t>
            </a:r>
            <a:endParaRPr lang="en-US" sz="1400" dirty="0"/>
          </a:p>
        </p:txBody>
      </p:sp>
      <p:sp>
        <p:nvSpPr>
          <p:cNvPr id="12" name="Text 10"/>
          <p:cNvSpPr/>
          <p:nvPr/>
        </p:nvSpPr>
        <p:spPr>
          <a:xfrm>
            <a:off x="3163824" y="286207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Subtle shift in voice, breathing, or a quiet command that coincides with the response</a:t>
            </a:r>
            <a:endParaRPr lang="en-US" sz="1300" dirty="0"/>
          </a:p>
        </p:txBody>
      </p:sp>
      <p:sp>
        <p:nvSpPr>
          <p:cNvPr id="13" name="Text 11"/>
          <p:cNvSpPr/>
          <p:nvPr/>
        </p:nvSpPr>
        <p:spPr>
          <a:xfrm>
            <a:off x="3163824" y="320040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Pace / pattern change</a:t>
            </a:r>
            <a:endParaRPr lang="en-US" sz="1400" dirty="0"/>
          </a:p>
        </p:txBody>
      </p:sp>
      <p:sp>
        <p:nvSpPr>
          <p:cNvPr id="14" name="Text 12"/>
          <p:cNvSpPr/>
          <p:nvPr/>
        </p:nvSpPr>
        <p:spPr>
          <a:xfrm>
            <a:off x="3163824" y="345643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Slowing, stopping, or repeating a pass only at the location of interest</a:t>
            </a:r>
            <a:endParaRPr lang="en-US" sz="1300" dirty="0"/>
          </a:p>
        </p:txBody>
      </p:sp>
      <p:sp>
        <p:nvSpPr>
          <p:cNvPr id="15" name="Text 13"/>
          <p:cNvSpPr/>
          <p:nvPr/>
        </p:nvSpPr>
        <p:spPr>
          <a:xfrm>
            <a:off x="3163824" y="37947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  Eye focus</a:t>
            </a:r>
            <a:endParaRPr lang="en-US" sz="1400" dirty="0"/>
          </a:p>
        </p:txBody>
      </p:sp>
      <p:sp>
        <p:nvSpPr>
          <p:cNvPr id="16" name="Text 14"/>
          <p:cNvSpPr/>
          <p:nvPr/>
        </p:nvSpPr>
        <p:spPr>
          <a:xfrm>
            <a:off x="3163824" y="405079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Handler staring at a particular area while the dog is working instead of watching the dog’s overall behavior</a:t>
            </a:r>
            <a:endParaRPr lang="en-US" sz="1300" dirty="0"/>
          </a:p>
        </p:txBody>
      </p:sp>
      <p:sp>
        <p:nvSpPr>
          <p:cNvPr id="17" name="Shape 15"/>
          <p:cNvSpPr/>
          <p:nvPr/>
        </p:nvSpPr>
        <p:spPr>
          <a:xfrm>
            <a:off x="0" y="4800600"/>
            <a:ext cx="9144000" cy="342900"/>
          </a:xfrm>
          <a:prstGeom prst="rect">
            <a:avLst/>
          </a:prstGeom>
          <a:solidFill>
            <a:srgbClr val="061018"/>
          </a:solidFill>
          <a:ln/>
        </p:spPr>
        <p:txBody>
          <a:bodyPr/>
          <a:lstStyle/>
          <a:p>
            <a:endParaRPr lang="en-US"/>
          </a:p>
        </p:txBody>
      </p:sp>
      <p:pic>
        <p:nvPicPr>
          <p:cNvPr id="21" name="Image 1" descr="/home/workdir/artifacts/moody_detective_badge.jpg">
            <a:extLst>
              <a:ext uri="{FF2B5EF4-FFF2-40B4-BE49-F238E27FC236}">
                <a16:creationId xmlns:a16="http://schemas.microsoft.com/office/drawing/2014/main" id="{E682CAF0-DFD9-F467-F70B-753489AF134D}"/>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2" name="Picture 21">
            <a:extLst>
              <a:ext uri="{FF2B5EF4-FFF2-40B4-BE49-F238E27FC236}">
                <a16:creationId xmlns:a16="http://schemas.microsoft.com/office/drawing/2014/main" id="{D2418E3A-8127-E812-9D1A-5A23FE7BF31C}"/>
              </a:ext>
            </a:extLst>
          </p:cNvPr>
          <p:cNvPicPr>
            <a:picLocks noChangeAspect="1"/>
          </p:cNvPicPr>
          <p:nvPr/>
        </p:nvPicPr>
        <p:blipFill>
          <a:blip r:embed="rId4"/>
          <a:stretch>
            <a:fillRect/>
          </a:stretch>
        </p:blipFill>
        <p:spPr>
          <a:xfrm>
            <a:off x="561875" y="4555167"/>
            <a:ext cx="891540" cy="459278"/>
          </a:xfrm>
          <a:prstGeom prst="rect">
            <a:avLst/>
          </a:prstGeom>
        </p:spPr>
      </p:pic>
      <p:sp>
        <p:nvSpPr>
          <p:cNvPr id="20" name="Text 1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24" name="Rectangle 23"/>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dicator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HANDLER-INFLUENCED BEHAVIOR</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Avoidance &amp; Courtroom Defense Best Practices</a:t>
            </a:r>
            <a:endParaRPr lang="en-US" sz="1700" dirty="0"/>
          </a:p>
        </p:txBody>
      </p:sp>
      <p:sp>
        <p:nvSpPr>
          <p:cNvPr id="5" name="Text 3"/>
          <p:cNvSpPr/>
          <p:nvPr/>
        </p:nvSpPr>
        <p:spPr>
          <a:xfrm>
            <a:off x="3163824" y="8229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1. Independent Source Commitment</a:t>
            </a:r>
            <a:endParaRPr lang="en-US" sz="1400" dirty="0"/>
          </a:p>
        </p:txBody>
      </p:sp>
      <p:sp>
        <p:nvSpPr>
          <p:cNvPr id="6" name="Text 4"/>
          <p:cNvSpPr/>
          <p:nvPr/>
        </p:nvSpPr>
        <p:spPr>
          <a:xfrm>
            <a:off x="3163824" y="1078992"/>
            <a:ext cx="5870448" cy="274320"/>
          </a:xfrm>
          <a:prstGeom prst="rect">
            <a:avLst/>
          </a:prstGeom>
          <a:noFill/>
          <a:ln/>
        </p:spPr>
        <p:txBody>
          <a:bodyPr wrap="square" rtlCol="0" anchor="ctr"/>
          <a:lstStyle/>
          <a:p>
            <a:r>
              <a:rPr sz="1150">
                <a:solidFill>
                  <a:srgbClr val="A8B8C8"/>
                </a:solidFill>
                <a:latin typeface="Calibri"/>
              </a:rPr>
              <a:t>The dog works odor to source without the handler directing or “helping” the final response.</a:t>
            </a:r>
          </a:p>
        </p:txBody>
      </p:sp>
      <p:sp>
        <p:nvSpPr>
          <p:cNvPr id="7" name="Text 5"/>
          <p:cNvSpPr/>
          <p:nvPr/>
        </p:nvSpPr>
        <p:spPr>
          <a:xfrm>
            <a:off x="3163824" y="141732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2. Neutral body position</a:t>
            </a:r>
            <a:endParaRPr lang="en-US" sz="1400" dirty="0"/>
          </a:p>
        </p:txBody>
      </p:sp>
      <p:sp>
        <p:nvSpPr>
          <p:cNvPr id="8" name="Text 6"/>
          <p:cNvSpPr/>
          <p:nvPr/>
        </p:nvSpPr>
        <p:spPr>
          <a:xfrm>
            <a:off x="3163824" y="167335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Handler remains upright, eyes on the dog’s overall movement — not locked on a specific panel or handle.</a:t>
            </a:r>
            <a:endParaRPr lang="en-US" sz="1300" dirty="0"/>
          </a:p>
        </p:txBody>
      </p:sp>
      <p:sp>
        <p:nvSpPr>
          <p:cNvPr id="9" name="Text 7"/>
          <p:cNvSpPr/>
          <p:nvPr/>
        </p:nvSpPr>
        <p:spPr>
          <a:xfrm>
            <a:off x="3163824" y="201168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3. Minimal leash tension</a:t>
            </a:r>
            <a:endParaRPr lang="en-US" sz="1400" dirty="0"/>
          </a:p>
        </p:txBody>
      </p:sp>
      <p:sp>
        <p:nvSpPr>
          <p:cNvPr id="10" name="Text 8"/>
          <p:cNvSpPr/>
          <p:nvPr/>
        </p:nvSpPr>
        <p:spPr>
          <a:xfrm>
            <a:off x="3163824" y="226771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Especially during the final approach to a potential source. Loose leash is cleaner on video.</a:t>
            </a:r>
            <a:endParaRPr lang="en-US" sz="1300" dirty="0"/>
          </a:p>
        </p:txBody>
      </p:sp>
      <p:sp>
        <p:nvSpPr>
          <p:cNvPr id="11" name="Text 9"/>
          <p:cNvSpPr/>
          <p:nvPr/>
        </p:nvSpPr>
        <p:spPr>
          <a:xfrm>
            <a:off x="3163824" y="260604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4. Consistent search pattern</a:t>
            </a:r>
            <a:endParaRPr lang="en-US" sz="1400" dirty="0"/>
          </a:p>
        </p:txBody>
      </p:sp>
      <p:sp>
        <p:nvSpPr>
          <p:cNvPr id="12" name="Text 10"/>
          <p:cNvSpPr/>
          <p:nvPr/>
        </p:nvSpPr>
        <p:spPr>
          <a:xfrm>
            <a:off x="3163824" y="2862072"/>
            <a:ext cx="5870448" cy="27432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Same pace and pattern regardless of suspicion level. Avoid repeated passes only at the area of interest.</a:t>
            </a:r>
            <a:endParaRPr lang="en-US" sz="1300" dirty="0"/>
          </a:p>
        </p:txBody>
      </p:sp>
      <p:sp>
        <p:nvSpPr>
          <p:cNvPr id="13" name="Text 11"/>
          <p:cNvSpPr/>
          <p:nvPr/>
        </p:nvSpPr>
        <p:spPr>
          <a:xfrm>
            <a:off x="3163824" y="320040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5. Video everything</a:t>
            </a:r>
            <a:endParaRPr lang="en-US" sz="1400" dirty="0"/>
          </a:p>
        </p:txBody>
      </p:sp>
      <p:sp>
        <p:nvSpPr>
          <p:cNvPr id="14" name="Text 12"/>
          <p:cNvSpPr/>
          <p:nvPr/>
        </p:nvSpPr>
        <p:spPr>
          <a:xfrm>
            <a:off x="3163824" y="3456432"/>
            <a:ext cx="5870448" cy="274320"/>
          </a:xfrm>
          <a:prstGeom prst="rect">
            <a:avLst/>
          </a:prstGeom>
          <a:noFill/>
          <a:ln/>
        </p:spPr>
        <p:txBody>
          <a:bodyPr wrap="square" rtlCol="0" anchor="ctr"/>
          <a:lstStyle/>
          <a:p>
            <a:r>
              <a:rPr sz="1150">
                <a:solidFill>
                  <a:srgbClr val="A8B8C8"/>
                </a:solidFill>
                <a:latin typeface="Calibri"/>
              </a:rPr>
              <a:t>Complete video can strongly corroborate — or contradict — the handler’s testimony.</a:t>
            </a:r>
          </a:p>
        </p:txBody>
      </p:sp>
      <p:sp>
        <p:nvSpPr>
          <p:cNvPr id="15" name="Text 13"/>
          <p:cNvSpPr/>
          <p:nvPr/>
        </p:nvSpPr>
        <p:spPr>
          <a:xfrm>
            <a:off x="3163824" y="37947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6. Observation before interpretation</a:t>
            </a:r>
            <a:endParaRPr lang="en-US" sz="1400" dirty="0"/>
          </a:p>
        </p:txBody>
      </p:sp>
      <p:sp>
        <p:nvSpPr>
          <p:cNvPr id="16" name="Text 14"/>
          <p:cNvSpPr/>
          <p:nvPr/>
        </p:nvSpPr>
        <p:spPr>
          <a:xfrm>
            <a:off x="3163824" y="4050792"/>
            <a:ext cx="5870448" cy="274320"/>
          </a:xfrm>
          <a:prstGeom prst="rect">
            <a:avLst/>
          </a:prstGeom>
          <a:noFill/>
          <a:ln/>
        </p:spPr>
        <p:txBody>
          <a:bodyPr wrap="square" rtlCol="0" anchor="ctr"/>
          <a:lstStyle/>
          <a:p>
            <a:r>
              <a:rPr sz="1150">
                <a:solidFill>
                  <a:srgbClr val="A8B8C8"/>
                </a:solidFill>
                <a:latin typeface="Calibri"/>
              </a:rPr>
              <a:t>Document posture, head turn, breathing, sniff intensity, bracket/reacquisition behavior, and final response before stating the handler’s conclusion.</a:t>
            </a:r>
          </a:p>
        </p:txBody>
      </p:sp>
      <p:sp>
        <p:nvSpPr>
          <p:cNvPr id="17" name="Shape 15"/>
          <p:cNvSpPr/>
          <p:nvPr/>
        </p:nvSpPr>
        <p:spPr>
          <a:xfrm>
            <a:off x="0" y="4800600"/>
            <a:ext cx="9144000" cy="342900"/>
          </a:xfrm>
          <a:prstGeom prst="rect">
            <a:avLst/>
          </a:prstGeom>
          <a:solidFill>
            <a:srgbClr val="061018"/>
          </a:solidFill>
          <a:ln/>
        </p:spPr>
        <p:txBody>
          <a:bodyPr/>
          <a:lstStyle/>
          <a:p>
            <a:endParaRPr lang="en-US"/>
          </a:p>
        </p:txBody>
      </p:sp>
      <p:pic>
        <p:nvPicPr>
          <p:cNvPr id="21" name="Image 1" descr="/home/workdir/artifacts/moody_detective_badge.jpg">
            <a:extLst>
              <a:ext uri="{FF2B5EF4-FFF2-40B4-BE49-F238E27FC236}">
                <a16:creationId xmlns:a16="http://schemas.microsoft.com/office/drawing/2014/main" id="{3E85D0B5-584F-063F-528E-F974870133CB}"/>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2" name="Picture 21">
            <a:extLst>
              <a:ext uri="{FF2B5EF4-FFF2-40B4-BE49-F238E27FC236}">
                <a16:creationId xmlns:a16="http://schemas.microsoft.com/office/drawing/2014/main" id="{19DF2625-24F1-69D0-9B48-A3AAE1BD9A05}"/>
              </a:ext>
            </a:extLst>
          </p:cNvPr>
          <p:cNvPicPr>
            <a:picLocks noChangeAspect="1"/>
          </p:cNvPicPr>
          <p:nvPr/>
        </p:nvPicPr>
        <p:blipFill>
          <a:blip r:embed="rId4"/>
          <a:stretch>
            <a:fillRect/>
          </a:stretch>
        </p:blipFill>
        <p:spPr>
          <a:xfrm>
            <a:off x="561875" y="4555167"/>
            <a:ext cx="891540" cy="459278"/>
          </a:xfrm>
          <a:prstGeom prst="rect">
            <a:avLst/>
          </a:prstGeom>
        </p:spPr>
      </p:pic>
      <p:sp>
        <p:nvSpPr>
          <p:cNvPr id="20" name="Text 1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odriguez.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CASE SUMMARY</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United States v. Braddy, 11 F.4th 1298 (11th Cir. 2021)</a:t>
            </a:r>
            <a:endParaRPr lang="en-US" sz="16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11th Circuit  •  August 31, 2021  •  Saraland, Alabama stop</a:t>
            </a:r>
            <a:endParaRPr lang="en-US" sz="1200" dirty="0"/>
          </a:p>
        </p:txBody>
      </p:sp>
      <p:sp>
        <p:nvSpPr>
          <p:cNvPr id="6" name="Text 4"/>
          <p:cNvSpPr/>
          <p:nvPr/>
        </p:nvSpPr>
        <p:spPr>
          <a:xfrm>
            <a:off x="3163824" y="105156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Facts</a:t>
            </a:r>
            <a:endParaRPr lang="en-US" sz="1400" dirty="0"/>
          </a:p>
        </p:txBody>
      </p:sp>
      <p:sp>
        <p:nvSpPr>
          <p:cNvPr id="7" name="Text 5"/>
          <p:cNvSpPr/>
          <p:nvPr/>
        </p:nvSpPr>
        <p:spPr>
          <a:xfrm>
            <a:off x="3163824" y="1325880"/>
            <a:ext cx="5870448" cy="1005840"/>
          </a:xfrm>
          <a:prstGeom prst="rect">
            <a:avLst/>
          </a:prstGeom>
          <a:noFill/>
          <a:ln/>
        </p:spPr>
        <p:txBody>
          <a:bodyPr wrap="square" rtlCol="0" anchor="ctr"/>
          <a:lstStyle/>
          <a:p>
            <a:r>
              <a:rPr sz="1150">
                <a:solidFill>
                  <a:srgbClr val="A8B8C8"/>
                </a:solidFill>
                <a:latin typeface="Calibri"/>
              </a:rPr>
              <a:t>Officer Sullivan stopped Braddy for bicycles obstructing the license tag. Two certified dogs were deployed. Neither completed its trained final response. Officers described behavioral changes (posture, tail, breathing, partial paw lift). Search recovered ~62 kg cocaine and ~$40,000 cash.</a:t>
            </a:r>
          </a:p>
        </p:txBody>
      </p:sp>
      <p:sp>
        <p:nvSpPr>
          <p:cNvPr id="8" name="Text 6"/>
          <p:cNvSpPr/>
          <p:nvPr/>
        </p:nvSpPr>
        <p:spPr>
          <a:xfrm>
            <a:off x="3163824" y="246888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Holdings</a:t>
            </a:r>
            <a:endParaRPr lang="en-US" sz="1400" dirty="0"/>
          </a:p>
        </p:txBody>
      </p:sp>
      <p:sp>
        <p:nvSpPr>
          <p:cNvPr id="9" name="Text 7"/>
          <p:cNvSpPr/>
          <p:nvPr/>
        </p:nvSpPr>
        <p:spPr>
          <a:xfrm>
            <a:off x="3163824" y="2788920"/>
            <a:ext cx="5870448" cy="1554480"/>
          </a:xfrm>
          <a:prstGeom prst="rect">
            <a:avLst/>
          </a:prstGeom>
          <a:noFill/>
          <a:ln/>
        </p:spPr>
        <p:txBody>
          <a:bodyPr wrap="square" rtlCol="0" anchor="ctr"/>
          <a:lstStyle/>
          <a:p>
            <a:r>
              <a:rPr sz="1150">
                <a:solidFill>
                  <a:srgbClr val="A8B8C8"/>
                </a:solidFill>
                <a:latin typeface="Calibri"/>
              </a:rPr>
              <a:t>1. The traffic stop was lawful; any mistake of law was objectively reasonable.</a:t>
            </a:r>
          </a:p>
          <a:p>
            <a:r>
              <a:rPr sz="1150">
                <a:solidFill>
                  <a:srgbClr val="A8B8C8"/>
                </a:solidFill>
                <a:latin typeface="Calibri"/>
              </a:rPr>
              <a:t>2. The stop was not unlawfully prolonged under Rodriguez.</a:t>
            </a:r>
          </a:p>
          <a:p>
            <a:r>
              <a:rPr sz="1150">
                <a:solidFill>
                  <a:srgbClr val="A8B8C8"/>
                </a:solidFill>
                <a:latin typeface="Calibri"/>
              </a:rPr>
              <a:t>3. The dogs’ handler-recognized alerts were sufficiently reliable under Harris to establish probable cause.</a:t>
            </a:r>
          </a:p>
          <a:p>
            <a:endParaRPr sz="1150">
              <a:solidFill>
                <a:srgbClr val="A8B8C8"/>
              </a:solidFill>
              <a:latin typeface="Calibri"/>
            </a:endParaRPr>
          </a:p>
          <a:p>
            <a:r>
              <a:rPr sz="1150">
                <a:solidFill>
                  <a:srgbClr val="A8B8C8"/>
                </a:solidFill>
                <a:latin typeface="Calibri"/>
              </a:rPr>
              <a:t>Note: Campbell is the later en banc 11th Circuit timing authority.</a:t>
            </a:r>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2E8E0202-B6CC-B882-D28F-02E9621EE872}"/>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8675D200-C33F-60A2-CC61-3C29AED9C449}"/>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BRADDY RULING DETAILS</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r>
              <a:rPr sz="1700" b="1">
                <a:solidFill>
                  <a:srgbClr val="FFFFFF"/>
                </a:solidFill>
                <a:latin typeface="Calibri"/>
              </a:rPr>
              <a:t>Why the 11th Circuit Upheld Handler-Recognized Alerts</a:t>
            </a:r>
          </a:p>
        </p:txBody>
      </p:sp>
      <p:sp>
        <p:nvSpPr>
          <p:cNvPr id="5" name="Shape 3"/>
          <p:cNvSpPr/>
          <p:nvPr/>
        </p:nvSpPr>
        <p:spPr>
          <a:xfrm>
            <a:off x="457200" y="822960"/>
            <a:ext cx="4023360" cy="3474720"/>
          </a:xfrm>
          <a:prstGeom prst="roundRect">
            <a:avLst>
              <a:gd name="adj" fmla="val 1579"/>
            </a:avLst>
          </a:prstGeom>
          <a:solidFill>
            <a:srgbClr val="0F1F2E"/>
          </a:solidFill>
          <a:ln/>
        </p:spPr>
        <p:txBody>
          <a:bodyPr/>
          <a:lstStyle/>
          <a:p>
            <a:endParaRPr lang="en-US"/>
          </a:p>
        </p:txBody>
      </p:sp>
      <p:sp>
        <p:nvSpPr>
          <p:cNvPr id="6" name="Text 4"/>
          <p:cNvSpPr/>
          <p:nvPr/>
        </p:nvSpPr>
        <p:spPr>
          <a:xfrm>
            <a:off x="640080" y="960120"/>
            <a:ext cx="36576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Majority Reasoning</a:t>
            </a:r>
            <a:endParaRPr lang="en-US" sz="1400" dirty="0"/>
          </a:p>
        </p:txBody>
      </p:sp>
      <p:sp>
        <p:nvSpPr>
          <p:cNvPr id="7" name="Text 5"/>
          <p:cNvSpPr/>
          <p:nvPr/>
        </p:nvSpPr>
        <p:spPr>
          <a:xfrm>
            <a:off x="640080" y="1325880"/>
            <a:ext cx="3657600" cy="2743200"/>
          </a:xfrm>
          <a:prstGeom prst="rect">
            <a:avLst/>
          </a:prstGeom>
          <a:noFill/>
          <a:ln/>
        </p:spPr>
        <p:txBody>
          <a:bodyPr wrap="square" rtlCol="0" anchor="ctr"/>
          <a:lstStyle/>
          <a:p>
            <a:r>
              <a:rPr sz="1150">
                <a:solidFill>
                  <a:srgbClr val="A8B8C8"/>
                </a:solidFill>
                <a:latin typeface="Calibri"/>
              </a:rPr>
              <a:t>• Harris rejects any strict evidentiary checklist.</a:t>
            </a:r>
          </a:p>
          <a:p>
            <a:r>
              <a:rPr sz="1150">
                <a:solidFill>
                  <a:srgbClr val="A8B8C8"/>
                </a:solidFill>
                <a:latin typeface="Calibri"/>
              </a:rPr>
              <a:t>• A full trained final response is not constitutionally required.</a:t>
            </a:r>
          </a:p>
          <a:p>
            <a:r>
              <a:rPr sz="1150">
                <a:solidFill>
                  <a:srgbClr val="A8B8C8"/>
                </a:solidFill>
                <a:latin typeface="Calibri"/>
              </a:rPr>
              <a:t>• The test is whether all facts surrounding the dog’s behavior, viewed through common sense, support PC.</a:t>
            </a:r>
          </a:p>
          <a:p>
            <a:r>
              <a:rPr sz="1150">
                <a:solidFill>
                  <a:srgbClr val="A8B8C8"/>
                </a:solidFill>
                <a:latin typeface="Calibri"/>
              </a:rPr>
              <a:t>• Training, certification, and the handlers’ familiarity with the specific dogs supported reliability.</a:t>
            </a:r>
          </a:p>
        </p:txBody>
      </p:sp>
      <p:sp>
        <p:nvSpPr>
          <p:cNvPr id="8" name="Shape 6"/>
          <p:cNvSpPr/>
          <p:nvPr/>
        </p:nvSpPr>
        <p:spPr>
          <a:xfrm>
            <a:off x="4663440" y="822960"/>
            <a:ext cx="4023360" cy="3474720"/>
          </a:xfrm>
          <a:prstGeom prst="roundRect">
            <a:avLst>
              <a:gd name="adj" fmla="val 1579"/>
            </a:avLst>
          </a:prstGeom>
          <a:solidFill>
            <a:srgbClr val="0F1F2E"/>
          </a:solidFill>
          <a:ln/>
        </p:spPr>
        <p:txBody>
          <a:bodyPr/>
          <a:lstStyle/>
          <a:p>
            <a:endParaRPr lang="en-US"/>
          </a:p>
        </p:txBody>
      </p:sp>
      <p:sp>
        <p:nvSpPr>
          <p:cNvPr id="9" name="Text 7"/>
          <p:cNvSpPr/>
          <p:nvPr/>
        </p:nvSpPr>
        <p:spPr>
          <a:xfrm>
            <a:off x="4846320" y="960120"/>
            <a:ext cx="3657600" cy="27432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Dissent &amp; Takeaway</a:t>
            </a:r>
            <a:endParaRPr lang="en-US" sz="1400" dirty="0"/>
          </a:p>
        </p:txBody>
      </p:sp>
      <p:sp>
        <p:nvSpPr>
          <p:cNvPr id="10" name="Text 8"/>
          <p:cNvSpPr/>
          <p:nvPr/>
        </p:nvSpPr>
        <p:spPr>
          <a:xfrm>
            <a:off x="4846320" y="1325880"/>
            <a:ext cx="3657600" cy="2743200"/>
          </a:xfrm>
          <a:prstGeom prst="rect">
            <a:avLst/>
          </a:prstGeom>
          <a:noFill/>
          <a:ln/>
        </p:spPr>
        <p:txBody>
          <a:bodyPr wrap="square" rtlCol="0" anchor="ctr"/>
          <a:lstStyle/>
          <a:p>
            <a:r>
              <a:rPr sz="1100">
                <a:solidFill>
                  <a:srgbClr val="A8B8C8"/>
                </a:solidFill>
                <a:latin typeface="Calibri"/>
              </a:rPr>
              <a:t>Judge Rosenbaum dissented in part, viewing the descriptions as too general and subjective.</a:t>
            </a:r>
          </a:p>
          <a:p>
            <a:endParaRPr sz="1100">
              <a:solidFill>
                <a:srgbClr val="A8B8C8"/>
              </a:solidFill>
              <a:latin typeface="Calibri"/>
            </a:endParaRPr>
          </a:p>
          <a:p>
            <a:r>
              <a:rPr sz="1100">
                <a:solidFill>
                  <a:srgbClr val="A8B8C8"/>
                </a:solidFill>
                <a:latin typeface="Calibri"/>
              </a:rPr>
              <a:t>Classroom takeaway: Specific observable behavior, handler familiarity, training/certification and the surrounding circumstances determine whether a handler-recognized alert establishes PC. A clear trained final response remains stronger evidence, and complete video matters.</a:t>
            </a:r>
          </a:p>
          <a:p>
            <a:r>
              <a:rPr sz="1100" i="1">
                <a:solidFill>
                  <a:srgbClr val="A8B8C8"/>
                </a:solidFill>
                <a:latin typeface="Calibri"/>
              </a:rPr>
              <a:t>Behavior science note: the behavioral changes Braddy credits are Intrinsic Behavior under the Four Classes model. The trained final response communicates a conclusion the dog's behavior already reached — it is not the moment of discovery.</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20DFC244-A8A3-A133-5A2C-285D30F07AFC}"/>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5845A212-ECC5-A5FB-1F04-249776EC2392}"/>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246D-C19B-642A-A70E-AC9C077454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1534DDD-0BA4-6D16-6A4F-ABCB089F5FDB}"/>
              </a:ext>
            </a:extLst>
          </p:cNvPr>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driguez.jpg"/>
          <p:cNvPicPr>
            <a:picLocks noChangeAspect="1"/>
          </p:cNvPicPr>
          <p:nvPr/>
        </p:nvPicPr>
        <p:blipFill>
          <a:blip r:embed="rId2"/>
          <a:stretch>
            <a:fillRect/>
          </a:stretch>
        </p:blipFill>
        <p:spPr>
          <a:xfrm>
            <a:off x="0" y="0"/>
            <a:ext cx="2999232" cy="4800600"/>
          </a:xfrm>
          <a:prstGeom prst="rect">
            <a:avLst/>
          </a:prstGeom>
        </p:spPr>
      </p:pic>
      <p:sp>
        <p:nvSpPr>
          <p:cNvPr id="4" name="Text 2">
            <a:extLst>
              <a:ext uri="{FF2B5EF4-FFF2-40B4-BE49-F238E27FC236}">
                <a16:creationId xmlns:a16="http://schemas.microsoft.com/office/drawing/2014/main" id="{95B0ADC0-D10A-FC59-E5B8-D776135C29FA}"/>
              </a:ext>
            </a:extLst>
          </p:cNvPr>
          <p:cNvSpPr/>
          <p:nvPr/>
        </p:nvSpPr>
        <p:spPr>
          <a:xfrm>
            <a:off x="3163824" y="365759"/>
            <a:ext cx="5870448" cy="919731"/>
          </a:xfrm>
          <a:prstGeom prst="rect">
            <a:avLst/>
          </a:prstGeom>
          <a:noFill/>
          <a:ln/>
        </p:spPr>
        <p:txBody>
          <a:bodyPr wrap="square" rtlCol="0" anchor="ctr"/>
          <a:lstStyle/>
          <a:p>
            <a:r>
              <a:rPr sz="2400" b="1" dirty="0">
                <a:solidFill>
                  <a:schemeClr val="bg1"/>
                </a:solidFill>
              </a:rPr>
              <a:t>United States v. Ostertag, No. 25-8055 (10th Cir. 2026)</a:t>
            </a:r>
            <a:r>
              <a:rPr lang="en-US" sz="2400" b="1" dirty="0">
                <a:solidFill>
                  <a:schemeClr val="bg1"/>
                </a:solidFill>
              </a:rPr>
              <a:t> </a:t>
            </a:r>
          </a:p>
          <a:p>
            <a:r>
              <a:rPr lang="en-US" dirty="0">
                <a:solidFill>
                  <a:schemeClr val="bg1"/>
                </a:solidFill>
              </a:rPr>
              <a:t>Sept. 8, 2026  •  Persuasive only in Alabama</a:t>
            </a:r>
            <a:endParaRPr dirty="0">
              <a:solidFill>
                <a:schemeClr val="bg1"/>
              </a:solidFill>
            </a:endParaRPr>
          </a:p>
        </p:txBody>
      </p:sp>
      <p:sp>
        <p:nvSpPr>
          <p:cNvPr id="9" name="Text 7">
            <a:extLst>
              <a:ext uri="{FF2B5EF4-FFF2-40B4-BE49-F238E27FC236}">
                <a16:creationId xmlns:a16="http://schemas.microsoft.com/office/drawing/2014/main" id="{2F313F5D-A308-F619-AD36-EEDD347497F2}"/>
              </a:ext>
            </a:extLst>
          </p:cNvPr>
          <p:cNvSpPr/>
          <p:nvPr/>
        </p:nvSpPr>
        <p:spPr>
          <a:xfrm>
            <a:off x="3163824" y="1415144"/>
            <a:ext cx="5870448" cy="1506374"/>
          </a:xfrm>
          <a:prstGeom prst="rect">
            <a:avLst/>
          </a:prstGeom>
          <a:noFill/>
          <a:ln/>
        </p:spPr>
        <p:txBody>
          <a:bodyPr wrap="square" rtlCol="0" anchor="ctr"/>
          <a:lstStyle/>
          <a:p>
            <a:r>
              <a:rPr lang="en-US" dirty="0">
                <a:solidFill>
                  <a:schemeClr val="bg1"/>
                </a:solidFill>
              </a:rPr>
              <a:t>Key Facts</a:t>
            </a:r>
          </a:p>
          <a:p>
            <a:r>
              <a:rPr dirty="0">
                <a:solidFill>
                  <a:schemeClr val="bg1"/>
                </a:solidFill>
              </a:rPr>
              <a:t>During a lawful traffic stop, a certified narcotics dog conducted an exterior sniff. Before touching the vehicle, the dog displayed alert-related behavior the handler associated with target odor. The dog later placed her front paws on the vehicle.</a:t>
            </a:r>
          </a:p>
        </p:txBody>
      </p:sp>
      <p:sp>
        <p:nvSpPr>
          <p:cNvPr id="10" name="Text 8">
            <a:extLst>
              <a:ext uri="{FF2B5EF4-FFF2-40B4-BE49-F238E27FC236}">
                <a16:creationId xmlns:a16="http://schemas.microsoft.com/office/drawing/2014/main" id="{E77E3929-CD9D-C188-89E6-56DC68C63F93}"/>
              </a:ext>
            </a:extLst>
          </p:cNvPr>
          <p:cNvSpPr/>
          <p:nvPr/>
        </p:nvSpPr>
        <p:spPr>
          <a:xfrm>
            <a:off x="3163824" y="2921517"/>
            <a:ext cx="5870448" cy="274320"/>
          </a:xfrm>
          <a:prstGeom prst="rect">
            <a:avLst/>
          </a:prstGeom>
          <a:noFill/>
          <a:ln/>
        </p:spPr>
        <p:txBody>
          <a:bodyPr wrap="square" rtlCol="0" anchor="t"/>
          <a:lstStyle/>
          <a:p>
            <a:r>
              <a:rPr sz="1400" b="1">
                <a:solidFill>
                  <a:srgbClr val="D4A84B"/>
                </a:solidFill>
                <a:latin typeface="Calibri"/>
              </a:rPr>
              <a:t>Holding</a:t>
            </a:r>
          </a:p>
        </p:txBody>
      </p:sp>
      <p:sp>
        <p:nvSpPr>
          <p:cNvPr id="11" name="Text 9">
            <a:extLst>
              <a:ext uri="{FF2B5EF4-FFF2-40B4-BE49-F238E27FC236}">
                <a16:creationId xmlns:a16="http://schemas.microsoft.com/office/drawing/2014/main" id="{A3D82018-0175-3886-1F3C-F200359C0034}"/>
              </a:ext>
            </a:extLst>
          </p:cNvPr>
          <p:cNvSpPr/>
          <p:nvPr/>
        </p:nvSpPr>
        <p:spPr>
          <a:xfrm>
            <a:off x="3163824" y="3260000"/>
            <a:ext cx="5870448" cy="1250000"/>
          </a:xfrm>
          <a:prstGeom prst="rect">
            <a:avLst/>
          </a:prstGeom>
          <a:noFill/>
          <a:ln/>
        </p:spPr>
        <p:txBody>
          <a:bodyPr wrap="square" rtlCol="0" anchor="t"/>
          <a:lstStyle/>
          <a:p>
            <a:r>
              <a:rPr dirty="0">
                <a:solidFill>
                  <a:schemeClr val="bg1"/>
                </a:solidFill>
              </a:rPr>
              <a:t>1. Caballes still governed the exterior public-roadway sniff.</a:t>
            </a:r>
          </a:p>
          <a:p>
            <a:r>
              <a:rPr dirty="0">
                <a:solidFill>
                  <a:schemeClr val="bg1"/>
                </a:solidFill>
              </a:rPr>
              <a:t>2. The court assumed without deciding that physical contact while sniffing might be a search.</a:t>
            </a:r>
          </a:p>
          <a:p>
            <a:r>
              <a:rPr dirty="0">
                <a:solidFill>
                  <a:schemeClr val="bg1"/>
                </a:solidFill>
              </a:rPr>
              <a:t>3. Probable cause already existed based on pre-contact alert behavior.</a:t>
            </a:r>
          </a:p>
          <a:p>
            <a:r>
              <a:rPr dirty="0">
                <a:solidFill>
                  <a:schemeClr val="bg1"/>
                </a:solidFill>
              </a:rPr>
              <a:t>4. Teaching point: do not rely on the dog touching the vehicle; articulate what the dog did before contact.</a:t>
            </a:r>
          </a:p>
        </p:txBody>
      </p:sp>
      <p:pic>
        <p:nvPicPr>
          <p:cNvPr id="16" name="Image 1" descr="/home/workdir/artifacts/moody_detective_badge.jpg">
            <a:extLst>
              <a:ext uri="{FF2B5EF4-FFF2-40B4-BE49-F238E27FC236}">
                <a16:creationId xmlns:a16="http://schemas.microsoft.com/office/drawing/2014/main" id="{77FB0569-5478-D929-0F15-5CEB620AB4FA}"/>
              </a:ext>
            </a:extLst>
          </p:cNvPr>
          <p:cNvPicPr>
            <a:picLocks noChangeAspect="1"/>
          </p:cNvPicPr>
          <p:nvPr/>
        </p:nvPicPr>
        <p:blipFill>
          <a:blip/>
          <a:stretch>
            <a:fillRect/>
          </a:stretch>
        </p:blipFill>
        <p:spPr>
          <a:xfrm>
            <a:off x="8206740" y="4537608"/>
            <a:ext cx="548640" cy="538517"/>
          </a:xfrm>
          <a:prstGeom prst="rect">
            <a:avLst/>
          </a:prstGeom>
        </p:spPr>
      </p:pic>
      <p:sp>
        <p:nvSpPr>
          <p:cNvPr id="15" name="Text 12">
            <a:extLst>
              <a:ext uri="{FF2B5EF4-FFF2-40B4-BE49-F238E27FC236}">
                <a16:creationId xmlns:a16="http://schemas.microsoft.com/office/drawing/2014/main" id="{D9E67AD0-0C2C-62BD-1795-19CD54194A2C}"/>
              </a:ext>
            </a:extLst>
          </p:cNvPr>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29</a:t>
            </a:r>
          </a:p>
        </p:txBody>
      </p:sp>
    </p:spTree>
    <p:extLst>
      <p:ext uri="{BB962C8B-B14F-4D97-AF65-F5344CB8AC3E}">
        <p14:creationId xmlns:p14="http://schemas.microsoft.com/office/powerpoint/2010/main" val="2871237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jone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United States v. Jones (2012)</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565 U.S. 400  •  9–0  •  Justice Scalia (majority)</a:t>
            </a:r>
            <a:endParaRPr lang="en-US" sz="1200" dirty="0"/>
          </a:p>
        </p:txBody>
      </p:sp>
      <p:sp>
        <p:nvSpPr>
          <p:cNvPr id="6" name="Shape 4"/>
          <p:cNvSpPr/>
          <p:nvPr/>
        </p:nvSpPr>
        <p:spPr>
          <a:xfrm>
            <a:off x="3163824" y="1005840"/>
            <a:ext cx="5870448" cy="731520"/>
          </a:xfrm>
          <a:prstGeom prst="roundRect">
            <a:avLst>
              <a:gd name="adj" fmla="val 7500"/>
            </a:avLst>
          </a:prstGeom>
          <a:solidFill>
            <a:srgbClr val="0F1F2E"/>
          </a:solidFill>
          <a:ln/>
        </p:spPr>
        <p:txBody>
          <a:bodyPr/>
          <a:lstStyle/>
          <a:p>
            <a:endParaRPr lang="en-US"/>
          </a:p>
        </p:txBody>
      </p:sp>
      <p:sp>
        <p:nvSpPr>
          <p:cNvPr id="7" name="Text 5"/>
          <p:cNvSpPr/>
          <p:nvPr/>
        </p:nvSpPr>
        <p:spPr>
          <a:xfrm>
            <a:off x="3163824" y="1143000"/>
            <a:ext cx="5870448" cy="4572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Attaching a GPS tracking device to a vehicle and using it to monitor movements is a Fourth Amendment search.</a:t>
            </a:r>
            <a:endParaRPr lang="en-US" sz="1400" dirty="0"/>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Property / Trespass Theory</a:t>
            </a:r>
            <a:endParaRPr lang="en-US" sz="1400" dirty="0"/>
          </a:p>
        </p:txBody>
      </p:sp>
      <p:sp>
        <p:nvSpPr>
          <p:cNvPr id="9" name="Text 7"/>
          <p:cNvSpPr/>
          <p:nvPr/>
        </p:nvSpPr>
        <p:spPr>
          <a:xfrm>
            <a:off x="3163824" y="2286000"/>
            <a:ext cx="5870448" cy="182880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The majority held that when the Government physically occupies private property (the vehicle — an “effect”) for the purpose of obtaining information, a search has occurred. This restored the common-law trespass understanding of the Fourth Amendment.</a:t>
            </a:r>
            <a:endParaRPr lang="en-US" sz="1300" dirty="0"/>
          </a:p>
          <a:p>
            <a:pPr marL="0" indent="0">
              <a:buNone/>
            </a:pP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One year later, Jardines applied the same property theory to a drug dog on a front porch. Both cases involve physical intrusion onto protected property for investigative purposes.</a:t>
            </a:r>
            <a:endParaRPr lang="en-US" sz="1300" dirty="0"/>
          </a:p>
        </p:txBody>
      </p:sp>
      <p:pic>
        <p:nvPicPr>
          <p:cNvPr id="14" name="Image 1" descr="/home/workdir/artifacts/moody_detective_badge.jpg">
            <a:extLst>
              <a:ext uri="{FF2B5EF4-FFF2-40B4-BE49-F238E27FC236}">
                <a16:creationId xmlns:a16="http://schemas.microsoft.com/office/drawing/2014/main" id="{2269050E-8BAF-C80D-C842-9F12ECA37CF0}"/>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595A7FC9-DFDC-13B4-FA8F-6C6A29894D0D}"/>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katz.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FOUNDATIONAL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Katz v. United States (1967)</a:t>
            </a:r>
            <a:endParaRPr lang="en-US" sz="20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389 U.S. 347  •  The Fourth Amendment protects people, not places</a:t>
            </a:r>
            <a:endParaRPr lang="en-US" sz="1200" dirty="0"/>
          </a:p>
        </p:txBody>
      </p:sp>
      <p:sp>
        <p:nvSpPr>
          <p:cNvPr id="6" name="Text 4"/>
          <p:cNvSpPr/>
          <p:nvPr/>
        </p:nvSpPr>
        <p:spPr>
          <a:xfrm>
            <a:off x="3163824" y="10515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Harlan Two-Part Test (still used today)</a:t>
            </a:r>
            <a:endParaRPr lang="en-US" sz="1400" dirty="0"/>
          </a:p>
        </p:txBody>
      </p:sp>
      <p:sp>
        <p:nvSpPr>
          <p:cNvPr id="7" name="Text 5"/>
          <p:cNvSpPr/>
          <p:nvPr/>
        </p:nvSpPr>
        <p:spPr>
          <a:xfrm>
            <a:off x="3163824" y="1371600"/>
            <a:ext cx="5870448" cy="64008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1. Did the person exhibit an actual (subjective) expectation of privacy?</a:t>
            </a:r>
            <a:endParaRPr lang="en-US" sz="1300" dirty="0"/>
          </a:p>
          <a:p>
            <a:pPr marL="0" indent="0">
              <a:buNone/>
            </a:pPr>
            <a:r>
              <a:rPr lang="en-US" sz="1300" dirty="0">
                <a:solidFill>
                  <a:srgbClr val="A8B8C8"/>
                </a:solidFill>
                <a:latin typeface="Calibri" pitchFamily="34" charset="0"/>
                <a:ea typeface="Calibri" pitchFamily="34" charset="-122"/>
                <a:cs typeface="Calibri" pitchFamily="34" charset="-120"/>
              </a:rPr>
              <a:t>2. Is that expectation one that society is prepared to recognize as reasonable?</a:t>
            </a:r>
            <a:endParaRPr lang="en-US" sz="1300" dirty="0"/>
          </a:p>
        </p:txBody>
      </p:sp>
      <p:sp>
        <p:nvSpPr>
          <p:cNvPr id="8" name="Text 6"/>
          <p:cNvSpPr/>
          <p:nvPr/>
        </p:nvSpPr>
        <p:spPr>
          <a:xfrm>
            <a:off x="3163824" y="21945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Why Katz Still Matters for K9 Work</a:t>
            </a:r>
            <a:endParaRPr lang="en-US" sz="1400" dirty="0"/>
          </a:p>
        </p:txBody>
      </p:sp>
      <p:sp>
        <p:nvSpPr>
          <p:cNvPr id="9" name="Text 7"/>
          <p:cNvSpPr/>
          <p:nvPr/>
        </p:nvSpPr>
        <p:spPr>
          <a:xfrm>
            <a:off x="3163824" y="2560320"/>
            <a:ext cx="5870448" cy="1737360"/>
          </a:xfrm>
          <a:prstGeom prst="rect">
            <a:avLst/>
          </a:prstGeom>
          <a:noFill/>
          <a:ln/>
        </p:spPr>
        <p:txBody>
          <a:bodyPr wrap="square" rtlCol="0" anchor="ctr"/>
          <a:lstStyle/>
          <a:p>
            <a:r>
              <a:rPr sz="1140">
                <a:solidFill>
                  <a:srgbClr val="A8B8C8"/>
                </a:solidFill>
                <a:latin typeface="Calibri"/>
              </a:rPr>
              <a:t>Caballes and Place rely on the idea that there is no legitimate expectation of privacy in contraband. Jardines and Jones confirm that property/trespass analysis also remains available.</a:t>
            </a:r>
          </a:p>
          <a:p>
            <a:endParaRPr sz="1140">
              <a:solidFill>
                <a:srgbClr val="A8B8C8"/>
              </a:solidFill>
              <a:latin typeface="Calibri"/>
            </a:endParaRPr>
          </a:p>
          <a:p>
            <a:r>
              <a:rPr sz="1140">
                <a:solidFill>
                  <a:srgbClr val="A8B8C8"/>
                </a:solidFill>
                <a:latin typeface="Calibri"/>
              </a:rPr>
              <a:t>Field rule: Katz privacy analysis and property/trespass analysis coexist. Depending on the facts, either can establish that a search occurred. For homes, apartment doors, and curtilage, analyze lawful access carefully under Jardines, Earl, Collins, and Katz as applicable.</a:t>
            </a:r>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B53F79E4-5EBE-BFF3-E606-B1D960E30B93}"/>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32F51E7B-B076-5409-419C-543E1228777E}"/>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7" name="Rectangle 16"/>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imm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LANDMARK CASE</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r>
              <a:rPr sz="1800" b="1">
                <a:solidFill>
                  <a:srgbClr val="FFFFFF"/>
                </a:solidFill>
                <a:latin typeface="Calibri"/>
              </a:rPr>
              <a:t>Mimms + Wilson + Johnson</a:t>
            </a:r>
          </a:p>
        </p:txBody>
      </p:sp>
      <p:sp>
        <p:nvSpPr>
          <p:cNvPr id="5" name="Text 3"/>
          <p:cNvSpPr/>
          <p:nvPr/>
        </p:nvSpPr>
        <p:spPr>
          <a:xfrm>
            <a:off x="3163824" y="685800"/>
            <a:ext cx="5870448" cy="201168"/>
          </a:xfrm>
          <a:prstGeom prst="rect">
            <a:avLst/>
          </a:prstGeom>
          <a:noFill/>
          <a:ln/>
        </p:spPr>
        <p:txBody>
          <a:bodyPr wrap="square" rtlCol="0" anchor="ctr"/>
          <a:lstStyle/>
          <a:p>
            <a:r>
              <a:rPr sz="1100">
                <a:solidFill>
                  <a:srgbClr val="0D7377"/>
                </a:solidFill>
                <a:latin typeface="Calibri"/>
              </a:rPr>
              <a:t>Mimms: driver • Wilson: passengers • Johnson: frisk requires separate armed/dangerous RS</a:t>
            </a:r>
          </a:p>
        </p:txBody>
      </p:sp>
      <p:sp>
        <p:nvSpPr>
          <p:cNvPr id="6" name="Shape 4"/>
          <p:cNvSpPr/>
          <p:nvPr/>
        </p:nvSpPr>
        <p:spPr>
          <a:xfrm>
            <a:off x="3163824" y="1005840"/>
            <a:ext cx="5870448" cy="777240"/>
          </a:xfrm>
          <a:prstGeom prst="roundRect">
            <a:avLst>
              <a:gd name="adj" fmla="val 7059"/>
            </a:avLst>
          </a:prstGeom>
          <a:solidFill>
            <a:srgbClr val="0F1F2E"/>
          </a:solidFill>
          <a:ln/>
        </p:spPr>
        <p:txBody>
          <a:bodyPr/>
          <a:lstStyle/>
          <a:p>
            <a:endParaRPr lang="en-US"/>
          </a:p>
        </p:txBody>
      </p:sp>
      <p:sp>
        <p:nvSpPr>
          <p:cNvPr id="7" name="Text 5"/>
          <p:cNvSpPr/>
          <p:nvPr/>
        </p:nvSpPr>
        <p:spPr>
          <a:xfrm>
            <a:off x="3163824" y="1143000"/>
            <a:ext cx="5870448" cy="502920"/>
          </a:xfrm>
          <a:prstGeom prst="rect">
            <a:avLst/>
          </a:prstGeom>
          <a:noFill/>
          <a:ln/>
        </p:spPr>
        <p:txBody>
          <a:bodyPr wrap="square" rtlCol="0" anchor="ctr"/>
          <a:lstStyle/>
          <a:p>
            <a:r>
              <a:rPr sz="1300" b="1">
                <a:solidFill>
                  <a:srgbClr val="D4A84B"/>
                </a:solidFill>
                <a:latin typeface="Calibri"/>
              </a:rPr>
              <a:t>During a lawful traffic stop, an officer may order the driver and passengers out of the vehicle for officer safety.</a:t>
            </a:r>
          </a:p>
          <a:p>
            <a:endParaRPr sz="1300" b="1">
              <a:solidFill>
                <a:srgbClr val="D4A84B"/>
              </a:solidFill>
              <a:latin typeface="Calibri"/>
            </a:endParaRPr>
          </a:p>
          <a:p>
            <a:r>
              <a:rPr sz="1300" b="1">
                <a:solidFill>
                  <a:srgbClr val="D4A84B"/>
                </a:solidFill>
                <a:latin typeface="Calibri"/>
              </a:rPr>
              <a:t>ORDER OUT ≠ FRISK.</a:t>
            </a:r>
          </a:p>
        </p:txBody>
      </p:sp>
      <p:sp>
        <p:nvSpPr>
          <p:cNvPr id="8" name="Text 6"/>
          <p:cNvSpPr/>
          <p:nvPr/>
        </p:nvSpPr>
        <p:spPr>
          <a:xfrm>
            <a:off x="3163824" y="19659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Core Reasoning</a:t>
            </a:r>
            <a:endParaRPr lang="en-US" sz="1400" dirty="0"/>
          </a:p>
        </p:txBody>
      </p:sp>
      <p:sp>
        <p:nvSpPr>
          <p:cNvPr id="9" name="Text 7"/>
          <p:cNvSpPr/>
          <p:nvPr/>
        </p:nvSpPr>
        <p:spPr>
          <a:xfrm>
            <a:off x="3163824" y="2286000"/>
            <a:ext cx="5870448" cy="2011680"/>
          </a:xfrm>
          <a:prstGeom prst="rect">
            <a:avLst/>
          </a:prstGeom>
          <a:noFill/>
          <a:ln/>
        </p:spPr>
        <p:txBody>
          <a:bodyPr wrap="square" rtlCol="0" anchor="ctr"/>
          <a:lstStyle/>
          <a:p>
            <a:r>
              <a:rPr sz="1150">
                <a:solidFill>
                  <a:srgbClr val="A8B8C8"/>
                </a:solidFill>
                <a:latin typeface="Calibri"/>
              </a:rPr>
              <a:t>• Officer safety is a weighty interest during traffic stops.</a:t>
            </a:r>
          </a:p>
          <a:p>
            <a:r>
              <a:rPr sz="1150">
                <a:solidFill>
                  <a:srgbClr val="A8B8C8"/>
                </a:solidFill>
                <a:latin typeface="Calibri"/>
              </a:rPr>
              <a:t>• Mimms applies to drivers; Wilson extends the rule to passengers.</a:t>
            </a:r>
          </a:p>
          <a:p>
            <a:r>
              <a:rPr sz="1150">
                <a:solidFill>
                  <a:srgbClr val="A8B8C8"/>
                </a:solidFill>
                <a:latin typeface="Calibri"/>
              </a:rPr>
              <a:t>• Ordering someone out is a minimal additional intrusion during a lawful stop.</a:t>
            </a:r>
          </a:p>
          <a:p>
            <a:r>
              <a:rPr sz="1150">
                <a:solidFill>
                  <a:srgbClr val="A8B8C8"/>
                </a:solidFill>
                <a:latin typeface="Calibri"/>
              </a:rPr>
              <a:t>• A patdown/frisk is different: Arizona v. Johnson requires reasonable suspicion that the person is armed and dangerous.</a:t>
            </a:r>
          </a:p>
          <a:p>
            <a:endParaRPr sz="1150">
              <a:solidFill>
                <a:srgbClr val="A8B8C8"/>
              </a:solidFill>
              <a:latin typeface="Calibri"/>
            </a:endParaRPr>
          </a:p>
          <a:p>
            <a:r>
              <a:rPr sz="1150">
                <a:solidFill>
                  <a:srgbClr val="A8B8C8"/>
                </a:solidFill>
                <a:latin typeface="Calibri"/>
              </a:rPr>
              <a:t>Practical point: You may order occupants out during a lawful stop, but articulate separate facts before frisking.</a:t>
            </a:r>
          </a:p>
        </p:txBody>
      </p:sp>
      <p:sp>
        <p:nvSpPr>
          <p:cNvPr id="10" name="Shape 8"/>
          <p:cNvSpPr/>
          <p:nvPr/>
        </p:nvSpPr>
        <p:spPr>
          <a:xfrm>
            <a:off x="0" y="4800600"/>
            <a:ext cx="9144000" cy="342900"/>
          </a:xfrm>
          <a:prstGeom prst="rect">
            <a:avLst/>
          </a:prstGeom>
          <a:solidFill>
            <a:srgbClr val="061018"/>
          </a:solidFill>
          <a:ln/>
        </p:spPr>
        <p:txBody>
          <a:bodyPr/>
          <a:lstStyle/>
          <a:p>
            <a:endParaRPr lang="en-US"/>
          </a:p>
        </p:txBody>
      </p:sp>
      <p:pic>
        <p:nvPicPr>
          <p:cNvPr id="14" name="Image 1" descr="/home/workdir/artifacts/moody_detective_badge.jpg">
            <a:extLst>
              <a:ext uri="{FF2B5EF4-FFF2-40B4-BE49-F238E27FC236}">
                <a16:creationId xmlns:a16="http://schemas.microsoft.com/office/drawing/2014/main" id="{0365F534-BB84-97FB-D98E-3CF53F36AC4A}"/>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5" name="Picture 14">
            <a:extLst>
              <a:ext uri="{FF2B5EF4-FFF2-40B4-BE49-F238E27FC236}">
                <a16:creationId xmlns:a16="http://schemas.microsoft.com/office/drawing/2014/main" id="{D09BD6BC-E9C0-018F-973A-E06334E74100}"/>
              </a:ext>
            </a:extLst>
          </p:cNvPr>
          <p:cNvPicPr>
            <a:picLocks noChangeAspect="1"/>
          </p:cNvPicPr>
          <p:nvPr/>
        </p:nvPicPr>
        <p:blipFill>
          <a:blip r:embed="rId4"/>
          <a:stretch>
            <a:fillRect/>
          </a:stretch>
        </p:blipFill>
        <p:spPr>
          <a:xfrm>
            <a:off x="561875" y="4555167"/>
            <a:ext cx="891540" cy="459278"/>
          </a:xfrm>
          <a:prstGeom prst="rect">
            <a:avLst/>
          </a:prstGeom>
        </p:spPr>
      </p:pic>
      <p:sp>
        <p:nvSpPr>
          <p:cNvPr id="13" name="Text 10"/>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9" name="Rectangle 18"/>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imm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r>
              <a:rPr sz="1000" b="1">
                <a:solidFill>
                  <a:srgbClr val="0D7377"/>
                </a:solidFill>
                <a:latin typeface="Calibri"/>
              </a:rPr>
              <a:t>PERSUASIVE AUTHORITY — NOT ALABAMA CONTROL</a:t>
            </a:r>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State v. Creller, 386 So. 3d 487 (Fla. 2024)</a:t>
            </a:r>
            <a:endParaRPr lang="en-US" sz="1700" dirty="0"/>
          </a:p>
        </p:txBody>
      </p:sp>
      <p:sp>
        <p:nvSpPr>
          <p:cNvPr id="5" name="Text 3"/>
          <p:cNvSpPr/>
          <p:nvPr/>
        </p:nvSpPr>
        <p:spPr>
          <a:xfrm>
            <a:off x="3163824" y="685800"/>
            <a:ext cx="5870448" cy="201168"/>
          </a:xfrm>
          <a:prstGeom prst="rect">
            <a:avLst/>
          </a:prstGeom>
          <a:noFill/>
          <a:ln/>
        </p:spPr>
        <p:txBody>
          <a:bodyPr wrap="square" rtlCol="0" anchor="ctr"/>
          <a:lstStyle/>
          <a:p>
            <a:pPr marL="0" indent="0">
              <a:buNone/>
            </a:pPr>
            <a:r>
              <a:rPr lang="en-US" sz="1200" dirty="0">
                <a:solidFill>
                  <a:srgbClr val="0D7377"/>
                </a:solidFill>
                <a:latin typeface="Calibri" pitchFamily="34" charset="0"/>
                <a:ea typeface="Calibri" pitchFamily="34" charset="-122"/>
                <a:cs typeface="Calibri" pitchFamily="34" charset="-120"/>
              </a:rPr>
              <a:t>No. SC2022-0524  •  May 23, 2024  •  Justice Francis</a:t>
            </a:r>
            <a:endParaRPr lang="en-US" sz="1200" dirty="0"/>
          </a:p>
        </p:txBody>
      </p:sp>
      <p:sp>
        <p:nvSpPr>
          <p:cNvPr id="6" name="Shape 4"/>
          <p:cNvSpPr/>
          <p:nvPr/>
        </p:nvSpPr>
        <p:spPr>
          <a:xfrm>
            <a:off x="3163824" y="1005840"/>
            <a:ext cx="5870448" cy="731520"/>
          </a:xfrm>
          <a:prstGeom prst="roundRect">
            <a:avLst>
              <a:gd name="adj" fmla="val 7500"/>
            </a:avLst>
          </a:prstGeom>
          <a:solidFill>
            <a:srgbClr val="0F1F2E"/>
          </a:solidFill>
          <a:ln/>
        </p:spPr>
        <p:txBody>
          <a:bodyPr/>
          <a:lstStyle/>
          <a:p>
            <a:endParaRPr lang="en-US"/>
          </a:p>
        </p:txBody>
      </p:sp>
      <p:sp>
        <p:nvSpPr>
          <p:cNvPr id="7" name="Text 5"/>
          <p:cNvSpPr/>
          <p:nvPr/>
        </p:nvSpPr>
        <p:spPr>
          <a:xfrm>
            <a:off x="3163824" y="1143000"/>
            <a:ext cx="5870448" cy="457200"/>
          </a:xfrm>
          <a:prstGeom prst="rect">
            <a:avLst/>
          </a:prstGeom>
          <a:noFill/>
          <a:ln/>
        </p:spPr>
        <p:txBody>
          <a:bodyPr wrap="square" rtlCol="0" anchor="ctr"/>
          <a:lstStyle/>
          <a:p>
            <a:r>
              <a:rPr sz="1300" b="1">
                <a:solidFill>
                  <a:srgbClr val="D4A84B"/>
                </a:solidFill>
                <a:latin typeface="Calibri"/>
              </a:rPr>
              <a:t>A Florida Supreme Court decision held that a K9 officer arriving midway through a lawful traffic stop may command the driver to exit for officer safety before a lawful exterior dog sniff.</a:t>
            </a:r>
          </a:p>
        </p:txBody>
      </p:sp>
      <p:sp>
        <p:nvSpPr>
          <p:cNvPr id="8" name="Text 6"/>
          <p:cNvSpPr/>
          <p:nvPr/>
        </p:nvSpPr>
        <p:spPr>
          <a:xfrm>
            <a:off x="3163824" y="192024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Key Facts</a:t>
            </a:r>
            <a:endParaRPr lang="en-US" sz="1400" dirty="0"/>
          </a:p>
        </p:txBody>
      </p:sp>
      <p:sp>
        <p:nvSpPr>
          <p:cNvPr id="9" name="Text 7"/>
          <p:cNvSpPr/>
          <p:nvPr/>
        </p:nvSpPr>
        <p:spPr>
          <a:xfrm>
            <a:off x="3163824" y="2194560"/>
            <a:ext cx="5870448" cy="1188720"/>
          </a:xfrm>
          <a:prstGeom prst="rect">
            <a:avLst/>
          </a:prstGeom>
          <a:noFill/>
          <a:ln/>
        </p:spPr>
        <p:txBody>
          <a:bodyPr wrap="square" rtlCol="0" anchor="ctr"/>
          <a:lstStyle/>
          <a:p>
            <a:r>
              <a:rPr sz="1100">
                <a:solidFill>
                  <a:srgbClr val="A8B8C8"/>
                </a:solidFill>
                <a:latin typeface="Calibri"/>
              </a:rPr>
              <a:t>Traffic stop for cutting through a parking lot. Consent refused; K9 called. When the handler arrived, the citation was still being written. Handler ordered Creller out for safety because the driver remained in control of the vehicle while handler and dog would work around it. Creller refused and was removed; methamphetamine was found after arrest.</a:t>
            </a:r>
          </a:p>
        </p:txBody>
      </p:sp>
      <p:sp>
        <p:nvSpPr>
          <p:cNvPr id="10" name="Text 8"/>
          <p:cNvSpPr/>
          <p:nvPr/>
        </p:nvSpPr>
        <p:spPr>
          <a:xfrm>
            <a:off x="3163824" y="3520440"/>
            <a:ext cx="5870448" cy="228600"/>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Holding</a:t>
            </a:r>
            <a:endParaRPr lang="en-US" sz="1400" dirty="0"/>
          </a:p>
        </p:txBody>
      </p:sp>
      <p:sp>
        <p:nvSpPr>
          <p:cNvPr id="11" name="Text 9"/>
          <p:cNvSpPr/>
          <p:nvPr/>
        </p:nvSpPr>
        <p:spPr>
          <a:xfrm>
            <a:off x="3163824" y="3794760"/>
            <a:ext cx="5870448" cy="640080"/>
          </a:xfrm>
          <a:prstGeom prst="rect">
            <a:avLst/>
          </a:prstGeom>
          <a:noFill/>
          <a:ln/>
        </p:spPr>
        <p:txBody>
          <a:bodyPr wrap="square" rtlCol="0" anchor="ctr"/>
          <a:lstStyle/>
          <a:p>
            <a:r>
              <a:rPr sz="1120">
                <a:solidFill>
                  <a:srgbClr val="A8B8C8"/>
                </a:solidFill>
                <a:latin typeface="Calibri"/>
              </a:rPr>
              <a:t>Florida Supreme Court quashed the 2d DCA and approved State v. Benjamin. Mimms applied to the K9 officer. Teach Creller as persuasive authority only; Alabama officers still analyze timing under Rodriguez/Campbell.</a:t>
            </a:r>
          </a:p>
        </p:txBody>
      </p:sp>
      <p:sp>
        <p:nvSpPr>
          <p:cNvPr id="12" name="Shape 10"/>
          <p:cNvSpPr/>
          <p:nvPr/>
        </p:nvSpPr>
        <p:spPr>
          <a:xfrm>
            <a:off x="0" y="4800600"/>
            <a:ext cx="9144000" cy="342900"/>
          </a:xfrm>
          <a:prstGeom prst="rect">
            <a:avLst/>
          </a:prstGeom>
          <a:solidFill>
            <a:srgbClr val="061018"/>
          </a:solidFill>
          <a:ln/>
        </p:spPr>
        <p:txBody>
          <a:bodyPr/>
          <a:lstStyle/>
          <a:p>
            <a:endParaRPr lang="en-US"/>
          </a:p>
        </p:txBody>
      </p:sp>
      <p:pic>
        <p:nvPicPr>
          <p:cNvPr id="16" name="Image 1" descr="/home/workdir/artifacts/moody_detective_badge.jpg">
            <a:extLst>
              <a:ext uri="{FF2B5EF4-FFF2-40B4-BE49-F238E27FC236}">
                <a16:creationId xmlns:a16="http://schemas.microsoft.com/office/drawing/2014/main" id="{8D93BF72-2D5A-C0A5-3D50-4FCACD3C9675}"/>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7" name="Picture 16">
            <a:extLst>
              <a:ext uri="{FF2B5EF4-FFF2-40B4-BE49-F238E27FC236}">
                <a16:creationId xmlns:a16="http://schemas.microsoft.com/office/drawing/2014/main" id="{4D028DAB-8465-EF6A-1608-149FA71B8793}"/>
              </a:ext>
            </a:extLst>
          </p:cNvPr>
          <p:cNvPicPr>
            <a:picLocks noChangeAspect="1"/>
          </p:cNvPicPr>
          <p:nvPr/>
        </p:nvPicPr>
        <p:blipFill>
          <a:blip r:embed="rId4"/>
          <a:stretch>
            <a:fillRect/>
          </a:stretch>
        </p:blipFill>
        <p:spPr>
          <a:xfrm>
            <a:off x="561875" y="4555167"/>
            <a:ext cx="891540" cy="459278"/>
          </a:xfrm>
          <a:prstGeom prst="rect">
            <a:avLst/>
          </a:prstGeom>
        </p:spPr>
      </p:pic>
      <p:sp>
        <p:nvSpPr>
          <p:cNvPr id="15" name="Text 12"/>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HANDLER ANALYSIS</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Two Separate Questions — Do Not Confuse Them</a:t>
            </a:r>
            <a:endParaRPr lang="en-US" sz="1700" dirty="0"/>
          </a:p>
        </p:txBody>
      </p:sp>
      <p:sp>
        <p:nvSpPr>
          <p:cNvPr id="5" name="Shape 3"/>
          <p:cNvSpPr/>
          <p:nvPr/>
        </p:nvSpPr>
        <p:spPr>
          <a:xfrm>
            <a:off x="457200" y="822960"/>
            <a:ext cx="402336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640080" y="960120"/>
            <a:ext cx="3657600" cy="320040"/>
          </a:xfrm>
          <a:prstGeom prst="rect">
            <a:avLst/>
          </a:prstGeom>
          <a:noFill/>
          <a:ln/>
        </p:spPr>
        <p:txBody>
          <a:bodyPr wrap="square" rtlCol="0" anchor="ctr"/>
          <a:lstStyle/>
          <a:p>
            <a:pPr marL="0" indent="0">
              <a:buNone/>
            </a:pPr>
            <a:r>
              <a:rPr lang="en-US" sz="1500" b="1" dirty="0">
                <a:solidFill>
                  <a:srgbClr val="D4A84B"/>
                </a:solidFill>
                <a:latin typeface="Calibri" pitchFamily="34" charset="0"/>
                <a:ea typeface="Calibri" pitchFamily="34" charset="-122"/>
                <a:cs typeface="Calibri" pitchFamily="34" charset="-120"/>
              </a:rPr>
              <a:t>1. Can I order them out?</a:t>
            </a:r>
            <a:endParaRPr lang="en-US" sz="1500" dirty="0"/>
          </a:p>
        </p:txBody>
      </p:sp>
      <p:sp>
        <p:nvSpPr>
          <p:cNvPr id="7" name="Text 5"/>
          <p:cNvSpPr/>
          <p:nvPr/>
        </p:nvSpPr>
        <p:spPr>
          <a:xfrm>
            <a:off x="640080" y="1371600"/>
            <a:ext cx="3657600" cy="2834640"/>
          </a:xfrm>
          <a:prstGeom prst="rect">
            <a:avLst/>
          </a:prstGeom>
          <a:noFill/>
          <a:ln/>
        </p:spPr>
        <p:txBody>
          <a:bodyPr wrap="square" rtlCol="0" anchor="ctr"/>
          <a:lstStyle/>
          <a:p>
            <a:r>
              <a:rPr sz="1150">
                <a:solidFill>
                  <a:srgbClr val="A8B8C8"/>
                </a:solidFill>
                <a:latin typeface="Calibri"/>
              </a:rPr>
              <a:t>Mimms (driver) and Wilson (passengers) give substantial authority during a lawful traffic detention to order occupants out for officer safety.</a:t>
            </a:r>
          </a:p>
          <a:p>
            <a:endParaRPr sz="1150">
              <a:solidFill>
                <a:srgbClr val="A8B8C8"/>
              </a:solidFill>
              <a:latin typeface="Calibri"/>
            </a:endParaRPr>
          </a:p>
          <a:p>
            <a:r>
              <a:rPr sz="1150">
                <a:solidFill>
                  <a:srgbClr val="A8B8C8"/>
                </a:solidFill>
                <a:latin typeface="Calibri"/>
              </a:rPr>
              <a:t>Creller illustrates how that authority may apply to a K9 officer who arrives mid-stop and needs the driver out before deploying the dog.</a:t>
            </a:r>
          </a:p>
          <a:p>
            <a:endParaRPr sz="1150">
              <a:solidFill>
                <a:srgbClr val="A8B8C8"/>
              </a:solidFill>
              <a:latin typeface="Calibri"/>
            </a:endParaRPr>
          </a:p>
          <a:p>
            <a:r>
              <a:rPr sz="1150">
                <a:solidFill>
                  <a:srgbClr val="A8B8C8"/>
                </a:solidFill>
                <a:latin typeface="Calibri"/>
              </a:rPr>
              <a:t>Articulate the safety reason: your attention is on the dog, environment, traffic, and movement around the vehicle.</a:t>
            </a:r>
          </a:p>
        </p:txBody>
      </p:sp>
      <p:sp>
        <p:nvSpPr>
          <p:cNvPr id="8" name="Shape 6"/>
          <p:cNvSpPr/>
          <p:nvPr/>
        </p:nvSpPr>
        <p:spPr>
          <a:xfrm>
            <a:off x="4663440" y="822960"/>
            <a:ext cx="4023360" cy="3566160"/>
          </a:xfrm>
          <a:prstGeom prst="roundRect">
            <a:avLst>
              <a:gd name="adj" fmla="val 1538"/>
            </a:avLst>
          </a:prstGeom>
          <a:solidFill>
            <a:srgbClr val="0F1F2E"/>
          </a:solidFill>
          <a:ln/>
        </p:spPr>
        <p:txBody>
          <a:bodyPr/>
          <a:lstStyle/>
          <a:p>
            <a:endParaRPr lang="en-US"/>
          </a:p>
        </p:txBody>
      </p:sp>
      <p:sp>
        <p:nvSpPr>
          <p:cNvPr id="9" name="Text 7"/>
          <p:cNvSpPr/>
          <p:nvPr/>
        </p:nvSpPr>
        <p:spPr>
          <a:xfrm>
            <a:off x="4846320" y="960120"/>
            <a:ext cx="3657600" cy="320040"/>
          </a:xfrm>
          <a:prstGeom prst="rect">
            <a:avLst/>
          </a:prstGeom>
          <a:noFill/>
          <a:ln/>
        </p:spPr>
        <p:txBody>
          <a:bodyPr wrap="square" rtlCol="0" anchor="ctr"/>
          <a:lstStyle/>
          <a:p>
            <a:pPr marL="0" indent="0">
              <a:buNone/>
            </a:pPr>
            <a:r>
              <a:rPr lang="en-US" sz="1500" b="1" dirty="0">
                <a:solidFill>
                  <a:srgbClr val="D4A84B"/>
                </a:solidFill>
                <a:latin typeface="Calibri" pitchFamily="34" charset="0"/>
                <a:ea typeface="Calibri" pitchFamily="34" charset="-122"/>
                <a:cs typeface="Calibri" pitchFamily="34" charset="-120"/>
              </a:rPr>
              <a:t>2. Can I extend the detention?</a:t>
            </a:r>
            <a:endParaRPr lang="en-US" sz="1500" dirty="0"/>
          </a:p>
        </p:txBody>
      </p:sp>
      <p:sp>
        <p:nvSpPr>
          <p:cNvPr id="10" name="Text 8"/>
          <p:cNvSpPr/>
          <p:nvPr/>
        </p:nvSpPr>
        <p:spPr>
          <a:xfrm>
            <a:off x="4846320" y="1371600"/>
            <a:ext cx="3657600" cy="2834640"/>
          </a:xfrm>
          <a:prstGeom prst="rect">
            <a:avLst/>
          </a:prstGeom>
          <a:noFill/>
          <a:ln/>
        </p:spPr>
        <p:txBody>
          <a:bodyPr wrap="square" rtlCol="0" anchor="ctr"/>
          <a:lstStyle/>
          <a:p>
            <a:r>
              <a:rPr sz="1150">
                <a:solidFill>
                  <a:srgbClr val="A8B8C8"/>
                </a:solidFill>
                <a:latin typeface="Calibri"/>
              </a:rPr>
              <a:t>This is the Rodriguez/Campbell question.</a:t>
            </a:r>
          </a:p>
          <a:p>
            <a:endParaRPr sz="1150">
              <a:solidFill>
                <a:srgbClr val="A8B8C8"/>
              </a:solidFill>
              <a:latin typeface="Calibri"/>
            </a:endParaRPr>
          </a:p>
          <a:p>
            <a:r>
              <a:rPr sz="1150">
                <a:solidFill>
                  <a:srgbClr val="A8B8C8"/>
                </a:solidFill>
                <a:latin typeface="Calibri"/>
              </a:rPr>
              <a:t>Exit-order authority does not create authority to add time for a dog sniff without independent RS. You cannot manufacture additional time by labeling the action “officer safety.”</a:t>
            </a:r>
          </a:p>
          <a:p>
            <a:endParaRPr sz="1150">
              <a:solidFill>
                <a:srgbClr val="A8B8C8"/>
              </a:solidFill>
              <a:latin typeface="Calibri"/>
            </a:endParaRPr>
          </a:p>
          <a:p>
            <a:r>
              <a:rPr sz="1150">
                <a:solidFill>
                  <a:srgbClr val="A8B8C8"/>
                </a:solidFill>
                <a:latin typeface="Calibri"/>
              </a:rPr>
              <a:t>Ask: Was the traffic mission being diligently pursued, and did K9 activity add time?</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90500D93-9D0F-BA24-C0DF-920AA8EF0564}"/>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A6D6A02A-37A0-3834-7567-F951CCF85476}"/>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imm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r>
              <a:rPr sz="1000" b="1">
                <a:solidFill>
                  <a:srgbClr val="0D7377"/>
                </a:solidFill>
                <a:latin typeface="Calibri"/>
              </a:rPr>
              <a:t>HANDLER BEST PRACTICE — NOT A MANDATE</a:t>
            </a:r>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Occupants Out During a K9 Sniff — When &amp; Why</a:t>
            </a:r>
            <a:endParaRPr lang="en-US" sz="1700" dirty="0"/>
          </a:p>
        </p:txBody>
      </p:sp>
      <p:sp>
        <p:nvSpPr>
          <p:cNvPr id="5" name="Text 3"/>
          <p:cNvSpPr/>
          <p:nvPr/>
        </p:nvSpPr>
        <p:spPr>
          <a:xfrm>
            <a:off x="3163824" y="82296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Preferred practice when circumstances reasonably allow it</a:t>
            </a:r>
            <a:endParaRPr lang="en-US" sz="1400" dirty="0"/>
          </a:p>
        </p:txBody>
      </p:sp>
      <p:sp>
        <p:nvSpPr>
          <p:cNvPr id="6" name="Text 4"/>
          <p:cNvSpPr/>
          <p:nvPr/>
        </p:nvSpPr>
        <p:spPr>
          <a:xfrm>
            <a:off x="3163824" y="1143000"/>
            <a:ext cx="5870448" cy="1005840"/>
          </a:xfrm>
          <a:prstGeom prst="rect">
            <a:avLst/>
          </a:prstGeom>
          <a:noFill/>
          <a:ln/>
        </p:spPr>
        <p:txBody>
          <a:bodyPr wrap="square" rtlCol="0" anchor="ctr"/>
          <a:lstStyle/>
          <a:p>
            <a:r>
              <a:rPr sz="1130">
                <a:solidFill>
                  <a:srgbClr val="A8B8C8"/>
                </a:solidFill>
                <a:latin typeface="Calibri"/>
              </a:rPr>
              <a:t>From a handler standpoint there are legitimate safety reasons for removing occupants when circumstances reasonably allow it. Your attention needs to be on the dog, his behavior, the environment, traffic, and movement around the vehicle. You do not want to simultaneously monitor someone sitting behind the wheel of the vehicle you are working around.</a:t>
            </a:r>
          </a:p>
        </p:txBody>
      </p:sp>
      <p:sp>
        <p:nvSpPr>
          <p:cNvPr id="7" name="Text 5"/>
          <p:cNvSpPr/>
          <p:nvPr/>
        </p:nvSpPr>
        <p:spPr>
          <a:xfrm>
            <a:off x="3163824" y="228600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Not a rigid “always” rule</a:t>
            </a:r>
            <a:endParaRPr lang="en-US" sz="1400" dirty="0"/>
          </a:p>
        </p:txBody>
      </p:sp>
      <p:sp>
        <p:nvSpPr>
          <p:cNvPr id="8" name="Text 6"/>
          <p:cNvSpPr/>
          <p:nvPr/>
        </p:nvSpPr>
        <p:spPr>
          <a:xfrm>
            <a:off x="3163824" y="2606040"/>
            <a:ext cx="5870448" cy="64008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Depending on the circumstances, leaving an occupant in the vehicle may be perfectly workable. Do not turn this into “We always take everybody out because that’s how we do K9 sniffs.”</a:t>
            </a:r>
            <a:endParaRPr lang="en-US" sz="1300" dirty="0"/>
          </a:p>
        </p:txBody>
      </p:sp>
      <p:sp>
        <p:nvSpPr>
          <p:cNvPr id="9" name="Text 7"/>
          <p:cNvSpPr/>
          <p:nvPr/>
        </p:nvSpPr>
        <p:spPr>
          <a:xfrm>
            <a:off x="3163824" y="3383280"/>
            <a:ext cx="5870448" cy="256032"/>
          </a:xfrm>
          <a:prstGeom prst="rect">
            <a:avLst/>
          </a:prstGeom>
          <a:noFill/>
          <a:ln/>
        </p:spPr>
        <p:txBody>
          <a:bodyPr wrap="square" rtlCol="0" anchor="ctr"/>
          <a:lstStyle/>
          <a:p>
            <a:pPr marL="0" indent="0">
              <a:buNone/>
            </a:pPr>
            <a:r>
              <a:rPr lang="en-US" sz="1400" b="1" dirty="0">
                <a:solidFill>
                  <a:srgbClr val="D4A84B"/>
                </a:solidFill>
                <a:latin typeface="Calibri" pitchFamily="34" charset="0"/>
                <a:ea typeface="Calibri" pitchFamily="34" charset="-122"/>
                <a:cs typeface="Calibri" pitchFamily="34" charset="-120"/>
              </a:rPr>
              <a:t>Safety trumps “winning” the case</a:t>
            </a:r>
            <a:endParaRPr lang="en-US" sz="1400" dirty="0"/>
          </a:p>
        </p:txBody>
      </p:sp>
      <p:sp>
        <p:nvSpPr>
          <p:cNvPr id="10" name="Text 8"/>
          <p:cNvSpPr/>
          <p:nvPr/>
        </p:nvSpPr>
        <p:spPr>
          <a:xfrm>
            <a:off x="3163824" y="3703320"/>
            <a:ext cx="5870448" cy="640080"/>
          </a:xfrm>
          <a:prstGeom prst="rect">
            <a:avLst/>
          </a:prstGeom>
          <a:noFill/>
          <a:ln/>
        </p:spPr>
        <p:txBody>
          <a:bodyPr wrap="square" rtlCol="0" anchor="ctr"/>
          <a:lstStyle/>
          <a:p>
            <a:pPr marL="0" indent="0">
              <a:buNone/>
            </a:pPr>
            <a:r>
              <a:rPr lang="en-US" sz="1300" dirty="0">
                <a:solidFill>
                  <a:srgbClr val="A8B8C8"/>
                </a:solidFill>
                <a:latin typeface="Calibri" pitchFamily="34" charset="0"/>
                <a:ea typeface="Calibri" pitchFamily="34" charset="-122"/>
                <a:cs typeface="Calibri" pitchFamily="34" charset="-120"/>
              </a:rPr>
              <a:t>If the circumstances make a sniff unsafe, do not do something unsafe just because you are worried the legal clock is running. Officer and K9 safety come first.</a:t>
            </a:r>
            <a:endParaRPr lang="en-US" sz="1300" dirty="0"/>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DBEBB45D-F018-E32F-74AF-65C1064EF058}"/>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E7D8A258-C60D-405E-2B6A-5FD121B8E5AD}"/>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CLASSROOM TEACHING POINTS</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What Handlers &amp; Patrol Officers Must Understand</a:t>
            </a:r>
            <a:endParaRPr lang="en-US" sz="17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  Articulate the safety concern</a:t>
            </a:r>
            <a:endParaRPr lang="en-US" sz="1300" dirty="0"/>
          </a:p>
        </p:txBody>
      </p:sp>
      <p:sp>
        <p:nvSpPr>
          <p:cNvPr id="6" name="Text 4"/>
          <p:cNvSpPr/>
          <p:nvPr/>
        </p:nvSpPr>
        <p:spPr>
          <a:xfrm>
            <a:off x="640080" y="1078992"/>
            <a:ext cx="8046720" cy="3657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If you remove someone because having that person behind the wheel presents a legitimate safety concern while you work the dog, be able to say so clearly — on the stand and in your report.</a:t>
            </a:r>
            <a:endParaRPr lang="en-US" sz="1200" dirty="0"/>
          </a:p>
        </p:txBody>
      </p:sp>
      <p:sp>
        <p:nvSpPr>
          <p:cNvPr id="7" name="Text 5"/>
          <p:cNvSpPr/>
          <p:nvPr/>
        </p:nvSpPr>
        <p:spPr>
          <a:xfrm>
            <a:off x="457200" y="15087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  Mimms/Wilson ≠ Rodriguez authority</a:t>
            </a:r>
            <a:endParaRPr lang="en-US" sz="1300" dirty="0"/>
          </a:p>
        </p:txBody>
      </p:sp>
      <p:sp>
        <p:nvSpPr>
          <p:cNvPr id="8" name="Text 6"/>
          <p:cNvSpPr/>
          <p:nvPr/>
        </p:nvSpPr>
        <p:spPr>
          <a:xfrm>
            <a:off x="640080" y="1764792"/>
            <a:ext cx="8046720" cy="3657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Your authority under Mimms or Wilson to order occupants out does not give you authority to unlawfully extend the stop under Rodriguez.</a:t>
            </a:r>
            <a:endParaRPr lang="en-US" sz="1200" dirty="0"/>
          </a:p>
        </p:txBody>
      </p:sp>
      <p:sp>
        <p:nvSpPr>
          <p:cNvPr id="9" name="Text 7"/>
          <p:cNvSpPr/>
          <p:nvPr/>
        </p:nvSpPr>
        <p:spPr>
          <a:xfrm>
            <a:off x="457200" y="21945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  Creller is nuanced</a:t>
            </a:r>
            <a:endParaRPr lang="en-US" sz="1300" dirty="0"/>
          </a:p>
        </p:txBody>
      </p:sp>
      <p:sp>
        <p:nvSpPr>
          <p:cNvPr id="10" name="Text 8"/>
          <p:cNvSpPr/>
          <p:nvPr/>
        </p:nvSpPr>
        <p:spPr>
          <a:xfrm>
            <a:off x="640080" y="2450592"/>
            <a:ext cx="8046720" cy="365760"/>
          </a:xfrm>
          <a:prstGeom prst="rect">
            <a:avLst/>
          </a:prstGeom>
          <a:noFill/>
          <a:ln/>
        </p:spPr>
        <p:txBody>
          <a:bodyPr wrap="square" rtlCol="0" anchor="ctr"/>
          <a:lstStyle/>
          <a:p>
            <a:r>
              <a:rPr sz="1120">
                <a:solidFill>
                  <a:srgbClr val="A8B8C8"/>
                </a:solidFill>
                <a:latin typeface="Calibri"/>
              </a:rPr>
              <a:t>Creller is useful persuasive authority, but it is not controlling Alabama law. It illustrates why facts matter: lawful exit order, active traffic mission, officer safety, and no unlawful extension.</a:t>
            </a:r>
          </a:p>
        </p:txBody>
      </p:sp>
      <p:sp>
        <p:nvSpPr>
          <p:cNvPr id="11" name="Text 9"/>
          <p:cNvSpPr/>
          <p:nvPr/>
        </p:nvSpPr>
        <p:spPr>
          <a:xfrm>
            <a:off x="457200" y="28803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  Free-air sniff vs. RS</a:t>
            </a:r>
            <a:endParaRPr lang="en-US" sz="1300" dirty="0"/>
          </a:p>
        </p:txBody>
      </p:sp>
      <p:sp>
        <p:nvSpPr>
          <p:cNvPr id="12" name="Text 10"/>
          <p:cNvSpPr/>
          <p:nvPr/>
        </p:nvSpPr>
        <p:spPr>
          <a:xfrm>
            <a:off x="640080" y="3136392"/>
            <a:ext cx="8046720" cy="365760"/>
          </a:xfrm>
          <a:prstGeom prst="rect">
            <a:avLst/>
          </a:prstGeom>
          <a:noFill/>
          <a:ln/>
        </p:spPr>
        <p:txBody>
          <a:bodyPr wrap="square" rtlCol="0" anchor="ctr"/>
          <a:lstStyle/>
          <a:p>
            <a:r>
              <a:rPr sz="1120">
                <a:solidFill>
                  <a:srgbClr val="A8B8C8"/>
                </a:solidFill>
                <a:latin typeface="Calibri"/>
              </a:rPr>
              <a:t>No independent drug RS is required for an exterior sniff only when the sniff adds no time to an otherwise lawful stop. If the sniff adds time, independent RS is required.</a:t>
            </a:r>
          </a:p>
        </p:txBody>
      </p:sp>
      <p:sp>
        <p:nvSpPr>
          <p:cNvPr id="13" name="Text 11"/>
          <p:cNvSpPr/>
          <p:nvPr/>
        </p:nvSpPr>
        <p:spPr>
          <a:xfrm>
            <a:off x="457200" y="3566160"/>
            <a:ext cx="8229600" cy="228600"/>
          </a:xfrm>
          <a:prstGeom prst="rect">
            <a:avLst/>
          </a:prstGeom>
          <a:noFill/>
          <a:ln/>
        </p:spPr>
        <p:txBody>
          <a:bodyPr wrap="square" rtlCol="0" anchor="ctr"/>
          <a:lstStyle/>
          <a:p>
            <a:pPr marL="0" indent="0">
              <a:buNone/>
            </a:pPr>
            <a:r>
              <a:rPr lang="en-US" sz="1300" b="1" dirty="0">
                <a:solidFill>
                  <a:srgbClr val="D4A84B"/>
                </a:solidFill>
                <a:latin typeface="Calibri" pitchFamily="34" charset="0"/>
                <a:ea typeface="Calibri" pitchFamily="34" charset="-122"/>
                <a:cs typeface="Calibri" pitchFamily="34" charset="-120"/>
              </a:rPr>
              <a:t>•  Make the best decision with the facts available</a:t>
            </a:r>
            <a:endParaRPr lang="en-US" sz="1300" dirty="0"/>
          </a:p>
        </p:txBody>
      </p:sp>
      <p:sp>
        <p:nvSpPr>
          <p:cNvPr id="14" name="Text 12"/>
          <p:cNvSpPr/>
          <p:nvPr/>
        </p:nvSpPr>
        <p:spPr>
          <a:xfrm>
            <a:off x="640080" y="3822192"/>
            <a:ext cx="8046720" cy="365760"/>
          </a:xfrm>
          <a:prstGeom prst="rect">
            <a:avLst/>
          </a:prstGeom>
          <a:noFill/>
          <a:ln/>
        </p:spPr>
        <p:txBody>
          <a:bodyPr wrap="square" rtlCol="0" anchor="ctr"/>
          <a:lstStyle/>
          <a:p>
            <a:pPr marL="0" indent="0">
              <a:buNone/>
            </a:pPr>
            <a:r>
              <a:rPr lang="en-US" sz="1200" dirty="0">
                <a:solidFill>
                  <a:srgbClr val="A8B8C8"/>
                </a:solidFill>
                <a:latin typeface="Calibri" pitchFamily="34" charset="0"/>
                <a:ea typeface="Calibri" pitchFamily="34" charset="-122"/>
                <a:cs typeface="Calibri" pitchFamily="34" charset="-120"/>
              </a:rPr>
              <a:t>Sometimes you may not have the choice to leave someone in. Understand why the situations are different and decide according to all the facts.</a:t>
            </a:r>
            <a:endParaRPr lang="en-US" sz="1200" dirty="0"/>
          </a:p>
        </p:txBody>
      </p:sp>
      <p:sp>
        <p:nvSpPr>
          <p:cNvPr id="15" name="Shape 13"/>
          <p:cNvSpPr/>
          <p:nvPr/>
        </p:nvSpPr>
        <p:spPr>
          <a:xfrm>
            <a:off x="0" y="4800600"/>
            <a:ext cx="9144000" cy="342900"/>
          </a:xfrm>
          <a:prstGeom prst="rect">
            <a:avLst/>
          </a:prstGeom>
          <a:solidFill>
            <a:srgbClr val="061018"/>
          </a:solidFill>
          <a:ln/>
        </p:spPr>
        <p:txBody>
          <a:bodyPr/>
          <a:lstStyle/>
          <a:p>
            <a:endParaRPr lang="en-US"/>
          </a:p>
        </p:txBody>
      </p:sp>
      <p:pic>
        <p:nvPicPr>
          <p:cNvPr id="19" name="Image 1" descr="/home/workdir/artifacts/moody_detective_badge.jpg">
            <a:extLst>
              <a:ext uri="{FF2B5EF4-FFF2-40B4-BE49-F238E27FC236}">
                <a16:creationId xmlns:a16="http://schemas.microsoft.com/office/drawing/2014/main" id="{268C59ED-21BC-A6D4-4F83-B02A60A2F91C}"/>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20" name="Picture 19">
            <a:extLst>
              <a:ext uri="{FF2B5EF4-FFF2-40B4-BE49-F238E27FC236}">
                <a16:creationId xmlns:a16="http://schemas.microsoft.com/office/drawing/2014/main" id="{9F0011AE-BB78-B67A-7A64-EC0D173A4792}"/>
              </a:ext>
            </a:extLst>
          </p:cNvPr>
          <p:cNvPicPr>
            <a:picLocks noChangeAspect="1"/>
          </p:cNvPicPr>
          <p:nvPr/>
        </p:nvPicPr>
        <p:blipFill>
          <a:blip r:embed="rId4"/>
          <a:stretch>
            <a:fillRect/>
          </a:stretch>
        </p:blipFill>
        <p:spPr>
          <a:xfrm>
            <a:off x="561875" y="4555167"/>
            <a:ext cx="891540" cy="459278"/>
          </a:xfrm>
          <a:prstGeom prst="rect">
            <a:avLst/>
          </a:prstGeom>
        </p:spPr>
      </p:pic>
      <p:sp>
        <p:nvSpPr>
          <p:cNvPr id="18" name="Text 15"/>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4" name="Rectangle 13"/>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hren.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EXERCISES</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Mock Traffic Stops — How to Run These</a:t>
            </a:r>
            <a:endParaRPr lang="en-US" sz="1800" dirty="0"/>
          </a:p>
        </p:txBody>
      </p:sp>
      <p:sp>
        <p:nvSpPr>
          <p:cNvPr id="5" name="Shape 3"/>
          <p:cNvSpPr/>
          <p:nvPr/>
        </p:nvSpPr>
        <p:spPr>
          <a:xfrm>
            <a:off x="3163824" y="822960"/>
            <a:ext cx="5870448"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3163824" y="1005840"/>
            <a:ext cx="5870448" cy="3200400"/>
          </a:xfrm>
          <a:prstGeom prst="rect">
            <a:avLst/>
          </a:prstGeom>
          <a:noFill/>
          <a:ln/>
        </p:spPr>
        <p:txBody>
          <a:bodyPr wrap="square" rtlCol="0" anchor="ctr"/>
          <a:lstStyle/>
          <a:p>
            <a:r>
              <a:rPr sz="1120">
                <a:solidFill>
                  <a:srgbClr val="A8B8C8"/>
                </a:solidFill>
                <a:latin typeface="Calibri"/>
              </a:rPr>
              <a:t>These exercises are designed for active learning in an 8-hour class.</a:t>
            </a:r>
          </a:p>
          <a:p>
            <a:endParaRPr sz="1120">
              <a:solidFill>
                <a:srgbClr val="A8B8C8"/>
              </a:solidFill>
              <a:latin typeface="Calibri"/>
            </a:endParaRPr>
          </a:p>
          <a:p>
            <a:r>
              <a:rPr sz="1120">
                <a:solidFill>
                  <a:srgbClr val="A8B8C8"/>
                </a:solidFill>
                <a:latin typeface="Calibri"/>
              </a:rPr>
              <a:t>Format options:</a:t>
            </a:r>
          </a:p>
          <a:p>
            <a:r>
              <a:rPr sz="1120">
                <a:solidFill>
                  <a:srgbClr val="A8B8C8"/>
                </a:solidFill>
                <a:latin typeface="Calibri"/>
              </a:rPr>
              <a:t>• Table-top discussion</a:t>
            </a:r>
          </a:p>
          <a:p>
            <a:r>
              <a:rPr sz="1120">
                <a:solidFill>
                  <a:srgbClr val="A8B8C8"/>
                </a:solidFill>
                <a:latin typeface="Calibri"/>
              </a:rPr>
              <a:t>• Role-play</a:t>
            </a:r>
          </a:p>
          <a:p>
            <a:r>
              <a:rPr sz="1120">
                <a:solidFill>
                  <a:srgbClr val="A8B8C8"/>
                </a:solidFill>
                <a:latin typeface="Calibri"/>
              </a:rPr>
              <a:t>• Small-group scenario analysis</a:t>
            </a:r>
          </a:p>
          <a:p>
            <a:endParaRPr sz="1120">
              <a:solidFill>
                <a:srgbClr val="A8B8C8"/>
              </a:solidFill>
              <a:latin typeface="Calibri"/>
            </a:endParaRPr>
          </a:p>
          <a:p>
            <a:r>
              <a:rPr sz="1120">
                <a:solidFill>
                  <a:srgbClr val="A8B8C8"/>
                </a:solidFill>
                <a:latin typeface="Calibri"/>
              </a:rPr>
              <a:t>For each scenario answer:</a:t>
            </a:r>
          </a:p>
          <a:p>
            <a:r>
              <a:rPr sz="1120">
                <a:solidFill>
                  <a:srgbClr val="A8B8C8"/>
                </a:solidFill>
                <a:latin typeface="Calibri"/>
              </a:rPr>
              <a:t>1. Was the initial stop lawful?</a:t>
            </a:r>
          </a:p>
          <a:p>
            <a:r>
              <a:rPr sz="1120">
                <a:solidFill>
                  <a:srgbClr val="A8B8C8"/>
                </a:solidFill>
                <a:latin typeface="Calibri"/>
              </a:rPr>
              <a:t>2. What traffic/safety task remained?</a:t>
            </a:r>
          </a:p>
          <a:p>
            <a:r>
              <a:rPr sz="1120">
                <a:solidFill>
                  <a:srgbClr val="A8B8C8"/>
                </a:solidFill>
                <a:latin typeface="Calibri"/>
              </a:rPr>
              <a:t>3. What was the officer actually doing during each interval?</a:t>
            </a:r>
          </a:p>
          <a:p>
            <a:r>
              <a:rPr sz="1120">
                <a:solidFill>
                  <a:srgbClr val="A8B8C8"/>
                </a:solidFill>
                <a:latin typeface="Calibri"/>
              </a:rPr>
              <a:t>4. Did K9-related activity add time under Rodriguez/Campbell?</a:t>
            </a:r>
          </a:p>
          <a:p>
            <a:r>
              <a:rPr sz="1120">
                <a:solidFill>
                  <a:srgbClr val="A8B8C8"/>
                </a:solidFill>
                <a:latin typeface="Calibri"/>
              </a:rPr>
              <a:t>5. Was the deployment/sniff constitutional?</a:t>
            </a:r>
          </a:p>
          <a:p>
            <a:r>
              <a:rPr sz="1120">
                <a:solidFill>
                  <a:srgbClr val="A8B8C8"/>
                </a:solidFill>
                <a:latin typeface="Calibri"/>
              </a:rPr>
              <a:t>6. Did the alert establish PC under Harris/Braddy?</a:t>
            </a:r>
          </a:p>
          <a:p>
            <a:r>
              <a:rPr sz="1120">
                <a:solidFill>
                  <a:srgbClr val="A8B8C8"/>
                </a:solidFill>
                <a:latin typeface="Calibri"/>
              </a:rPr>
              <a:t>7. What should be documented differently?</a:t>
            </a:r>
          </a:p>
          <a:p>
            <a:endParaRPr sz="1120">
              <a:solidFill>
                <a:srgbClr val="A8B8C8"/>
              </a:solidFill>
              <a:latin typeface="Calibri"/>
            </a:endParaRPr>
          </a:p>
          <a:p>
            <a:r>
              <a:rPr sz="1120">
                <a:solidFill>
                  <a:srgbClr val="A8B8C8"/>
                </a:solidFill>
                <a:latin typeface="Calibri"/>
              </a:rPr>
              <a:t>Answer keys follow for instructor use. Do not distribute before students work the problems.</a:t>
            </a:r>
          </a:p>
        </p:txBody>
      </p:sp>
      <p:sp>
        <p:nvSpPr>
          <p:cNvPr id="7" name="Shape 5"/>
          <p:cNvSpPr/>
          <p:nvPr/>
        </p:nvSpPr>
        <p:spPr>
          <a:xfrm>
            <a:off x="0" y="4800600"/>
            <a:ext cx="9144000" cy="342900"/>
          </a:xfrm>
          <a:prstGeom prst="rect">
            <a:avLst/>
          </a:prstGeom>
          <a:solidFill>
            <a:srgbClr val="061018"/>
          </a:solidFill>
          <a:ln/>
        </p:spPr>
        <p:txBody>
          <a:bodyPr/>
          <a:lstStyle/>
          <a:p>
            <a:endParaRPr lang="en-US"/>
          </a:p>
        </p:txBody>
      </p:sp>
      <p:pic>
        <p:nvPicPr>
          <p:cNvPr id="11" name="Image 1" descr="/home/workdir/artifacts/moody_detective_badge.jpg">
            <a:extLst>
              <a:ext uri="{FF2B5EF4-FFF2-40B4-BE49-F238E27FC236}">
                <a16:creationId xmlns:a16="http://schemas.microsoft.com/office/drawing/2014/main" id="{6BCDA78D-A2BA-D82B-AF86-7360012E90BE}"/>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0D49F2E4-A7AD-8191-A08E-E914B23AA0EB}"/>
              </a:ext>
            </a:extLst>
          </p:cNvPr>
          <p:cNvPicPr>
            <a:picLocks noChangeAspect="1"/>
          </p:cNvPicPr>
          <p:nvPr/>
        </p:nvPicPr>
        <p:blipFill>
          <a:blip r:embed="rId4"/>
          <a:stretch>
            <a:fillRect/>
          </a:stretch>
        </p:blipFill>
        <p:spPr>
          <a:xfrm>
            <a:off x="561875" y="4555167"/>
            <a:ext cx="891540" cy="459278"/>
          </a:xfrm>
          <a:prstGeom prst="rect">
            <a:avLst/>
          </a:prstGeom>
        </p:spPr>
      </p:pic>
      <p:sp>
        <p:nvSpPr>
          <p:cNvPr id="10" name="Text 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driguez.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EXERCISE 1</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Patrol calls for K9 — mission still open</a:t>
            </a:r>
            <a:endParaRPr lang="en-US" sz="1700" dirty="0"/>
          </a:p>
        </p:txBody>
      </p:sp>
      <p:sp>
        <p:nvSpPr>
          <p:cNvPr id="5" name="Shape 3"/>
          <p:cNvSpPr/>
          <p:nvPr/>
        </p:nvSpPr>
        <p:spPr>
          <a:xfrm>
            <a:off x="3163824" y="822960"/>
            <a:ext cx="5870448" cy="2377440"/>
          </a:xfrm>
          <a:prstGeom prst="roundRect">
            <a:avLst>
              <a:gd name="adj" fmla="val 2308"/>
            </a:avLst>
          </a:prstGeom>
          <a:solidFill>
            <a:srgbClr val="0F1F2E"/>
          </a:solidFill>
          <a:ln/>
        </p:spPr>
        <p:txBody>
          <a:bodyPr/>
          <a:lstStyle/>
          <a:p>
            <a:endParaRPr lang="en-US"/>
          </a:p>
        </p:txBody>
      </p:sp>
      <p:sp>
        <p:nvSpPr>
          <p:cNvPr id="6" name="Text 4"/>
          <p:cNvSpPr/>
          <p:nvPr/>
        </p:nvSpPr>
        <p:spPr>
          <a:xfrm>
            <a:off x="3163824" y="96012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Scenario Script</a:t>
            </a:r>
            <a:endParaRPr lang="en-US" sz="1300" dirty="0"/>
          </a:p>
        </p:txBody>
      </p:sp>
      <p:sp>
        <p:nvSpPr>
          <p:cNvPr id="7" name="Text 5"/>
          <p:cNvSpPr/>
          <p:nvPr/>
        </p:nvSpPr>
        <p:spPr>
          <a:xfrm>
            <a:off x="3163824" y="1280160"/>
            <a:ext cx="5870448" cy="1737360"/>
          </a:xfrm>
          <a:prstGeom prst="rect">
            <a:avLst/>
          </a:prstGeom>
          <a:noFill/>
          <a:ln/>
        </p:spPr>
        <p:txBody>
          <a:bodyPr wrap="square" rtlCol="0" anchor="ctr"/>
          <a:lstStyle/>
          <a:p>
            <a:r>
              <a:rPr sz="1150">
                <a:solidFill>
                  <a:srgbClr val="A8B8C8"/>
                </a:solidFill>
                <a:latin typeface="Calibri"/>
              </a:rPr>
              <a:t>Officer Davis stops a vehicle at 22:10 for speeding (68 in a 45). He immediately begins running the license, registration, insurance, and warrants, and starts preparing a citation. At 22:14 he radios for a K9 while continuing those tasks. Handler Torres arrives at 22:19. Davis is still diligently completing the citation and records work. Torres independently deploys his certified dog without interrupting Davis. The dog gives a trained final response at the driver’s door. Cocaine is recovered from the center console.</a:t>
            </a:r>
          </a:p>
        </p:txBody>
      </p:sp>
      <p:sp>
        <p:nvSpPr>
          <p:cNvPr id="8" name="Shape 6"/>
          <p:cNvSpPr/>
          <p:nvPr/>
        </p:nvSpPr>
        <p:spPr>
          <a:xfrm>
            <a:off x="3163824" y="3383280"/>
            <a:ext cx="5870448" cy="1051560"/>
          </a:xfrm>
          <a:prstGeom prst="roundRect">
            <a:avLst>
              <a:gd name="adj" fmla="val 5217"/>
            </a:avLst>
          </a:prstGeom>
          <a:solidFill>
            <a:srgbClr val="0F1F2E"/>
          </a:solidFill>
          <a:ln/>
        </p:spPr>
        <p:txBody>
          <a:bodyPr/>
          <a:lstStyle/>
          <a:p>
            <a:endParaRPr lang="en-US"/>
          </a:p>
        </p:txBody>
      </p:sp>
      <p:sp>
        <p:nvSpPr>
          <p:cNvPr id="9" name="Text 7"/>
          <p:cNvSpPr/>
          <p:nvPr/>
        </p:nvSpPr>
        <p:spPr>
          <a:xfrm>
            <a:off x="3163824" y="352044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Class Discussion Questions</a:t>
            </a:r>
            <a:endParaRPr lang="en-US" sz="1300" dirty="0"/>
          </a:p>
        </p:txBody>
      </p:sp>
      <p:sp>
        <p:nvSpPr>
          <p:cNvPr id="10" name="Text 8"/>
          <p:cNvSpPr/>
          <p:nvPr/>
        </p:nvSpPr>
        <p:spPr>
          <a:xfrm>
            <a:off x="3163824" y="3840480"/>
            <a:ext cx="5870448" cy="457200"/>
          </a:xfrm>
          <a:prstGeom prst="rect">
            <a:avLst/>
          </a:prstGeom>
          <a:noFill/>
          <a:ln/>
        </p:spPr>
        <p:txBody>
          <a:bodyPr wrap="square" rtlCol="0" anchor="ctr"/>
          <a:lstStyle/>
          <a:p>
            <a:r>
              <a:rPr sz="1200">
                <a:solidFill>
                  <a:srgbClr val="A8B8C8"/>
                </a:solidFill>
                <a:latin typeface="Calibri"/>
              </a:rPr>
              <a:t>Evaluate: stop legality, whether the sniff added time under Rodriguez/Campbell, sniff constitutionality, and Harris reliability.</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BC3D2AD9-5A70-6749-D3E3-2EA92F2BC92F}"/>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AFF823E0-038F-2D97-3D54-02E133048E8B}"/>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hren.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EXERCISE 2</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Patrol calls for K9 — mission already complete</a:t>
            </a:r>
            <a:endParaRPr lang="en-US" sz="1700" dirty="0"/>
          </a:p>
        </p:txBody>
      </p:sp>
      <p:sp>
        <p:nvSpPr>
          <p:cNvPr id="5" name="Shape 3"/>
          <p:cNvSpPr/>
          <p:nvPr/>
        </p:nvSpPr>
        <p:spPr>
          <a:xfrm>
            <a:off x="3163824" y="822960"/>
            <a:ext cx="5870448" cy="2377440"/>
          </a:xfrm>
          <a:prstGeom prst="roundRect">
            <a:avLst>
              <a:gd name="adj" fmla="val 2308"/>
            </a:avLst>
          </a:prstGeom>
          <a:solidFill>
            <a:srgbClr val="0F1F2E"/>
          </a:solidFill>
          <a:ln/>
        </p:spPr>
        <p:txBody>
          <a:bodyPr/>
          <a:lstStyle/>
          <a:p>
            <a:endParaRPr lang="en-US"/>
          </a:p>
        </p:txBody>
      </p:sp>
      <p:sp>
        <p:nvSpPr>
          <p:cNvPr id="6" name="Text 4"/>
          <p:cNvSpPr/>
          <p:nvPr/>
        </p:nvSpPr>
        <p:spPr>
          <a:xfrm>
            <a:off x="3163824" y="96012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Scenario Script</a:t>
            </a:r>
            <a:endParaRPr lang="en-US" sz="1300" dirty="0"/>
          </a:p>
        </p:txBody>
      </p:sp>
      <p:sp>
        <p:nvSpPr>
          <p:cNvPr id="7" name="Text 5"/>
          <p:cNvSpPr/>
          <p:nvPr/>
        </p:nvSpPr>
        <p:spPr>
          <a:xfrm>
            <a:off x="3163824" y="1280160"/>
            <a:ext cx="5870448" cy="1737360"/>
          </a:xfrm>
          <a:prstGeom prst="rect">
            <a:avLst/>
          </a:prstGeom>
          <a:noFill/>
          <a:ln/>
        </p:spPr>
        <p:txBody>
          <a:bodyPr wrap="square" rtlCol="0" anchor="ctr"/>
          <a:lstStyle/>
          <a:p>
            <a:r>
              <a:rPr sz="1150">
                <a:solidFill>
                  <a:srgbClr val="A8B8C8"/>
                </a:solidFill>
                <a:latin typeface="Calibri"/>
              </a:rPr>
              <a:t>Officer Lee stops a vehicle at 01:20 for an expired tag. She completes the records check and issues a written warning at 01:32. The traffic mission is objectively complete. She tells the driver he is free to leave, then asks if he will voluntarily wait for a K9 that is 8 minutes away. The driver refuses. Lee instructs him to remain. Handler arrives at 01:41. Dog alerts. Methamphetamine is found in the trunk.</a:t>
            </a:r>
          </a:p>
        </p:txBody>
      </p:sp>
      <p:sp>
        <p:nvSpPr>
          <p:cNvPr id="8" name="Shape 6"/>
          <p:cNvSpPr/>
          <p:nvPr/>
        </p:nvSpPr>
        <p:spPr>
          <a:xfrm>
            <a:off x="3163824" y="3383280"/>
            <a:ext cx="5870448" cy="1051560"/>
          </a:xfrm>
          <a:prstGeom prst="roundRect">
            <a:avLst>
              <a:gd name="adj" fmla="val 5217"/>
            </a:avLst>
          </a:prstGeom>
          <a:solidFill>
            <a:srgbClr val="0F1F2E"/>
          </a:solidFill>
          <a:ln/>
        </p:spPr>
        <p:txBody>
          <a:bodyPr/>
          <a:lstStyle/>
          <a:p>
            <a:endParaRPr lang="en-US"/>
          </a:p>
        </p:txBody>
      </p:sp>
      <p:sp>
        <p:nvSpPr>
          <p:cNvPr id="9" name="Text 7"/>
          <p:cNvSpPr/>
          <p:nvPr/>
        </p:nvSpPr>
        <p:spPr>
          <a:xfrm>
            <a:off x="3163824" y="352044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Class Discussion Questions</a:t>
            </a:r>
            <a:endParaRPr lang="en-US" sz="1300" dirty="0"/>
          </a:p>
        </p:txBody>
      </p:sp>
      <p:sp>
        <p:nvSpPr>
          <p:cNvPr id="10" name="Text 8"/>
          <p:cNvSpPr/>
          <p:nvPr/>
        </p:nvSpPr>
        <p:spPr>
          <a:xfrm>
            <a:off x="3163824" y="3840480"/>
            <a:ext cx="5870448" cy="457200"/>
          </a:xfrm>
          <a:prstGeom prst="rect">
            <a:avLst/>
          </a:prstGeom>
          <a:noFill/>
          <a:ln/>
        </p:spPr>
        <p:txBody>
          <a:bodyPr wrap="square" rtlCol="0" anchor="ctr"/>
          <a:lstStyle/>
          <a:p>
            <a:r>
              <a:rPr sz="1200">
                <a:solidFill>
                  <a:srgbClr val="A8B8C8"/>
                </a:solidFill>
                <a:latin typeface="Calibri"/>
              </a:rPr>
              <a:t>Evaluate under Rodriguez/Campbell. Was the continued detention lawful? Does refusal to wait voluntarily create RS? What would change the analysis?</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180696E6-E6B3-539B-D661-63D033CC51AA}"/>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60BC40E9-70DB-CD5B-6813-2318F58FA00B}"/>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39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arri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EXERCISE 3</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r>
              <a:rPr sz="1700" b="1">
                <a:solidFill>
                  <a:srgbClr val="FFFFFF"/>
                </a:solidFill>
                <a:latin typeface="Calibri"/>
              </a:rPr>
              <a:t>Dual-role handler — did the dog add time?</a:t>
            </a:r>
          </a:p>
        </p:txBody>
      </p:sp>
      <p:sp>
        <p:nvSpPr>
          <p:cNvPr id="5" name="Shape 3"/>
          <p:cNvSpPr/>
          <p:nvPr/>
        </p:nvSpPr>
        <p:spPr>
          <a:xfrm>
            <a:off x="3163824" y="822960"/>
            <a:ext cx="5870448" cy="2377440"/>
          </a:xfrm>
          <a:prstGeom prst="roundRect">
            <a:avLst>
              <a:gd name="adj" fmla="val 2308"/>
            </a:avLst>
          </a:prstGeom>
          <a:solidFill>
            <a:srgbClr val="0F1F2E"/>
          </a:solidFill>
          <a:ln/>
        </p:spPr>
        <p:txBody>
          <a:bodyPr/>
          <a:lstStyle/>
          <a:p>
            <a:endParaRPr lang="en-US"/>
          </a:p>
        </p:txBody>
      </p:sp>
      <p:sp>
        <p:nvSpPr>
          <p:cNvPr id="6" name="Text 4"/>
          <p:cNvSpPr/>
          <p:nvPr/>
        </p:nvSpPr>
        <p:spPr>
          <a:xfrm>
            <a:off x="3163824" y="96012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Scenario Script</a:t>
            </a:r>
            <a:endParaRPr lang="en-US" sz="1300" dirty="0"/>
          </a:p>
        </p:txBody>
      </p:sp>
      <p:sp>
        <p:nvSpPr>
          <p:cNvPr id="7" name="Text 5"/>
          <p:cNvSpPr/>
          <p:nvPr/>
        </p:nvSpPr>
        <p:spPr>
          <a:xfrm>
            <a:off x="3163824" y="1280160"/>
            <a:ext cx="5870448" cy="1737360"/>
          </a:xfrm>
          <a:prstGeom prst="rect">
            <a:avLst/>
          </a:prstGeom>
          <a:noFill/>
          <a:ln/>
        </p:spPr>
        <p:txBody>
          <a:bodyPr wrap="square" rtlCol="0" anchor="ctr"/>
          <a:lstStyle/>
          <a:p>
            <a:r>
              <a:rPr sz="1080">
                <a:solidFill>
                  <a:srgbClr val="A8B8C8"/>
                </a:solidFill>
                <a:latin typeface="Calibri"/>
              </a:rPr>
              <a:t>Handler Martinez, in a marked K9 unit, observes a vehicle cross the fog line twice and fail to maintain its lane as nearly as practicable under Ala. Code § 32-5A-88. He stops the vehicle at 23:05. The driver provides a valid license and registration. Martinez runs records and prepares a warning. At 23:11, before handing over the warning, Martinez stops traffic-related work and deploys his own certified dog. No independent criminal RS has developed beyond ordinary nervousness and an air freshener. The dog gives a trained final response at the rear passenger door. Marijuana is found.</a:t>
            </a:r>
          </a:p>
        </p:txBody>
      </p:sp>
      <p:sp>
        <p:nvSpPr>
          <p:cNvPr id="8" name="Shape 6"/>
          <p:cNvSpPr/>
          <p:nvPr/>
        </p:nvSpPr>
        <p:spPr>
          <a:xfrm>
            <a:off x="3163824" y="3383280"/>
            <a:ext cx="5870448" cy="1051560"/>
          </a:xfrm>
          <a:prstGeom prst="roundRect">
            <a:avLst>
              <a:gd name="adj" fmla="val 5217"/>
            </a:avLst>
          </a:prstGeom>
          <a:solidFill>
            <a:srgbClr val="0F1F2E"/>
          </a:solidFill>
          <a:ln/>
        </p:spPr>
        <p:txBody>
          <a:bodyPr/>
          <a:lstStyle/>
          <a:p>
            <a:endParaRPr lang="en-US"/>
          </a:p>
        </p:txBody>
      </p:sp>
      <p:sp>
        <p:nvSpPr>
          <p:cNvPr id="9" name="Text 7"/>
          <p:cNvSpPr/>
          <p:nvPr/>
        </p:nvSpPr>
        <p:spPr>
          <a:xfrm>
            <a:off x="3163824" y="352044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Class Discussion Questions</a:t>
            </a:r>
            <a:endParaRPr lang="en-US" sz="1300" dirty="0"/>
          </a:p>
        </p:txBody>
      </p:sp>
      <p:sp>
        <p:nvSpPr>
          <p:cNvPr id="10" name="Text 8"/>
          <p:cNvSpPr/>
          <p:nvPr/>
        </p:nvSpPr>
        <p:spPr>
          <a:xfrm>
            <a:off x="3163824" y="3840480"/>
            <a:ext cx="5870448" cy="457200"/>
          </a:xfrm>
          <a:prstGeom prst="rect">
            <a:avLst/>
          </a:prstGeom>
          <a:noFill/>
          <a:ln/>
        </p:spPr>
        <p:txBody>
          <a:bodyPr wrap="square" rtlCol="0" anchor="ctr"/>
          <a:lstStyle/>
          <a:p>
            <a:r>
              <a:rPr sz="1150">
                <a:solidFill>
                  <a:srgbClr val="A8B8C8"/>
                </a:solidFill>
                <a:latin typeface="Calibri"/>
              </a:rPr>
              <a:t>Was the stop justified? Did the handler’s dual role add time under Campbell? Would the result change if independent RS or marijuana odor developed during the stop?</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4FC6B072-B3E7-2887-21E7-FD0D68E922DC}"/>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08E37204-6EF6-F55A-3FDB-AE046863EB72}"/>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18" name="Rectangle 17"/>
          <p:cNvSpPr/>
          <p:nvPr/>
        </p:nvSpPr>
        <p:spPr>
          <a:xfrm>
            <a:off x="2999232" y="0"/>
            <a:ext cx="50292" cy="48006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ndicators.jpg"/>
          <p:cNvPicPr>
            <a:picLocks noChangeAspect="1"/>
          </p:cNvPicPr>
          <p:nvPr/>
        </p:nvPicPr>
        <p:blipFill>
          <a:blip r:embed="rId5"/>
          <a:stretch>
            <a:fillRect/>
          </a:stretch>
        </p:blipFill>
        <p:spPr>
          <a:xfrm>
            <a:off x="0" y="0"/>
            <a:ext cx="2999232" cy="4800600"/>
          </a:xfrm>
          <a:prstGeom prst="rect">
            <a:avLst/>
          </a:prstGeom>
        </p:spPr>
      </p:pic>
      <p:sp>
        <p:nvSpPr>
          <p:cNvPr id="3" name="Text 1"/>
          <p:cNvSpPr/>
          <p:nvPr/>
        </p:nvSpPr>
        <p:spPr>
          <a:xfrm>
            <a:off x="3163824" y="137160"/>
            <a:ext cx="5870448"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PRACTICAL EXERCISE 4</a:t>
            </a:r>
            <a:endParaRPr lang="en-US" sz="1000" dirty="0"/>
          </a:p>
        </p:txBody>
      </p:sp>
      <p:sp>
        <p:nvSpPr>
          <p:cNvPr id="4" name="Text 2"/>
          <p:cNvSpPr/>
          <p:nvPr/>
        </p:nvSpPr>
        <p:spPr>
          <a:xfrm>
            <a:off x="3163824" y="365760"/>
            <a:ext cx="5870448" cy="292608"/>
          </a:xfrm>
          <a:prstGeom prst="rect">
            <a:avLst/>
          </a:prstGeom>
          <a:noFill/>
          <a:ln/>
        </p:spPr>
        <p:txBody>
          <a:bodyPr wrap="square" rtlCol="0" anchor="ctr"/>
          <a:lstStyle/>
          <a:p>
            <a:r>
              <a:rPr sz="1700" b="1">
                <a:solidFill>
                  <a:srgbClr val="FFFFFF"/>
                </a:solidFill>
                <a:latin typeface="Calibri"/>
              </a:rPr>
              <a:t>Handler-recognized alert + cueing risk on video</a:t>
            </a:r>
          </a:p>
        </p:txBody>
      </p:sp>
      <p:sp>
        <p:nvSpPr>
          <p:cNvPr id="5" name="Shape 3"/>
          <p:cNvSpPr/>
          <p:nvPr/>
        </p:nvSpPr>
        <p:spPr>
          <a:xfrm>
            <a:off x="3163824" y="822960"/>
            <a:ext cx="5870448" cy="2377440"/>
          </a:xfrm>
          <a:prstGeom prst="roundRect">
            <a:avLst>
              <a:gd name="adj" fmla="val 2308"/>
            </a:avLst>
          </a:prstGeom>
          <a:solidFill>
            <a:srgbClr val="0F1F2E"/>
          </a:solidFill>
          <a:ln/>
        </p:spPr>
        <p:txBody>
          <a:bodyPr/>
          <a:lstStyle/>
          <a:p>
            <a:endParaRPr lang="en-US"/>
          </a:p>
        </p:txBody>
      </p:sp>
      <p:sp>
        <p:nvSpPr>
          <p:cNvPr id="6" name="Text 4"/>
          <p:cNvSpPr/>
          <p:nvPr/>
        </p:nvSpPr>
        <p:spPr>
          <a:xfrm>
            <a:off x="3163824" y="96012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Scenario Script</a:t>
            </a:r>
            <a:endParaRPr lang="en-US" sz="1300" dirty="0"/>
          </a:p>
        </p:txBody>
      </p:sp>
      <p:sp>
        <p:nvSpPr>
          <p:cNvPr id="7" name="Text 5"/>
          <p:cNvSpPr/>
          <p:nvPr/>
        </p:nvSpPr>
        <p:spPr>
          <a:xfrm>
            <a:off x="3163824" y="1280160"/>
            <a:ext cx="5870448" cy="1737360"/>
          </a:xfrm>
          <a:prstGeom prst="rect">
            <a:avLst/>
          </a:prstGeom>
          <a:noFill/>
          <a:ln/>
        </p:spPr>
        <p:txBody>
          <a:bodyPr wrap="square" rtlCol="0" anchor="ctr"/>
          <a:lstStyle/>
          <a:p>
            <a:r>
              <a:rPr sz="980">
                <a:solidFill>
                  <a:srgbClr val="A8B8C8"/>
                </a:solidFill>
                <a:latin typeface="Calibri"/>
              </a:rPr>
              <a:t>Officer Chen stops a vehicle at night because the rear plate lamp is not illuminating the plate as required by Ala. Code § 32-5-240(c). He calls for a K9. Handler arrives while Chen is diligently writing the citation. The dog’s trained final response is a sit. On the second pass near the trunk, the dog snaps its head, closes its mouth, changes breathing, stiffens, and lifts a paw but does not sit. At that moment the handler tightens the leash, squares up to the trunk seam, and says, “That’s my alert.” Body-cam captures the handler movement. Certification is current; controlled testing includes both successful finds and one recent unverified alert in a blank vehicle.</a:t>
            </a:r>
          </a:p>
        </p:txBody>
      </p:sp>
      <p:sp>
        <p:nvSpPr>
          <p:cNvPr id="8" name="Shape 6"/>
          <p:cNvSpPr/>
          <p:nvPr/>
        </p:nvSpPr>
        <p:spPr>
          <a:xfrm>
            <a:off x="3163824" y="3383280"/>
            <a:ext cx="5870448" cy="1051560"/>
          </a:xfrm>
          <a:prstGeom prst="roundRect">
            <a:avLst>
              <a:gd name="adj" fmla="val 5217"/>
            </a:avLst>
          </a:prstGeom>
          <a:solidFill>
            <a:srgbClr val="0F1F2E"/>
          </a:solidFill>
          <a:ln/>
        </p:spPr>
        <p:txBody>
          <a:bodyPr/>
          <a:lstStyle/>
          <a:p>
            <a:endParaRPr lang="en-US"/>
          </a:p>
        </p:txBody>
      </p:sp>
      <p:sp>
        <p:nvSpPr>
          <p:cNvPr id="9" name="Text 7"/>
          <p:cNvSpPr/>
          <p:nvPr/>
        </p:nvSpPr>
        <p:spPr>
          <a:xfrm>
            <a:off x="3163824" y="3520440"/>
            <a:ext cx="5870448" cy="22860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Class Discussion Questions</a:t>
            </a:r>
            <a:endParaRPr lang="en-US" sz="1300" dirty="0"/>
          </a:p>
        </p:txBody>
      </p:sp>
      <p:sp>
        <p:nvSpPr>
          <p:cNvPr id="10" name="Text 8"/>
          <p:cNvSpPr/>
          <p:nvPr/>
        </p:nvSpPr>
        <p:spPr>
          <a:xfrm>
            <a:off x="3163824" y="3840480"/>
            <a:ext cx="5870448" cy="457200"/>
          </a:xfrm>
          <a:prstGeom prst="rect">
            <a:avLst/>
          </a:prstGeom>
          <a:noFill/>
          <a:ln/>
        </p:spPr>
        <p:txBody>
          <a:bodyPr wrap="square" rtlCol="0" anchor="ctr"/>
          <a:lstStyle/>
          <a:p>
            <a:r>
              <a:rPr sz="1150">
                <a:solidFill>
                  <a:srgbClr val="A8B8C8"/>
                </a:solidFill>
                <a:latin typeface="Calibri"/>
              </a:rPr>
              <a:t>Apply Harris and Braddy. Can a handler-recognized alert establish PC without a final response? What does the video do to the totality analysis?</a:t>
            </a:r>
          </a:p>
        </p:txBody>
      </p:sp>
      <p:sp>
        <p:nvSpPr>
          <p:cNvPr id="11" name="Shape 9"/>
          <p:cNvSpPr/>
          <p:nvPr/>
        </p:nvSpPr>
        <p:spPr>
          <a:xfrm>
            <a:off x="0" y="4800600"/>
            <a:ext cx="9144000" cy="342900"/>
          </a:xfrm>
          <a:prstGeom prst="rect">
            <a:avLst/>
          </a:prstGeom>
          <a:solidFill>
            <a:srgbClr val="061018"/>
          </a:solidFill>
          <a:ln/>
        </p:spPr>
        <p:txBody>
          <a:bodyPr/>
          <a:lstStyle/>
          <a:p>
            <a:endParaRPr lang="en-US"/>
          </a:p>
        </p:txBody>
      </p:sp>
      <p:pic>
        <p:nvPicPr>
          <p:cNvPr id="15" name="Image 1" descr="/home/workdir/artifacts/moody_detective_badge.jpg">
            <a:extLst>
              <a:ext uri="{FF2B5EF4-FFF2-40B4-BE49-F238E27FC236}">
                <a16:creationId xmlns:a16="http://schemas.microsoft.com/office/drawing/2014/main" id="{29F3A419-257A-715C-2A6F-B8A4E376D5C5}"/>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6" name="Picture 15">
            <a:extLst>
              <a:ext uri="{FF2B5EF4-FFF2-40B4-BE49-F238E27FC236}">
                <a16:creationId xmlns:a16="http://schemas.microsoft.com/office/drawing/2014/main" id="{6F3313B0-5DEA-F719-9B50-691931672209}"/>
              </a:ext>
            </a:extLst>
          </p:cNvPr>
          <p:cNvPicPr>
            <a:picLocks noChangeAspect="1"/>
          </p:cNvPicPr>
          <p:nvPr/>
        </p:nvPicPr>
        <p:blipFill>
          <a:blip r:embed="rId4"/>
          <a:stretch>
            <a:fillRect/>
          </a:stretch>
        </p:blipFill>
        <p:spPr>
          <a:xfrm>
            <a:off x="561875" y="4555167"/>
            <a:ext cx="891540" cy="459278"/>
          </a:xfrm>
          <a:prstGeom prst="rect">
            <a:avLst/>
          </a:prstGeom>
        </p:spPr>
      </p:pic>
      <p:sp>
        <p:nvSpPr>
          <p:cNvPr id="14" name="Text 11"/>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ANSWER KEY — EXERCISE 1</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Patrol calls for K9 — mission still open</a:t>
            </a:r>
            <a:endParaRPr lang="en-US" sz="1700" dirty="0"/>
          </a:p>
        </p:txBody>
      </p:sp>
      <p:sp>
        <p:nvSpPr>
          <p:cNvPr id="5" name="Shape 3"/>
          <p:cNvSpPr/>
          <p:nvPr/>
        </p:nvSpPr>
        <p:spPr>
          <a:xfrm>
            <a:off x="457200" y="822960"/>
            <a:ext cx="822960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685800" y="1005840"/>
            <a:ext cx="7772400" cy="3200400"/>
          </a:xfrm>
          <a:prstGeom prst="rect">
            <a:avLst/>
          </a:prstGeom>
          <a:noFill/>
          <a:ln/>
        </p:spPr>
        <p:txBody>
          <a:bodyPr wrap="square" rtlCol="0" anchor="ctr"/>
          <a:lstStyle/>
          <a:p>
            <a:r>
              <a:rPr sz="1150">
                <a:solidFill>
                  <a:srgbClr val="A8B8C8"/>
                </a:solidFill>
                <a:latin typeface="Calibri"/>
              </a:rPr>
              <a:t>1. Stop: Lawful (speeding).</a:t>
            </a:r>
          </a:p>
          <a:p>
            <a:r>
              <a:rPr sz="1150">
                <a:solidFill>
                  <a:srgbClr val="A8B8C8"/>
                </a:solidFill>
                <a:latin typeface="Calibri"/>
              </a:rPr>
              <a:t>2. Rodriguez/Campbell: Traffic tasks were being diligently pursued, and the separate handler’s sniff added no time. Constitutional under Caballes + Rodriguez/Campbell.</a:t>
            </a:r>
          </a:p>
          <a:p>
            <a:r>
              <a:rPr sz="1150">
                <a:solidFill>
                  <a:srgbClr val="A8B8C8"/>
                </a:solidFill>
                <a:latin typeface="Calibri"/>
              </a:rPr>
              <a:t>3. Sniff: Free-air exterior sniff during a lawful, non-prolonged stop is not a search.</a:t>
            </a:r>
          </a:p>
          <a:p>
            <a:r>
              <a:rPr sz="1150">
                <a:solidFill>
                  <a:srgbClr val="A8B8C8"/>
                </a:solidFill>
                <a:latin typeface="Calibri"/>
              </a:rPr>
              <a:t>4. Alert: Full final response by a certified dog strongly supports PC under Harris’s totality test.</a:t>
            </a:r>
          </a:p>
          <a:p>
            <a:r>
              <a:rPr sz="1150">
                <a:solidFill>
                  <a:srgbClr val="A8B8C8"/>
                </a:solidFill>
                <a:latin typeface="Calibri"/>
              </a:rPr>
              <a:t>5. Best practice: Document exact times: stop start, K9 request, arrival, traffic tasks being performed, deployment, alert, and search.</a:t>
            </a:r>
          </a:p>
        </p:txBody>
      </p:sp>
      <p:sp>
        <p:nvSpPr>
          <p:cNvPr id="7" name="Shape 5"/>
          <p:cNvSpPr/>
          <p:nvPr/>
        </p:nvSpPr>
        <p:spPr>
          <a:xfrm>
            <a:off x="0" y="4800600"/>
            <a:ext cx="9144000" cy="342900"/>
          </a:xfrm>
          <a:prstGeom prst="rect">
            <a:avLst/>
          </a:prstGeom>
          <a:solidFill>
            <a:srgbClr val="061018"/>
          </a:solidFill>
          <a:ln/>
        </p:spPr>
        <p:txBody>
          <a:bodyPr/>
          <a:lstStyle/>
          <a:p>
            <a:endParaRPr lang="en-US"/>
          </a:p>
        </p:txBody>
      </p:sp>
      <p:pic>
        <p:nvPicPr>
          <p:cNvPr id="11" name="Image 1" descr="/home/workdir/artifacts/moody_detective_badge.jpg">
            <a:extLst>
              <a:ext uri="{FF2B5EF4-FFF2-40B4-BE49-F238E27FC236}">
                <a16:creationId xmlns:a16="http://schemas.microsoft.com/office/drawing/2014/main" id="{65AA5B0A-1EAB-BCFC-FB2C-BB88D550FAB0}"/>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F11A9169-5B1C-8B46-29CC-580F6CAE2B54}"/>
              </a:ext>
            </a:extLst>
          </p:cNvPr>
          <p:cNvPicPr>
            <a:picLocks noChangeAspect="1"/>
          </p:cNvPicPr>
          <p:nvPr/>
        </p:nvPicPr>
        <p:blipFill>
          <a:blip r:embed="rId4"/>
          <a:stretch>
            <a:fillRect/>
          </a:stretch>
        </p:blipFill>
        <p:spPr>
          <a:xfrm>
            <a:off x="561875" y="4555167"/>
            <a:ext cx="891540" cy="459278"/>
          </a:xfrm>
          <a:prstGeom prst="rect">
            <a:avLst/>
          </a:prstGeom>
        </p:spPr>
      </p:pic>
      <p:sp>
        <p:nvSpPr>
          <p:cNvPr id="10" name="Text 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ANSWER KEY — EXERCISE 2</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Patrol calls for K9 — mission already complete</a:t>
            </a:r>
            <a:endParaRPr lang="en-US" sz="1700" dirty="0"/>
          </a:p>
        </p:txBody>
      </p:sp>
      <p:sp>
        <p:nvSpPr>
          <p:cNvPr id="5" name="Shape 3"/>
          <p:cNvSpPr/>
          <p:nvPr/>
        </p:nvSpPr>
        <p:spPr>
          <a:xfrm>
            <a:off x="457200" y="822960"/>
            <a:ext cx="822960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685800" y="1005840"/>
            <a:ext cx="7772400" cy="3200400"/>
          </a:xfrm>
          <a:prstGeom prst="rect">
            <a:avLst/>
          </a:prstGeom>
          <a:noFill/>
          <a:ln/>
        </p:spPr>
        <p:txBody>
          <a:bodyPr wrap="square" rtlCol="0" anchor="ctr"/>
          <a:lstStyle/>
          <a:p>
            <a:r>
              <a:rPr sz="1140">
                <a:solidFill>
                  <a:srgbClr val="A8B8C8"/>
                </a:solidFill>
                <a:latin typeface="Calibri"/>
              </a:rPr>
              <a:t>1. Stop: Lawful (expired tag).</a:t>
            </a:r>
          </a:p>
          <a:p>
            <a:r>
              <a:rPr sz="1140">
                <a:solidFill>
                  <a:srgbClr val="A8B8C8"/>
                </a:solidFill>
                <a:latin typeface="Calibri"/>
              </a:rPr>
              <a:t>2. Rodriguez/Campbell: The traffic mission was objectively complete. Further detention solely to await a dog required independent RS. None is stated.</a:t>
            </a:r>
          </a:p>
          <a:p>
            <a:r>
              <a:rPr sz="1140">
                <a:solidFill>
                  <a:srgbClr val="A8B8C8"/>
                </a:solidFill>
                <a:latin typeface="Calibri"/>
              </a:rPr>
              <a:t>3. Sniff/search: Fruit of the unlawful seizure; suppression likely.</a:t>
            </a:r>
          </a:p>
          <a:p>
            <a:r>
              <a:rPr sz="1140">
                <a:solidFill>
                  <a:srgbClr val="A8B8C8"/>
                </a:solidFill>
                <a:latin typeface="Calibri"/>
              </a:rPr>
              <a:t>4. What would change it: Independent RS developed during the lawful stop, or voluntary consent to wait.</a:t>
            </a:r>
          </a:p>
          <a:p>
            <a:r>
              <a:rPr sz="1140">
                <a:solidFill>
                  <a:srgbClr val="A8B8C8"/>
                </a:solidFill>
                <a:latin typeface="Calibri"/>
              </a:rPr>
              <a:t>5. Teaching point: The “free to leave” statement helps show the mission was over, but the constitutional test is objective: were traffic tasks completed or reasonably should they have been completed, and did unrelated K9 activity add time?</a:t>
            </a:r>
          </a:p>
        </p:txBody>
      </p:sp>
      <p:sp>
        <p:nvSpPr>
          <p:cNvPr id="7" name="Shape 5"/>
          <p:cNvSpPr/>
          <p:nvPr/>
        </p:nvSpPr>
        <p:spPr>
          <a:xfrm>
            <a:off x="0" y="4800600"/>
            <a:ext cx="9144000" cy="342900"/>
          </a:xfrm>
          <a:prstGeom prst="rect">
            <a:avLst/>
          </a:prstGeom>
          <a:solidFill>
            <a:srgbClr val="061018"/>
          </a:solidFill>
          <a:ln/>
        </p:spPr>
        <p:txBody>
          <a:bodyPr/>
          <a:lstStyle/>
          <a:p>
            <a:endParaRPr lang="en-US"/>
          </a:p>
        </p:txBody>
      </p:sp>
      <p:pic>
        <p:nvPicPr>
          <p:cNvPr id="11" name="Image 1" descr="/home/workdir/artifacts/moody_detective_badge.jpg">
            <a:extLst>
              <a:ext uri="{FF2B5EF4-FFF2-40B4-BE49-F238E27FC236}">
                <a16:creationId xmlns:a16="http://schemas.microsoft.com/office/drawing/2014/main" id="{8233ED1A-41C9-A3C3-13E1-79B7BC2F7261}"/>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F0F870E7-88FD-0739-3180-6C7AE12D0234}"/>
              </a:ext>
            </a:extLst>
          </p:cNvPr>
          <p:cNvPicPr>
            <a:picLocks noChangeAspect="1"/>
          </p:cNvPicPr>
          <p:nvPr/>
        </p:nvPicPr>
        <p:blipFill>
          <a:blip r:embed="rId4"/>
          <a:stretch>
            <a:fillRect/>
          </a:stretch>
        </p:blipFill>
        <p:spPr>
          <a:xfrm>
            <a:off x="561875" y="4555167"/>
            <a:ext cx="891540" cy="459278"/>
          </a:xfrm>
          <a:prstGeom prst="rect">
            <a:avLst/>
          </a:prstGeom>
        </p:spPr>
      </p:pic>
      <p:sp>
        <p:nvSpPr>
          <p:cNvPr id="10" name="Text 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ANSWER KEY — EXERCISE 3</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K9 handler makes the stop and deploys</a:t>
            </a:r>
            <a:endParaRPr lang="en-US" sz="1700" dirty="0"/>
          </a:p>
        </p:txBody>
      </p:sp>
      <p:sp>
        <p:nvSpPr>
          <p:cNvPr id="5" name="Shape 3"/>
          <p:cNvSpPr/>
          <p:nvPr/>
        </p:nvSpPr>
        <p:spPr>
          <a:xfrm>
            <a:off x="457200" y="822960"/>
            <a:ext cx="822960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685800" y="1005840"/>
            <a:ext cx="7772400" cy="3200400"/>
          </a:xfrm>
          <a:prstGeom prst="rect">
            <a:avLst/>
          </a:prstGeom>
          <a:noFill/>
          <a:ln/>
        </p:spPr>
        <p:txBody>
          <a:bodyPr wrap="square" rtlCol="0" anchor="ctr"/>
          <a:lstStyle/>
          <a:p>
            <a:r>
              <a:rPr sz="1120">
                <a:solidFill>
                  <a:srgbClr val="A8B8C8"/>
                </a:solidFill>
                <a:latin typeface="Calibri"/>
              </a:rPr>
              <a:t>1. Stop: Crossing the fog line twice and failing to maintain lane as nearly as practicable can support a lawful stop if the facts show a traffic violation or RS.</a:t>
            </a:r>
          </a:p>
          <a:p>
            <a:r>
              <a:rPr sz="1120">
                <a:solidFill>
                  <a:srgbClr val="A8B8C8"/>
                </a:solidFill>
                <a:latin typeface="Calibri"/>
              </a:rPr>
              <a:t>2. Rodriguez/Campbell: Holding paperwork does not keep the mission alive. If Martinez stops traffic work and deploys his own dog without independent RS, the deployment likely adds time and creates a problem.</a:t>
            </a:r>
          </a:p>
          <a:p>
            <a:r>
              <a:rPr sz="1120">
                <a:solidFill>
                  <a:srgbClr val="A8B8C8"/>
                </a:solidFill>
                <a:latin typeface="Calibri"/>
              </a:rPr>
              <a:t>3. Dual role: Not automatically unconstitutional, but it creates a timing/documentation risk. The handler must not manufacture K9 time.</a:t>
            </a:r>
          </a:p>
          <a:p>
            <a:r>
              <a:rPr sz="1120">
                <a:solidFill>
                  <a:srgbClr val="A8B8C8"/>
                </a:solidFill>
                <a:latin typeface="Calibri"/>
              </a:rPr>
              <a:t>4. Alert: A trained final response supports PC only if the sniff itself was lawfully conducted.</a:t>
            </a:r>
          </a:p>
          <a:p>
            <a:r>
              <a:rPr sz="1120">
                <a:solidFill>
                  <a:srgbClr val="A8B8C8"/>
                </a:solidFill>
                <a:latin typeface="Calibri"/>
              </a:rPr>
              <a:t>5. Variation: If marijuana odor or other independent RS developed during the lawful stop, the extension/deployment analysis changes.</a:t>
            </a:r>
          </a:p>
        </p:txBody>
      </p:sp>
      <p:sp>
        <p:nvSpPr>
          <p:cNvPr id="7" name="Shape 5"/>
          <p:cNvSpPr/>
          <p:nvPr/>
        </p:nvSpPr>
        <p:spPr>
          <a:xfrm>
            <a:off x="0" y="4800600"/>
            <a:ext cx="9144000" cy="342900"/>
          </a:xfrm>
          <a:prstGeom prst="rect">
            <a:avLst/>
          </a:prstGeom>
          <a:solidFill>
            <a:srgbClr val="061018"/>
          </a:solidFill>
          <a:ln/>
        </p:spPr>
        <p:txBody>
          <a:bodyPr/>
          <a:lstStyle/>
          <a:p>
            <a:endParaRPr lang="en-US"/>
          </a:p>
        </p:txBody>
      </p:sp>
      <p:pic>
        <p:nvPicPr>
          <p:cNvPr id="11" name="Image 1" descr="/home/workdir/artifacts/moody_detective_badge.jpg">
            <a:extLst>
              <a:ext uri="{FF2B5EF4-FFF2-40B4-BE49-F238E27FC236}">
                <a16:creationId xmlns:a16="http://schemas.microsoft.com/office/drawing/2014/main" id="{D97ACF26-55D1-AC75-50BE-44C74A04DBE1}"/>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1059FF26-70A5-7F18-5429-382E88F9EC90}"/>
              </a:ext>
            </a:extLst>
          </p:cNvPr>
          <p:cNvPicPr>
            <a:picLocks noChangeAspect="1"/>
          </p:cNvPicPr>
          <p:nvPr/>
        </p:nvPicPr>
        <p:blipFill>
          <a:blip r:embed="rId4"/>
          <a:stretch>
            <a:fillRect/>
          </a:stretch>
        </p:blipFill>
        <p:spPr>
          <a:xfrm>
            <a:off x="561875" y="4555167"/>
            <a:ext cx="891540" cy="459278"/>
          </a:xfrm>
          <a:prstGeom prst="rect">
            <a:avLst/>
          </a:prstGeom>
        </p:spPr>
      </p:pic>
      <p:sp>
        <p:nvSpPr>
          <p:cNvPr id="10" name="Text 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ANSWER KEY — EXERCISE 4</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Partial alert + handler focus on video</a:t>
            </a:r>
            <a:endParaRPr lang="en-US" sz="1700" dirty="0"/>
          </a:p>
        </p:txBody>
      </p:sp>
      <p:sp>
        <p:nvSpPr>
          <p:cNvPr id="5" name="Shape 3"/>
          <p:cNvSpPr/>
          <p:nvPr/>
        </p:nvSpPr>
        <p:spPr>
          <a:xfrm>
            <a:off x="457200" y="822960"/>
            <a:ext cx="8229600" cy="3566160"/>
          </a:xfrm>
          <a:prstGeom prst="roundRect">
            <a:avLst>
              <a:gd name="adj" fmla="val 1538"/>
            </a:avLst>
          </a:prstGeom>
          <a:solidFill>
            <a:srgbClr val="0F1F2E"/>
          </a:solidFill>
          <a:ln/>
        </p:spPr>
        <p:txBody>
          <a:bodyPr/>
          <a:lstStyle/>
          <a:p>
            <a:endParaRPr lang="en-US"/>
          </a:p>
        </p:txBody>
      </p:sp>
      <p:sp>
        <p:nvSpPr>
          <p:cNvPr id="6" name="Text 4"/>
          <p:cNvSpPr/>
          <p:nvPr/>
        </p:nvSpPr>
        <p:spPr>
          <a:xfrm>
            <a:off x="685800" y="1005840"/>
            <a:ext cx="7772400" cy="3200400"/>
          </a:xfrm>
          <a:prstGeom prst="rect">
            <a:avLst/>
          </a:prstGeom>
          <a:noFill/>
          <a:ln/>
        </p:spPr>
        <p:txBody>
          <a:bodyPr wrap="square" rtlCol="0" anchor="ctr"/>
          <a:lstStyle/>
          <a:p>
            <a:r>
              <a:rPr sz="1080">
                <a:solidFill>
                  <a:srgbClr val="A8B8C8"/>
                </a:solidFill>
                <a:latin typeface="Calibri"/>
              </a:rPr>
              <a:t>1. Stop &amp; timing: Plate-lamp stop is lawful; sniff occurred while Chen was diligently writing the citation, so no Rodriguez/Campbell problem if K9 activity added no time.</a:t>
            </a:r>
          </a:p>
          <a:p>
            <a:r>
              <a:rPr sz="1080">
                <a:solidFill>
                  <a:srgbClr val="A8B8C8"/>
                </a:solidFill>
                <a:latin typeface="Calibri"/>
              </a:rPr>
              <a:t>2. Alert reliability: Braddy helps the government because a trained final response is not constitutionally required. But Harris requires totality analysis of this specific deployment.</a:t>
            </a:r>
          </a:p>
          <a:p>
            <a:r>
              <a:rPr sz="1080">
                <a:solidFill>
                  <a:srgbClr val="A8B8C8"/>
                </a:solidFill>
                <a:latin typeface="Calibri"/>
              </a:rPr>
              <a:t>3. Video: Leash tension, squaring up, and handler focus at the critical moment can materially undermine the handler’s characterization. Certification does not immunize a particular sniff.</a:t>
            </a:r>
          </a:p>
          <a:p>
            <a:r>
              <a:rPr sz="1080">
                <a:solidFill>
                  <a:srgbClr val="A8B8C8"/>
                </a:solidFill>
                <a:latin typeface="Calibri"/>
              </a:rPr>
              <a:t>4. Likely issue: A suppression court must decide whether the observed behavior, training history, and video support PC. The drugs found afterward cannot retroactively create PC.</a:t>
            </a:r>
          </a:p>
          <a:p>
            <a:r>
              <a:rPr sz="1080">
                <a:solidFill>
                  <a:srgbClr val="A8B8C8"/>
                </a:solidFill>
                <a:latin typeface="Calibri"/>
              </a:rPr>
              <a:t>5. Teaching point: Describe the dog’s behavior objectively first; avoid conclusory “he alerted” testimony unsupported by video or training.</a:t>
            </a:r>
          </a:p>
        </p:txBody>
      </p:sp>
      <p:sp>
        <p:nvSpPr>
          <p:cNvPr id="7" name="Shape 5"/>
          <p:cNvSpPr/>
          <p:nvPr/>
        </p:nvSpPr>
        <p:spPr>
          <a:xfrm>
            <a:off x="0" y="4800600"/>
            <a:ext cx="9144000" cy="342900"/>
          </a:xfrm>
          <a:prstGeom prst="rect">
            <a:avLst/>
          </a:prstGeom>
          <a:solidFill>
            <a:srgbClr val="061018"/>
          </a:solidFill>
          <a:ln/>
        </p:spPr>
        <p:txBody>
          <a:bodyPr/>
          <a:lstStyle/>
          <a:p>
            <a:endParaRPr lang="en-US"/>
          </a:p>
        </p:txBody>
      </p:sp>
      <p:pic>
        <p:nvPicPr>
          <p:cNvPr id="11" name="Image 1" descr="/home/workdir/artifacts/moody_detective_badge.jpg">
            <a:extLst>
              <a:ext uri="{FF2B5EF4-FFF2-40B4-BE49-F238E27FC236}">
                <a16:creationId xmlns:a16="http://schemas.microsoft.com/office/drawing/2014/main" id="{E78F46DE-B99B-74D3-8567-3B86E69BF994}"/>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2" name="Picture 11">
            <a:extLst>
              <a:ext uri="{FF2B5EF4-FFF2-40B4-BE49-F238E27FC236}">
                <a16:creationId xmlns:a16="http://schemas.microsoft.com/office/drawing/2014/main" id="{ABFF6CF3-848F-430A-71FC-C4BFB763D277}"/>
              </a:ext>
            </a:extLst>
          </p:cNvPr>
          <p:cNvPicPr>
            <a:picLocks noChangeAspect="1"/>
          </p:cNvPicPr>
          <p:nvPr/>
        </p:nvPicPr>
        <p:blipFill>
          <a:blip r:embed="rId4"/>
          <a:stretch>
            <a:fillRect/>
          </a:stretch>
        </p:blipFill>
        <p:spPr>
          <a:xfrm>
            <a:off x="561875" y="4555167"/>
            <a:ext cx="891540" cy="459278"/>
          </a:xfrm>
          <a:prstGeom prst="rect">
            <a:avLst/>
          </a:prstGeom>
        </p:spPr>
      </p:pic>
      <p:sp>
        <p:nvSpPr>
          <p:cNvPr id="10" name="Text 7"/>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3" name="Text 1"/>
          <p:cNvSpPr/>
          <p:nvPr/>
        </p:nvSpPr>
        <p:spPr>
          <a:xfrm>
            <a:off x="457200" y="137160"/>
            <a:ext cx="8229600" cy="201168"/>
          </a:xfrm>
          <a:prstGeom prst="rect">
            <a:avLst/>
          </a:prstGeom>
          <a:noFill/>
          <a:ln/>
        </p:spPr>
        <p:txBody>
          <a:bodyPr wrap="square" rtlCol="0" anchor="ctr"/>
          <a:lstStyle/>
          <a:p>
            <a:pPr marL="0" indent="0">
              <a:buNone/>
            </a:pPr>
            <a:r>
              <a:rPr lang="en-US" sz="1000" b="1" dirty="0">
                <a:solidFill>
                  <a:srgbClr val="0D7377"/>
                </a:solidFill>
                <a:latin typeface="Calibri" pitchFamily="34" charset="0"/>
                <a:ea typeface="Calibri" pitchFamily="34" charset="-122"/>
                <a:cs typeface="Calibri" pitchFamily="34" charset="-120"/>
              </a:rPr>
              <a:t>CLOSING</a:t>
            </a:r>
            <a:endParaRPr lang="en-US" sz="1000" dirty="0"/>
          </a:p>
        </p:txBody>
      </p:sp>
      <p:sp>
        <p:nvSpPr>
          <p:cNvPr id="4" name="Text 2"/>
          <p:cNvSpPr/>
          <p:nvPr/>
        </p:nvSpPr>
        <p:spPr>
          <a:xfrm>
            <a:off x="457200" y="365760"/>
            <a:ext cx="8229600" cy="292608"/>
          </a:xfrm>
          <a:prstGeom prst="rect">
            <a:avLst/>
          </a:prstGeom>
          <a:noFill/>
          <a:ln/>
        </p:spPr>
        <p:txBody>
          <a:bodyPr wrap="square" rtlCol="0" anchor="ctr"/>
          <a:lstStyle/>
          <a:p>
            <a:r>
              <a:rPr sz="1700" b="1">
                <a:solidFill>
                  <a:srgbClr val="FFFFFF"/>
                </a:solidFill>
                <a:latin typeface="Calibri"/>
              </a:rPr>
              <a:t>Key Takeaways for the Street &amp; the Courtroom</a:t>
            </a:r>
          </a:p>
        </p:txBody>
      </p:sp>
      <p:sp>
        <p:nvSpPr>
          <p:cNvPr id="5" name="Text 3"/>
          <p:cNvSpPr/>
          <p:nvPr/>
        </p:nvSpPr>
        <p:spPr>
          <a:xfrm>
            <a:off x="457200" y="868680"/>
            <a:ext cx="8229600" cy="365760"/>
          </a:xfrm>
          <a:prstGeom prst="rect">
            <a:avLst/>
          </a:prstGeom>
          <a:noFill/>
          <a:ln/>
        </p:spPr>
        <p:txBody>
          <a:bodyPr wrap="square" rtlCol="0" anchor="ctr"/>
          <a:lstStyle/>
          <a:p>
            <a:r>
              <a:rPr sz="1260">
                <a:solidFill>
                  <a:srgbClr val="A8B8C8"/>
                </a:solidFill>
                <a:latin typeface="Calibri"/>
              </a:rPr>
              <a:t>1. Location matters: public roadway ≠ vehicle interior ≠ residential curtilage.</a:t>
            </a:r>
          </a:p>
        </p:txBody>
      </p:sp>
      <p:sp>
        <p:nvSpPr>
          <p:cNvPr id="6" name="Text 4"/>
          <p:cNvSpPr/>
          <p:nvPr/>
        </p:nvSpPr>
        <p:spPr>
          <a:xfrm>
            <a:off x="457200" y="1325880"/>
            <a:ext cx="8229600" cy="365760"/>
          </a:xfrm>
          <a:prstGeom prst="rect">
            <a:avLst/>
          </a:prstGeom>
          <a:noFill/>
          <a:ln/>
        </p:spPr>
        <p:txBody>
          <a:bodyPr wrap="square" rtlCol="0" anchor="ctr"/>
          <a:lstStyle/>
          <a:p>
            <a:r>
              <a:rPr sz="1220">
                <a:solidFill>
                  <a:srgbClr val="A8B8C8"/>
                </a:solidFill>
                <a:latin typeface="Calibri"/>
              </a:rPr>
              <a:t>2. The K9 sniff is not part of the traffic mission. Without independent RS, it cannot add time. Rodriguez • Campbell</a:t>
            </a:r>
          </a:p>
        </p:txBody>
      </p:sp>
      <p:sp>
        <p:nvSpPr>
          <p:cNvPr id="7" name="Text 5"/>
          <p:cNvSpPr/>
          <p:nvPr/>
        </p:nvSpPr>
        <p:spPr>
          <a:xfrm>
            <a:off x="457200" y="1783080"/>
            <a:ext cx="8229600" cy="365760"/>
          </a:xfrm>
          <a:prstGeom prst="rect">
            <a:avLst/>
          </a:prstGeom>
          <a:noFill/>
          <a:ln/>
        </p:spPr>
        <p:txBody>
          <a:bodyPr wrap="square" rtlCol="0" anchor="ctr"/>
          <a:lstStyle/>
          <a:p>
            <a:r>
              <a:rPr sz="1160">
                <a:solidFill>
                  <a:srgbClr val="A8B8C8"/>
                </a:solidFill>
                <a:latin typeface="Calibri"/>
              </a:rPr>
              <a:t>3. Mission completion is objective. Ask what traffic/safety tasks were actually being performed and whether they reasonably should have been completed.</a:t>
            </a:r>
          </a:p>
        </p:txBody>
      </p:sp>
      <p:sp>
        <p:nvSpPr>
          <p:cNvPr id="8" name="Text 6"/>
          <p:cNvSpPr/>
          <p:nvPr/>
        </p:nvSpPr>
        <p:spPr>
          <a:xfrm>
            <a:off x="457200" y="2240280"/>
            <a:ext cx="8229600" cy="365760"/>
          </a:xfrm>
          <a:prstGeom prst="rect">
            <a:avLst/>
          </a:prstGeom>
          <a:noFill/>
          <a:ln/>
        </p:spPr>
        <p:txBody>
          <a:bodyPr wrap="square" rtlCol="0" anchor="ctr"/>
          <a:lstStyle/>
          <a:p>
            <a:r>
              <a:rPr sz="1160">
                <a:solidFill>
                  <a:srgbClr val="A8B8C8"/>
                </a:solidFill>
                <a:latin typeface="Calibri"/>
              </a:rPr>
              <a:t>4. A trained final response is not constitutionally required. PC depends on the totality surrounding the dog’s behavior and reliability. Harris • Braddy</a:t>
            </a:r>
          </a:p>
        </p:txBody>
      </p:sp>
      <p:sp>
        <p:nvSpPr>
          <p:cNvPr id="9" name="Text 7"/>
          <p:cNvSpPr/>
          <p:nvPr/>
        </p:nvSpPr>
        <p:spPr>
          <a:xfrm>
            <a:off x="457200" y="2697480"/>
            <a:ext cx="8229600" cy="365760"/>
          </a:xfrm>
          <a:prstGeom prst="rect">
            <a:avLst/>
          </a:prstGeom>
          <a:noFill/>
          <a:ln/>
        </p:spPr>
        <p:txBody>
          <a:bodyPr wrap="square" rtlCol="0" anchor="ctr"/>
          <a:lstStyle/>
          <a:p>
            <a:r>
              <a:rPr sz="1080">
                <a:solidFill>
                  <a:srgbClr val="A8B8C8"/>
                </a:solidFill>
                <a:latin typeface="Calibri"/>
              </a:rPr>
              <a:t>5. Handler influence and pre-contact behavior matter. Know the Four Classes of Detector Dog Behavior — independent searching, objective behavior descriptions, and complete video improve defensibility. Braddy • Ostertag</a:t>
            </a:r>
          </a:p>
        </p:txBody>
      </p:sp>
      <p:sp>
        <p:nvSpPr>
          <p:cNvPr id="10" name="Text 8"/>
          <p:cNvSpPr/>
          <p:nvPr/>
        </p:nvSpPr>
        <p:spPr>
          <a:xfrm>
            <a:off x="457200" y="3154680"/>
            <a:ext cx="8229600" cy="365760"/>
          </a:xfrm>
          <a:prstGeom prst="rect">
            <a:avLst/>
          </a:prstGeom>
          <a:noFill/>
          <a:ln/>
        </p:spPr>
        <p:txBody>
          <a:bodyPr wrap="square" rtlCol="0" anchor="ctr"/>
          <a:lstStyle/>
          <a:p>
            <a:r>
              <a:rPr sz="1160">
                <a:solidFill>
                  <a:srgbClr val="A8B8C8"/>
                </a:solidFill>
                <a:latin typeface="Calibri"/>
              </a:rPr>
              <a:t>6. Alabama marijuana odor remains legally significant. Legal hemp does not presently eliminate PC based on marijuana odor. Bain v. State</a:t>
            </a:r>
          </a:p>
        </p:txBody>
      </p:sp>
      <p:sp>
        <p:nvSpPr>
          <p:cNvPr id="11" name="Text 9"/>
          <p:cNvSpPr/>
          <p:nvPr/>
        </p:nvSpPr>
        <p:spPr>
          <a:xfrm>
            <a:off x="457200" y="3611880"/>
            <a:ext cx="8229600" cy="365760"/>
          </a:xfrm>
          <a:prstGeom prst="rect">
            <a:avLst/>
          </a:prstGeom>
          <a:noFill/>
          <a:ln/>
        </p:spPr>
        <p:txBody>
          <a:bodyPr wrap="square" rtlCol="0" anchor="ctr"/>
          <a:lstStyle/>
          <a:p>
            <a:r>
              <a:rPr sz="1120">
                <a:solidFill>
                  <a:srgbClr val="A8B8C8"/>
                </a:solidFill>
                <a:latin typeface="Calibri"/>
              </a:rPr>
              <a:t>7. Authority hierarchy: U.S. Supreme Court → Alabama appellate courts → published 11th Circuit for federal court → unpublished/other states as persuasive only.</a:t>
            </a:r>
          </a:p>
        </p:txBody>
      </p:sp>
      <p:sp>
        <p:nvSpPr>
          <p:cNvPr id="12" name="Shape 10"/>
          <p:cNvSpPr/>
          <p:nvPr/>
        </p:nvSpPr>
        <p:spPr>
          <a:xfrm>
            <a:off x="0" y="4800600"/>
            <a:ext cx="9144000" cy="342900"/>
          </a:xfrm>
          <a:prstGeom prst="rect">
            <a:avLst/>
          </a:prstGeom>
          <a:solidFill>
            <a:srgbClr val="061018"/>
          </a:solidFill>
          <a:ln/>
        </p:spPr>
        <p:txBody>
          <a:bodyPr/>
          <a:lstStyle/>
          <a:p>
            <a:endParaRPr lang="en-US"/>
          </a:p>
        </p:txBody>
      </p:sp>
      <p:pic>
        <p:nvPicPr>
          <p:cNvPr id="16" name="Image 1" descr="/home/workdir/artifacts/moody_detective_badge.jpg">
            <a:extLst>
              <a:ext uri="{FF2B5EF4-FFF2-40B4-BE49-F238E27FC236}">
                <a16:creationId xmlns:a16="http://schemas.microsoft.com/office/drawing/2014/main" id="{0DE49046-2BCE-7FBB-4E9E-409DF4CE4B29}"/>
              </a:ext>
            </a:extLst>
          </p:cNvPr>
          <p:cNvPicPr>
            <a:picLocks noChangeAspect="1"/>
          </p:cNvPicPr>
          <p:nvPr/>
        </p:nvPicPr>
        <p:blipFill>
          <a:blip r:embed="rId3"/>
          <a:stretch>
            <a:fillRect/>
          </a:stretch>
        </p:blipFill>
        <p:spPr>
          <a:xfrm>
            <a:off x="8206740" y="4537608"/>
            <a:ext cx="548640" cy="538517"/>
          </a:xfrm>
          <a:prstGeom prst="rect">
            <a:avLst/>
          </a:prstGeom>
        </p:spPr>
      </p:pic>
      <p:pic>
        <p:nvPicPr>
          <p:cNvPr id="17" name="Picture 16">
            <a:extLst>
              <a:ext uri="{FF2B5EF4-FFF2-40B4-BE49-F238E27FC236}">
                <a16:creationId xmlns:a16="http://schemas.microsoft.com/office/drawing/2014/main" id="{7F5838C0-F3D9-9B83-4F3F-BE36E70B42A0}"/>
              </a:ext>
            </a:extLst>
          </p:cNvPr>
          <p:cNvPicPr>
            <a:picLocks noChangeAspect="1"/>
          </p:cNvPicPr>
          <p:nvPr/>
        </p:nvPicPr>
        <p:blipFill>
          <a:blip r:embed="rId4"/>
          <a:stretch>
            <a:fillRect/>
          </a:stretch>
        </p:blipFill>
        <p:spPr>
          <a:xfrm>
            <a:off x="561875" y="4555167"/>
            <a:ext cx="891540" cy="459278"/>
          </a:xfrm>
          <a:prstGeom prst="rect">
            <a:avLst/>
          </a:prstGeom>
        </p:spPr>
      </p:pic>
      <p:sp>
        <p:nvSpPr>
          <p:cNvPr id="15" name="Text 12"/>
          <p:cNvSpPr/>
          <p:nvPr/>
        </p:nvSpPr>
        <p:spPr>
          <a:xfrm>
            <a:off x="8366760" y="4846320"/>
            <a:ext cx="548640" cy="256032"/>
          </a:xfrm>
          <a:prstGeom prst="rect">
            <a:avLst/>
          </a:prstGeom>
          <a:noFill/>
          <a:ln/>
        </p:spPr>
        <p:txBody>
          <a:bodyPr wrap="square" rtlCol="0" anchor="ctr"/>
          <a:lstStyle/>
          <a:p>
            <a:pPr marL="0" indent="0" algn="r">
              <a:buNone/>
            </a:pPr>
            <a:r>
              <a:rPr lang="en-US" sz="900" dirty="0">
                <a:solidFill>
                  <a:srgbClr val="A8B8C8"/>
                </a:solidFill>
                <a:latin typeface="Calibri" pitchFamily="34" charset="0"/>
                <a:ea typeface="Calibri" pitchFamily="34" charset="-122"/>
                <a:cs typeface="Calibri" pitchFamily="34" charset="-120"/>
              </a:rPr>
              <a:t>46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a:p>
        </p:txBody>
      </p:sp>
      <p:sp>
        <p:nvSpPr>
          <p:cNvPr id="9" name="Rectangle 8"/>
          <p:cNvSpPr/>
          <p:nvPr/>
        </p:nvSpPr>
        <p:spPr>
          <a:xfrm>
            <a:off x="0" y="0"/>
            <a:ext cx="9144000" cy="5143500"/>
          </a:xfrm>
          <a:prstGeom prst="rect">
            <a:avLst/>
          </a:prstGeom>
          <a:solidFill>
            <a:srgbClr val="0A1628">
              <a:alpha val="6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ose_bg.jpg"/>
          <p:cNvPicPr>
            <a:picLocks noChangeAspect="1"/>
          </p:cNvPicPr>
          <p:nvPr/>
        </p:nvPicPr>
        <p:blipFill>
          <a:blip r:embed="rId4"/>
          <a:stretch>
            <a:fillRect/>
          </a:stretch>
        </p:blipFill>
        <p:spPr>
          <a:xfrm>
            <a:off x="0" y="0"/>
            <a:ext cx="9144000" cy="5143500"/>
          </a:xfrm>
          <a:prstGeom prst="rect">
            <a:avLst/>
          </a:prstGeom>
        </p:spPr>
      </p:pic>
      <p:pic>
        <p:nvPicPr>
          <p:cNvPr id="3" name="Image 0" descr="/home/workdir/artifacts/moody_detective_badge.jpg"/>
          <p:cNvPicPr>
            <a:picLocks noChangeAspect="1"/>
          </p:cNvPicPr>
          <p:nvPr/>
        </p:nvPicPr>
        <p:blipFill>
          <a:blip r:embed="rId3"/>
          <a:stretch>
            <a:fillRect/>
          </a:stretch>
        </p:blipFill>
        <p:spPr>
          <a:xfrm>
            <a:off x="3429000" y="548640"/>
            <a:ext cx="2286000" cy="2286000"/>
          </a:xfrm>
          <a:prstGeom prst="rect">
            <a:avLst/>
          </a:prstGeom>
        </p:spPr>
      </p:pic>
      <p:sp>
        <p:nvSpPr>
          <p:cNvPr id="4" name="Text 1"/>
          <p:cNvSpPr/>
          <p:nvPr/>
        </p:nvSpPr>
        <p:spPr>
          <a:xfrm>
            <a:off x="457200" y="3017520"/>
            <a:ext cx="8229600" cy="3657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Latimer School of Operational K9s</a:t>
            </a:r>
            <a:endParaRPr lang="en-US" sz="2200" dirty="0"/>
          </a:p>
        </p:txBody>
      </p:sp>
      <p:sp>
        <p:nvSpPr>
          <p:cNvPr id="5" name="Text 2"/>
          <p:cNvSpPr/>
          <p:nvPr/>
        </p:nvSpPr>
        <p:spPr>
          <a:xfrm>
            <a:off x="457200" y="3429000"/>
            <a:ext cx="8229600" cy="274320"/>
          </a:xfrm>
          <a:prstGeom prst="rect">
            <a:avLst/>
          </a:prstGeom>
          <a:noFill/>
          <a:ln/>
        </p:spPr>
        <p:txBody>
          <a:bodyPr wrap="square" rtlCol="0" anchor="ctr"/>
          <a:lstStyle/>
          <a:p>
            <a:pPr marL="0" indent="0" algn="ctr">
              <a:buNone/>
            </a:pPr>
            <a:r>
              <a:rPr lang="en-US" sz="1600" dirty="0">
                <a:solidFill>
                  <a:srgbClr val="D4A84B"/>
                </a:solidFill>
                <a:latin typeface="Calibri" pitchFamily="34" charset="0"/>
                <a:ea typeface="Calibri" pitchFamily="34" charset="-122"/>
                <a:cs typeface="Calibri" pitchFamily="34" charset="-120"/>
              </a:rPr>
              <a:t>k9school.net</a:t>
            </a:r>
            <a:endParaRPr lang="en-US" sz="1600" dirty="0"/>
          </a:p>
        </p:txBody>
      </p:sp>
      <p:sp>
        <p:nvSpPr>
          <p:cNvPr id="6" name="Text 3"/>
          <p:cNvSpPr/>
          <p:nvPr/>
        </p:nvSpPr>
        <p:spPr>
          <a:xfrm>
            <a:off x="457200" y="3750000"/>
            <a:ext cx="8229600" cy="400000"/>
          </a:xfrm>
          <a:prstGeom prst="rect">
            <a:avLst/>
          </a:prstGeom>
          <a:noFill/>
          <a:ln/>
        </p:spPr>
        <p:txBody>
          <a:bodyPr wrap="square" rtlCol="0" anchor="t"/>
          <a:lstStyle/>
          <a:p>
            <a:r>
              <a:rPr sz="1100">
                <a:solidFill>
                  <a:srgbClr val="0D7377"/>
                </a:solidFill>
                <a:latin typeface="Calibri"/>
              </a:rPr>
              <a:t>Questions • Discussion • Application</a:t>
            </a:r>
          </a:p>
          <a:p>
            <a:r>
              <a:rPr sz="1100">
                <a:solidFill>
                  <a:srgbClr val="0D7377"/>
                </a:solidFill>
                <a:latin typeface="Calibri"/>
              </a:rPr>
              <a:t>App field guide: K9 Operations &amp; Traffic Stop Edition</a:t>
            </a:r>
          </a:p>
        </p:txBody>
      </p:sp>
      <p:sp>
        <p:nvSpPr>
          <p:cNvPr id="7" name="Text 4"/>
          <p:cNvSpPr/>
          <p:nvPr/>
        </p:nvSpPr>
        <p:spPr>
          <a:xfrm>
            <a:off x="457200" y="4090000"/>
            <a:ext cx="8229600" cy="900000"/>
          </a:xfrm>
          <a:prstGeom prst="rect">
            <a:avLst/>
          </a:prstGeom>
          <a:noFill/>
          <a:ln/>
        </p:spPr>
        <p:txBody>
          <a:bodyPr wrap="square" rtlCol="0" anchor="t"/>
          <a:lstStyle/>
          <a:p>
            <a:r>
              <a:rPr sz="1100">
                <a:solidFill>
                  <a:srgbClr val="A8B8C8"/>
                </a:solidFill>
                <a:latin typeface="Calibri"/>
              </a:rPr>
              <a:t>8-Hour Professional Development Class</a:t>
            </a:r>
          </a:p>
          <a:p>
            <a:r>
              <a:rPr sz="1100">
                <a:solidFill>
                  <a:srgbClr val="A8B8C8"/>
                </a:solidFill>
                <a:latin typeface="Calibri"/>
              </a:rPr>
              <a:t>For Patrol Officers &amp; K9 Handlers</a:t>
            </a:r>
          </a:p>
          <a:p>
            <a:r>
              <a:rPr sz="1000" i="1">
                <a:solidFill>
                  <a:srgbClr val="A8B8C8"/>
                </a:solidFill>
                <a:latin typeface="Calibri"/>
              </a:rPr>
              <a:t>Companion text: Behavior Is Evidence, by David Latimer</a:t>
            </a:r>
          </a:p>
          <a:p>
            <a:r>
              <a:rPr sz="1100">
                <a:solidFill>
                  <a:srgbClr val="A8B8C8"/>
                </a:solidFill>
                <a:latin typeface="Calibri"/>
              </a:rPr>
              <a:t>Law reviewed through September 9, 2026</a:t>
            </a:r>
          </a:p>
          <a:p>
            <a:r>
              <a:rPr sz="1100">
                <a:solidFill>
                  <a:srgbClr val="A8B8C8"/>
                </a:solidFill>
                <a:latin typeface="Calibri"/>
              </a:rPr>
              <a:t>Training reference only — follow agency policy, prosecutor guidance, and current 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23142</TotalTime>
  <Words>6631</Words>
  <Application>Microsoft Macintosh PowerPoint</Application>
  <PresentationFormat>On-screen Show (16:9)</PresentationFormat>
  <Paragraphs>596</Paragraphs>
  <Slides>48</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K9 Case Law for Officers &amp; Handlers — 8-Hour Class</dc:title>
  <dc:subject>Fourth Amendment Foundations for Detector Dog Operations</dc:subject>
  <dc:creator>Latimer School of Operational K9s</dc:creator>
  <cp:lastModifiedBy>David Latimer</cp:lastModifiedBy>
  <cp:revision>12</cp:revision>
  <dcterms:created xsi:type="dcterms:W3CDTF">2026-08-15T23:52:00Z</dcterms:created>
  <dcterms:modified xsi:type="dcterms:W3CDTF">2026-09-14T17:29:48Z</dcterms:modified>
</cp:coreProperties>
</file>